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320" r:id="rId3"/>
    <p:sldId id="321" r:id="rId4"/>
    <p:sldId id="322" r:id="rId5"/>
    <p:sldId id="324" r:id="rId6"/>
    <p:sldId id="325" r:id="rId7"/>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94" autoAdjust="0"/>
    <p:restoredTop sz="92579" autoAdjust="0"/>
  </p:normalViewPr>
  <p:slideViewPr>
    <p:cSldViewPr showGuides="1">
      <p:cViewPr varScale="1">
        <p:scale>
          <a:sx n="83" d="100"/>
          <a:sy n="83" d="100"/>
        </p:scale>
        <p:origin x="1686" y="9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强" userId="633faa5c58ce3e78" providerId="LiveId" clId="{36D67B5E-0C28-43BD-ADAB-1495D34F31F8}"/>
  </pc:docChgLst>
  <pc:docChgLst>
    <pc:chgData name="李 强" userId="633faa5c58ce3e78" providerId="LiveId" clId="{870F3BC4-CB90-4805-820E-208591D60CC8}"/>
    <pc:docChg chg="modSld">
      <pc:chgData name="李 强" userId="633faa5c58ce3e78" providerId="LiveId" clId="{870F3BC4-CB90-4805-820E-208591D60CC8}" dt="2018-12-30T00:00:37.965" v="9" actId="20577"/>
      <pc:docMkLst>
        <pc:docMk/>
      </pc:docMkLst>
      <pc:sldChg chg="modSp">
        <pc:chgData name="李 强" userId="633faa5c58ce3e78" providerId="LiveId" clId="{870F3BC4-CB90-4805-820E-208591D60CC8}" dt="2018-12-30T00:00:37.965" v="9" actId="20577"/>
        <pc:sldMkLst>
          <pc:docMk/>
          <pc:sldMk cId="2071616175" sldId="321"/>
        </pc:sldMkLst>
        <pc:spChg chg="mod">
          <ac:chgData name="李 强" userId="633faa5c58ce3e78" providerId="LiveId" clId="{870F3BC4-CB90-4805-820E-208591D60CC8}" dt="2018-12-30T00:00:37.965" v="9" actId="20577"/>
          <ac:spMkLst>
            <pc:docMk/>
            <pc:sldMk cId="2071616175" sldId="321"/>
            <ac:spMk id="5123" creationId="{823B1026-6B98-4FD8-8DA8-D78FA979416E}"/>
          </ac:spMkLst>
        </pc:spChg>
      </pc:sldChg>
    </pc:docChg>
  </pc:docChgLst>
  <pc:docChgLst>
    <pc:chgData name="李 强" userId="633faa5c58ce3e78" providerId="LiveId" clId="{1590BB94-0377-48E9-889F-ECD869654993}"/>
  </pc:docChgLst>
  <pc:docChgLst>
    <pc:chgData name="李 强" userId="633faa5c58ce3e78" providerId="LiveId" clId="{1168CA87-03A7-4C1D-A516-A7E0D38255BD}"/>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909AB5F-6E94-4660-9FE5-B6D1FC6920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6D1437F4-05CC-4768-9495-D48D7895B04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0D3CF063-56F2-42DD-A32C-24D15B67612C}" type="datetimeFigureOut">
              <a:rPr lang="zh-CN" altLang="en-US"/>
              <a:pPr>
                <a:defRPr/>
              </a:pPr>
              <a:t>2018/12/30</a:t>
            </a:fld>
            <a:endParaRPr lang="zh-CN" altLang="en-US"/>
          </a:p>
        </p:txBody>
      </p:sp>
      <p:sp>
        <p:nvSpPr>
          <p:cNvPr id="4" name="幻灯片图像占位符 3">
            <a:extLst>
              <a:ext uri="{FF2B5EF4-FFF2-40B4-BE49-F238E27FC236}">
                <a16:creationId xmlns:a16="http://schemas.microsoft.com/office/drawing/2014/main" id="{C7DD23A6-CB0F-46B3-935A-976AD05C1EE9}"/>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E68FE576-0A9F-4DE3-8D2A-334BA3BA320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EDDE239D-7969-4554-82FD-E03D57194CC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a:extLst>
              <a:ext uri="{FF2B5EF4-FFF2-40B4-BE49-F238E27FC236}">
                <a16:creationId xmlns:a16="http://schemas.microsoft.com/office/drawing/2014/main" id="{106B08FB-BB3E-413E-9A9E-25E75D5085C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2C7B1039-7A70-4775-909F-09FCF8FEC984}"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AD921145-BE81-43B5-B900-B4386CBAF7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a:extLst>
              <a:ext uri="{FF2B5EF4-FFF2-40B4-BE49-F238E27FC236}">
                <a16:creationId xmlns:a16="http://schemas.microsoft.com/office/drawing/2014/main" id="{B5492672-9CD7-4947-B1F0-BA237F1CB7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8196" name="灯片编号占位符 3">
            <a:extLst>
              <a:ext uri="{FF2B5EF4-FFF2-40B4-BE49-F238E27FC236}">
                <a16:creationId xmlns:a16="http://schemas.microsoft.com/office/drawing/2014/main" id="{050AC9F4-DAB5-469C-9974-4025D307AB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90091F8-5555-4714-AFE4-C839B62DDA00}"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随着社会的发展，科技进步，人类越来越深入的参与到社会、自然的生态环境中，对于疾病的医治我们有微创手术，我们有靶向药物，甚至我们有基因诊断和治疗等等。这些先进的医疗技术，他的确可以医治我们身体上的某些疾病，但是他是否可以真正成为我们患病时期的依靠和盼望呢？</a:t>
            </a:r>
          </a:p>
          <a:p>
            <a:r>
              <a:rPr lang="zh-CN" altLang="zh-CN" sz="1200" kern="1200" dirty="0">
                <a:solidFill>
                  <a:schemeClr val="tx1"/>
                </a:solidFill>
                <a:effectLst/>
                <a:latin typeface="+mn-lt"/>
                <a:ea typeface="+mn-ea"/>
                <a:cs typeface="+mn-cs"/>
              </a:rPr>
              <a:t>我们今天通过一段我们很熟悉的经文来看，在没有先进的医疗技术的耶稣时代，耶稣是如何来医治一个患病三十八年的病人，（虽然没有经文明确说明这个病人是瘫子，但是今天我们暂且用瘫子来代替他的病），今天我证道的题目是《基督的医治》，经文是约翰福音</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1~9</a:t>
            </a:r>
            <a:r>
              <a:rPr lang="zh-CN" altLang="zh-CN" sz="1200" kern="1200" dirty="0">
                <a:solidFill>
                  <a:schemeClr val="tx1"/>
                </a:solidFill>
                <a:effectLst/>
                <a:latin typeface="+mn-lt"/>
                <a:ea typeface="+mn-ea"/>
                <a:cs typeface="+mn-cs"/>
              </a:rPr>
              <a:t>节。下面我们一起祷告。。。</a:t>
            </a: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词：</a:t>
            </a:r>
          </a:p>
          <a:p>
            <a:r>
              <a:rPr lang="zh-CN" altLang="zh-CN" sz="1200" kern="1200" dirty="0">
                <a:solidFill>
                  <a:schemeClr val="tx1"/>
                </a:solidFill>
                <a:effectLst/>
                <a:latin typeface="+mn-lt"/>
                <a:ea typeface="+mn-ea"/>
                <a:cs typeface="+mn-cs"/>
              </a:rPr>
              <a:t>观察此段经文，我们可以看到这段经文重复最多的两个词是“病了”和“痊愈”。</a:t>
            </a:r>
          </a:p>
          <a:p>
            <a:r>
              <a:rPr lang="zh-CN" altLang="zh-CN" sz="1200" kern="1200" dirty="0">
                <a:solidFill>
                  <a:schemeClr val="tx1"/>
                </a:solidFill>
                <a:effectLst/>
                <a:latin typeface="+mn-lt"/>
                <a:ea typeface="+mn-ea"/>
                <a:cs typeface="+mn-cs"/>
              </a:rPr>
              <a:t>针对“病了”具体有“许多的病人”、“病了三十八年”、“病了许久”。而另外我们同样可以看到跟病相反的一个词就是“痊愈”，而整段这个词都是由耶稣作为主动者发出的，具体有“你要痊愈吗”、“立刻痊愈”、“使我痊愈”和“已经痊愈”等等。</a:t>
            </a:r>
          </a:p>
          <a:p>
            <a:r>
              <a:rPr lang="zh-CN" altLang="zh-CN" sz="1200" kern="1200" dirty="0">
                <a:solidFill>
                  <a:schemeClr val="tx1"/>
                </a:solidFill>
                <a:effectLst/>
                <a:latin typeface="+mn-lt"/>
                <a:ea typeface="+mn-ea"/>
                <a:cs typeface="+mn-cs"/>
              </a:rPr>
              <a:t>通过这两个词我们可以看到，这段经文有很强烈的对比感，一个未遇见耶稣的人他一无所有，有的仅仅是病，而遇见耶稣之后，我们能看到他有的是痊愈，彻底的、立刻的痊愈。</a:t>
            </a:r>
          </a:p>
          <a:p>
            <a:r>
              <a:rPr lang="zh-CN" altLang="zh-CN" sz="1200" kern="1200" dirty="0">
                <a:solidFill>
                  <a:schemeClr val="tx1"/>
                </a:solidFill>
                <a:effectLst/>
                <a:latin typeface="+mn-lt"/>
                <a:ea typeface="+mn-ea"/>
                <a:cs typeface="+mn-cs"/>
              </a:rPr>
              <a:t>句子：</a:t>
            </a:r>
          </a:p>
          <a:p>
            <a:r>
              <a:rPr lang="zh-CN" altLang="zh-CN" sz="1200" kern="1200" dirty="0">
                <a:solidFill>
                  <a:schemeClr val="tx1"/>
                </a:solidFill>
                <a:effectLst/>
                <a:latin typeface="+mn-lt"/>
                <a:ea typeface="+mn-ea"/>
                <a:cs typeface="+mn-cs"/>
              </a:rPr>
              <a:t>观察这段经文，我们可以看到两个主角各有一句很长的对话，对于三十八年的病人，他有一句（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先生，水动的时候，没有人把我放在池子里；我正去的时候，就有别人比我先下去。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），对于耶稣也同样有一句（你要</a:t>
            </a:r>
            <a:r>
              <a:rPr lang="zh-CN" altLang="zh-CN" sz="1200" b="1" kern="1200" dirty="0">
                <a:solidFill>
                  <a:schemeClr val="tx1"/>
                </a:solidFill>
                <a:effectLst/>
                <a:latin typeface="+mn-lt"/>
                <a:ea typeface="+mn-ea"/>
                <a:cs typeface="+mn-cs"/>
              </a:rPr>
              <a:t>痊愈吗</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本段经文所记录的节期没有定论，旧约时代犹太人有三个节期一定要过的，即逾越节、五旬节、和住棚节。律法规定凡是住在耶路撒冷二十哩以内的成年男子都要守这些节期。有人说是逾越节，也有可能是圣殿节、五旬节。加尔文的观点，按照时间顺序这个节期应该理解为五旬节，这个节期不是本文的重点，我们暂且放过。</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同时本段经文所记录的三十八年的病人具体是什么病，经文病没有明确说明，但是从病人的叙述中，应该是行动不便方面的病症，这个也不是本文的重点，我们暂且放过。</a:t>
            </a:r>
          </a:p>
          <a:p>
            <a:r>
              <a:rPr lang="zh-CN" altLang="zh-CN" sz="1200" kern="1200" dirty="0">
                <a:solidFill>
                  <a:schemeClr val="tx1"/>
                </a:solidFill>
                <a:effectLst/>
                <a:latin typeface="+mn-lt"/>
                <a:ea typeface="+mn-ea"/>
                <a:cs typeface="+mn-cs"/>
              </a:rPr>
              <a:t>我们知道整本圣经是见证耶稣是基督是神的儿子，同样约翰福音也遵循这个目的。</a:t>
            </a:r>
          </a:p>
          <a:p>
            <a:r>
              <a:rPr lang="zh-CN" altLang="zh-CN" sz="1200" kern="1200" dirty="0">
                <a:solidFill>
                  <a:schemeClr val="tx1"/>
                </a:solidFill>
                <a:effectLst/>
                <a:latin typeface="+mn-lt"/>
                <a:ea typeface="+mn-ea"/>
                <a:cs typeface="+mn-cs"/>
              </a:rPr>
              <a:t>约翰福音第一章我们看到开篇就是太初有道，道与神同在，道就是神。这道太初与神同在，万物是借着祂造的，凡被造的没有一样不是借着祂被造的。生命在祂里面，这生命就是人的光，光照在黑暗里，黑暗却不接受光。到第</a:t>
            </a:r>
            <a:r>
              <a:rPr lang="en-US" altLang="zh-CN" sz="1200" kern="1200" dirty="0">
                <a:solidFill>
                  <a:schemeClr val="tx1"/>
                </a:solidFill>
                <a:effectLst/>
                <a:latin typeface="+mn-lt"/>
                <a:ea typeface="+mn-ea"/>
                <a:cs typeface="+mn-cs"/>
              </a:rPr>
              <a:t>14</a:t>
            </a:r>
            <a:r>
              <a:rPr lang="zh-CN" altLang="zh-CN" sz="1200" kern="1200" dirty="0">
                <a:solidFill>
                  <a:schemeClr val="tx1"/>
                </a:solidFill>
                <a:effectLst/>
                <a:latin typeface="+mn-lt"/>
                <a:ea typeface="+mn-ea"/>
                <a:cs typeface="+mn-cs"/>
              </a:rPr>
              <a:t>节，道成肉身，住在我们中间，充充满满有恩典，有真理。我们也见过他的荣光，正是父独生子的荣光。我们可以看到是施洗约翰对耶稣的见证，经文：看呢，神的羔羊，除去世人罪孽的。接下来就是耶稣呼召腓力和那单业，经文说：你们要看到天开了，神的使者上来下去在人子身上。</a:t>
            </a:r>
          </a:p>
          <a:p>
            <a:r>
              <a:rPr lang="zh-CN" altLang="zh-CN" sz="1200" kern="1200" dirty="0">
                <a:solidFill>
                  <a:schemeClr val="tx1"/>
                </a:solidFill>
                <a:effectLst/>
                <a:latin typeface="+mn-lt"/>
                <a:ea typeface="+mn-ea"/>
                <a:cs typeface="+mn-cs"/>
              </a:rPr>
              <a:t>第二章记载了迦拿的婚宴，耶稣把神变成酒。耶稣洁净圣殿，耶稣不把自己交给他们，因为他知道人心所存的。</a:t>
            </a:r>
          </a:p>
          <a:p>
            <a:r>
              <a:rPr lang="zh-CN" altLang="zh-CN" sz="1200" kern="1200" dirty="0">
                <a:solidFill>
                  <a:schemeClr val="tx1"/>
                </a:solidFill>
                <a:effectLst/>
                <a:latin typeface="+mn-lt"/>
                <a:ea typeface="+mn-ea"/>
                <a:cs typeface="+mn-cs"/>
              </a:rPr>
              <a:t>第三章记载了耶稣与尼哥底母的论道，并且明确提出：人若不重生就不能见神的国，人若不是从水和圣灵生的，就不能进神的国。信子的人有永生，不信子的人得不着永生，神的震怒常在他身上。</a:t>
            </a:r>
          </a:p>
          <a:p>
            <a:r>
              <a:rPr lang="zh-CN" altLang="zh-CN" sz="1200" kern="1200" dirty="0">
                <a:solidFill>
                  <a:schemeClr val="tx1"/>
                </a:solidFill>
                <a:effectLst/>
                <a:latin typeface="+mn-lt"/>
                <a:ea typeface="+mn-ea"/>
                <a:cs typeface="+mn-cs"/>
              </a:rPr>
              <a:t>第四章记载了耶稣撒玛利亚妇人论道，耶稣说，人若喝我所赐的水就永远不渴，我所赐的水要在他里面成为泉源直涌到永生，后来撒玛利亚人说：我们信不是因为你的话，是因为我们亲自听见了，知道这真是救世主。后来耶稣又医治了加利利大臣的儿子，经文记载：他自己和他全家就都信了。</a:t>
            </a:r>
          </a:p>
          <a:p>
            <a:r>
              <a:rPr lang="zh-CN" altLang="zh-CN" sz="1200" kern="1200" dirty="0">
                <a:solidFill>
                  <a:schemeClr val="tx1"/>
                </a:solidFill>
                <a:effectLst/>
                <a:latin typeface="+mn-lt"/>
                <a:ea typeface="+mn-ea"/>
                <a:cs typeface="+mn-cs"/>
              </a:rPr>
              <a:t>第五章记载了毕士大池子病人得医治后来描述了耶稣圣子的权柄和为耶稣做见证的父。</a:t>
            </a:r>
          </a:p>
          <a:p>
            <a:r>
              <a:rPr lang="zh-CN" altLang="zh-CN" sz="1200" kern="1200" dirty="0">
                <a:solidFill>
                  <a:schemeClr val="tx1"/>
                </a:solidFill>
                <a:effectLst/>
                <a:latin typeface="+mn-lt"/>
                <a:ea typeface="+mn-ea"/>
                <a:cs typeface="+mn-cs"/>
              </a:rPr>
              <a:t>第六章记载了五千人吃饱，并且耶稣是生命的粮，耶稣说：我就是生命的粮，到我这里来的，必定不饿，信我的永远不渴。又说：我的肉真是可吃的，我的血真是可喝的，吃我肉喝我血的人常在我里面，我也常在他里面。</a:t>
            </a:r>
          </a:p>
          <a:p>
            <a:r>
              <a:rPr lang="zh-CN" altLang="zh-CN" sz="1200" kern="1200" dirty="0">
                <a:solidFill>
                  <a:schemeClr val="tx1"/>
                </a:solidFill>
                <a:effectLst/>
                <a:latin typeface="+mn-lt"/>
                <a:ea typeface="+mn-ea"/>
                <a:cs typeface="+mn-cs"/>
              </a:rPr>
              <a:t>最后一段是整个约翰福音的高潮也是整本圣经中心即彼得的宣告：主啊，你有永生之道，我们还归从谁呢？我们已经信了又知道你是神的圣者。</a:t>
            </a:r>
          </a:p>
          <a:p>
            <a:r>
              <a:rPr lang="zh-CN" altLang="zh-CN" sz="1200" kern="1200" dirty="0">
                <a:solidFill>
                  <a:schemeClr val="tx1"/>
                </a:solidFill>
                <a:effectLst/>
                <a:latin typeface="+mn-lt"/>
                <a:ea typeface="+mn-ea"/>
                <a:cs typeface="+mn-cs"/>
              </a:rPr>
              <a:t>所以从整卷书的脉络来看，都在见证耶稣是基督，神的圣者。而我们在来到本段，我们看到这段毕士大池边的医治一方面是见证基督，另外一方面也是教导我们神对人的医治。</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1" kern="1200" dirty="0">
                <a:solidFill>
                  <a:schemeClr val="tx1"/>
                </a:solidFill>
                <a:effectLst/>
                <a:latin typeface="+mn-lt"/>
                <a:ea typeface="+mn-ea"/>
                <a:cs typeface="+mn-cs"/>
              </a:rPr>
              <a:t>1</a:t>
            </a:r>
            <a:r>
              <a:rPr lang="zh-CN" altLang="zh-CN" sz="1200" b="1" kern="1200" dirty="0">
                <a:solidFill>
                  <a:schemeClr val="tx1"/>
                </a:solidFill>
                <a:effectLst/>
                <a:latin typeface="+mn-lt"/>
                <a:ea typeface="+mn-ea"/>
                <a:cs typeface="+mn-cs"/>
              </a:rPr>
              <a:t>，</a:t>
            </a:r>
            <a:r>
              <a:rPr lang="en-US" altLang="zh-CN" sz="1200" b="1" kern="1200" dirty="0">
                <a:solidFill>
                  <a:schemeClr val="tx1"/>
                </a:solidFill>
                <a:effectLst/>
                <a:latin typeface="+mn-lt"/>
                <a:ea typeface="+mn-ea"/>
                <a:cs typeface="+mn-cs"/>
              </a:rPr>
              <a:t>	</a:t>
            </a:r>
            <a:r>
              <a:rPr lang="zh-CN" altLang="zh-CN" sz="1200" b="1" kern="1200" dirty="0">
                <a:solidFill>
                  <a:schemeClr val="tx1"/>
                </a:solidFill>
                <a:effectLst/>
                <a:latin typeface="+mn-lt"/>
                <a:ea typeface="+mn-ea"/>
                <a:cs typeface="+mn-cs"/>
              </a:rPr>
              <a:t>基督是人真实指望的主。</a:t>
            </a:r>
          </a:p>
          <a:p>
            <a:r>
              <a:rPr lang="zh-CN" altLang="zh-CN" sz="1200" kern="1200" dirty="0">
                <a:solidFill>
                  <a:schemeClr val="tx1"/>
                </a:solidFill>
                <a:effectLst/>
                <a:latin typeface="+mn-lt"/>
                <a:ea typeface="+mn-ea"/>
                <a:cs typeface="+mn-cs"/>
              </a:rPr>
              <a:t>我们先看第一部分，</a:t>
            </a:r>
            <a:r>
              <a:rPr lang="en-US" altLang="zh-CN" sz="1200" kern="1200" dirty="0">
                <a:solidFill>
                  <a:schemeClr val="tx1"/>
                </a:solidFill>
                <a:effectLst/>
                <a:latin typeface="+mn-lt"/>
                <a:ea typeface="+mn-ea"/>
                <a:cs typeface="+mn-cs"/>
              </a:rPr>
              <a:t>1~5</a:t>
            </a:r>
            <a:r>
              <a:rPr lang="zh-CN" altLang="zh-CN" sz="1200" kern="1200" dirty="0">
                <a:solidFill>
                  <a:schemeClr val="tx1"/>
                </a:solidFill>
                <a:effectLst/>
                <a:latin typeface="+mn-lt"/>
                <a:ea typeface="+mn-ea"/>
                <a:cs typeface="+mn-cs"/>
              </a:rPr>
              <a:t>节，基督未来之前。</a:t>
            </a:r>
          </a:p>
          <a:p>
            <a:r>
              <a:rPr lang="en-US" altLang="zh-CN" sz="1200" b="1" kern="1200" dirty="0">
                <a:solidFill>
                  <a:schemeClr val="tx1"/>
                </a:solidFill>
                <a:effectLst/>
                <a:latin typeface="+mn-lt"/>
                <a:ea typeface="+mn-ea"/>
                <a:cs typeface="+mn-cs"/>
              </a:rPr>
              <a:t>A</a:t>
            </a:r>
            <a:r>
              <a:rPr lang="zh-CN" altLang="zh-CN" sz="1200" b="1" kern="1200" dirty="0">
                <a:solidFill>
                  <a:schemeClr val="tx1"/>
                </a:solidFill>
                <a:effectLst/>
                <a:latin typeface="+mn-lt"/>
                <a:ea typeface="+mn-ea"/>
                <a:cs typeface="+mn-cs"/>
              </a:rPr>
              <a:t>：现实世界不能给人指望：</a:t>
            </a:r>
          </a:p>
          <a:p>
            <a:r>
              <a:rPr lang="zh-CN" altLang="zh-CN" sz="1200" kern="1200" dirty="0">
                <a:solidFill>
                  <a:schemeClr val="tx1"/>
                </a:solidFill>
                <a:effectLst/>
                <a:latin typeface="+mn-lt"/>
                <a:ea typeface="+mn-ea"/>
                <a:cs typeface="+mn-cs"/>
              </a:rPr>
              <a:t>在毕士大（翻译过来是蒙怜悯的意思）池边有很多的病人，他们中有瞎眼的、瘸腿的、血气枯干的等等各种病人在等待被医治，他们的指望在没有基督的时候，就是希望水动的时候可以第一个下去从而被医治，但是真实的情况是怎么样的呢？虽然有这个看似美好的应许，但是真实的情况还是依然在数量上有“许多病人”不能得医治，在时间上有“病了三十八年、病了许久”的人没有得医治，在种类上有瞎眼的、瘸腿的、血气枯干的人没有得到医治。</a:t>
            </a:r>
          </a:p>
          <a:p>
            <a:r>
              <a:rPr lang="zh-CN" altLang="zh-CN" sz="1200" kern="1200" dirty="0">
                <a:solidFill>
                  <a:schemeClr val="tx1"/>
                </a:solidFill>
                <a:effectLst/>
                <a:latin typeface="+mn-lt"/>
                <a:ea typeface="+mn-ea"/>
                <a:cs typeface="+mn-cs"/>
              </a:rPr>
              <a:t>关于小字部分有两种不同的解释：</a:t>
            </a:r>
          </a:p>
          <a:p>
            <a:pPr lvl="0"/>
            <a:r>
              <a:rPr lang="zh-CN" altLang="zh-CN" sz="1200" kern="1200" dirty="0">
                <a:solidFill>
                  <a:schemeClr val="tx1"/>
                </a:solidFill>
                <a:effectLst/>
                <a:latin typeface="+mn-lt"/>
                <a:ea typeface="+mn-ea"/>
                <a:cs typeface="+mn-cs"/>
              </a:rPr>
              <a:t>唐崇荣牧师相信此事情发生过，否则毕士大池边就不会聚集这么多的病人。</a:t>
            </a:r>
          </a:p>
          <a:p>
            <a:pPr lvl="0"/>
            <a:r>
              <a:rPr lang="zh-CN" altLang="zh-CN" sz="1200" kern="1200" dirty="0">
                <a:solidFill>
                  <a:schemeClr val="tx1"/>
                </a:solidFill>
                <a:effectLst/>
                <a:latin typeface="+mn-lt"/>
                <a:ea typeface="+mn-ea"/>
                <a:cs typeface="+mn-cs"/>
              </a:rPr>
              <a:t>最新的考古发现毕士大这个原文是双子池（</a:t>
            </a:r>
            <a:r>
              <a:rPr lang="en-US" altLang="zh-CN" sz="1200" kern="1200" dirty="0">
                <a:solidFill>
                  <a:schemeClr val="tx1"/>
                </a:solidFill>
                <a:effectLst/>
                <a:latin typeface="+mn-lt"/>
                <a:ea typeface="+mn-ea"/>
                <a:cs typeface="+mn-cs"/>
              </a:rPr>
              <a:t>Bethesda</a:t>
            </a:r>
            <a:r>
              <a:rPr lang="zh-CN" altLang="zh-CN" sz="1200" kern="1200" dirty="0">
                <a:solidFill>
                  <a:schemeClr val="tx1"/>
                </a:solidFill>
                <a:effectLst/>
                <a:latin typeface="+mn-lt"/>
                <a:ea typeface="+mn-ea"/>
                <a:cs typeface="+mn-cs"/>
              </a:rPr>
              <a:t>）的意思，毕士大池子最早出现在公元前</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世纪，那时候的耶路撒冷城还没有这么大，这个池子最早是供奉医神阿斯克勒庇俄斯庙的一部分，公元一世纪中期当时的希律扩大的城墙，将其纳入到城内。考古学家在现在圣安妮教堂院中发掘毕士大池的遗址，由两个相当大的池子组成，称为南池和北池。这也许解释为何圣经说这池子有五个廊子，廊子指有拱顶的通道，除了在池子的四边有四个廊子外，在南北两池的中间亦建了一个廊子，形成一个</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字的形状，池子最深的地方可以达到</a:t>
            </a:r>
            <a:r>
              <a:rPr lang="en-US" altLang="zh-CN" sz="1200" kern="1200" dirty="0">
                <a:solidFill>
                  <a:schemeClr val="tx1"/>
                </a:solidFill>
                <a:effectLst/>
                <a:latin typeface="+mn-lt"/>
                <a:ea typeface="+mn-ea"/>
                <a:cs typeface="+mn-cs"/>
              </a:rPr>
              <a:t>13</a:t>
            </a:r>
            <a:r>
              <a:rPr lang="zh-CN" altLang="zh-CN" sz="1200" kern="1200" dirty="0">
                <a:solidFill>
                  <a:schemeClr val="tx1"/>
                </a:solidFill>
                <a:effectLst/>
                <a:latin typeface="+mn-lt"/>
                <a:ea typeface="+mn-ea"/>
                <a:cs typeface="+mn-cs"/>
              </a:rPr>
              <a:t>米。既然是供奉假神的地方，所以说这个被医治的传说就不是真实的。同时在圣经无论旧约和新约都有到池子里洗而病得医治的例子，旧约的乃曼将军，新约瞎眼的去西罗亚池子但是，这个地方耶稣并没有让这个病人去池子里去洗，从另外的一个方面也说明这个池子可能跟假神有关。</a:t>
            </a:r>
          </a:p>
          <a:p>
            <a:r>
              <a:rPr lang="zh-CN" altLang="zh-CN" sz="1200" kern="1200" dirty="0">
                <a:solidFill>
                  <a:schemeClr val="tx1"/>
                </a:solidFill>
                <a:effectLst/>
                <a:latin typeface="+mn-lt"/>
                <a:ea typeface="+mn-ea"/>
                <a:cs typeface="+mn-cs"/>
              </a:rPr>
              <a:t>这个应许是否是真实有效的，我们不知道，我们也不在这里进行考古的评估。我们今天就是从经文来看具体的情况，从经文所描述的状态我们可以看到，虽然有得医治的应许，但是依然有大量的病人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瞎眼的、瘸腿的、血气枯干</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并没有被医治，这就是经文所描述的真实现状，他们的指望是虚无不可依靠的。</a:t>
            </a:r>
          </a:p>
          <a:p>
            <a:r>
              <a:rPr lang="zh-CN" altLang="zh-CN" sz="1200" kern="1200" dirty="0">
                <a:solidFill>
                  <a:schemeClr val="tx1"/>
                </a:solidFill>
                <a:effectLst/>
                <a:latin typeface="+mn-lt"/>
                <a:ea typeface="+mn-ea"/>
                <a:cs typeface="+mn-cs"/>
              </a:rPr>
              <a:t>此类指望我们可以延伸出几类情况：</a:t>
            </a:r>
          </a:p>
          <a:p>
            <a:pPr lvl="0"/>
            <a:r>
              <a:rPr lang="zh-CN" altLang="zh-CN" sz="1200" kern="1200" dirty="0">
                <a:solidFill>
                  <a:schemeClr val="tx1"/>
                </a:solidFill>
                <a:effectLst/>
                <a:latin typeface="+mn-lt"/>
                <a:ea typeface="+mn-ea"/>
                <a:cs typeface="+mn-cs"/>
              </a:rPr>
              <a:t>在当今社会中，依靠物质科技作为人的指望。同样我们可以看我们现在这个社会，医疗是否可以给人指望，虽然现代的科技非常发达，有着无法想象的医疗科技，心脏有问题我们可以给心脏做支架，膝盖有问题我们可以换半月板等等，貌似我们什么病都可以治疗，但是同样不能给人以指望。的确很多器官都可以换人工的，一我们可以看到人工的器官是有限的，二我们同样可以看到更为严重的问题是很多疾病根本就不能治疗，或者说医生束手无策，各种各样的癌症，虽然有手术、化疗和放疗等等看似高科技的医疗方法，但是很多人最终还是医治无效。就说前一段时间有一个新闻，有个人得了感冒，就倾家荡产还没有治疗好，最终还是去世了。所以说虽然有各种高科技的医疗技术，看似我们比古人有更多可见的指望，但是其实我们还是一样，有各种各样的病症的病人在等候着“水动”。靠着这些高科技的医疗其实不能真正给我们得医治的指望。</a:t>
            </a:r>
          </a:p>
          <a:p>
            <a:r>
              <a:rPr lang="zh-CN" altLang="zh-CN" sz="1200" kern="1200" dirty="0">
                <a:solidFill>
                  <a:schemeClr val="tx1"/>
                </a:solidFill>
                <a:effectLst/>
                <a:latin typeface="+mn-lt"/>
                <a:ea typeface="+mn-ea"/>
                <a:cs typeface="+mn-cs"/>
              </a:rPr>
              <a:t>同样我们把视角延伸的整个社会，对于健康的人现在这个社会是否可以给他真正的指望？有人说养儿防老，现在子女是否可以给我们真正的指望？现实情况是，很多子女都在外工作，跟父母不在一个城市，甚至不在一个国家，当父母有需要的时候，子女很多都不能给父母帮助，每年过年的时候，子女才能回家呆</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天，而且还有很多子女不回家，让父母空等待一场。去年就有新闻报道，有父母做好了子女最喜欢吃的东西，结果几个子女都不回家过年的新闻。所以说子女不能成为我们的指望。</a:t>
            </a:r>
          </a:p>
          <a:p>
            <a:r>
              <a:rPr lang="zh-CN" altLang="zh-CN" sz="1200" kern="1200" dirty="0">
                <a:solidFill>
                  <a:schemeClr val="tx1"/>
                </a:solidFill>
                <a:effectLst/>
                <a:latin typeface="+mn-lt"/>
                <a:ea typeface="+mn-ea"/>
                <a:cs typeface="+mn-cs"/>
              </a:rPr>
              <a:t>那金钱呢？俗话说“没有钱是万万不能，但是钱也不是万能的。”也意味着也有钱办不到的事情。从上面我们可以看到，针对健康、亲情和金钱都不能给我们指望，那现实世界带给我们的是什么呢？我们继续看下面经文。</a:t>
            </a:r>
          </a:p>
          <a:p>
            <a:pPr lvl="0"/>
            <a:r>
              <a:rPr lang="zh-CN" altLang="zh-CN" sz="1200" kern="1200" dirty="0">
                <a:solidFill>
                  <a:schemeClr val="tx1"/>
                </a:solidFill>
                <a:effectLst/>
                <a:latin typeface="+mn-lt"/>
                <a:ea typeface="+mn-ea"/>
                <a:cs typeface="+mn-cs"/>
              </a:rPr>
              <a:t>在当今社会中，依靠虚假宗教或者传统作为人的指望。</a:t>
            </a:r>
          </a:p>
          <a:p>
            <a:r>
              <a:rPr lang="zh-CN" altLang="zh-CN" sz="1200" kern="1200" dirty="0">
                <a:solidFill>
                  <a:schemeClr val="tx1"/>
                </a:solidFill>
                <a:effectLst/>
                <a:latin typeface="+mn-lt"/>
                <a:ea typeface="+mn-ea"/>
                <a:cs typeface="+mn-cs"/>
              </a:rPr>
              <a:t>有人信仰传说，有人信仰科技，有人信仰某人等等，但是这些并不能带给人真实的指望。</a:t>
            </a:r>
          </a:p>
          <a:p>
            <a:pPr lvl="0"/>
            <a:r>
              <a:rPr lang="zh-CN" altLang="zh-CN" sz="1200" kern="1200" dirty="0">
                <a:solidFill>
                  <a:schemeClr val="tx1"/>
                </a:solidFill>
                <a:effectLst/>
                <a:latin typeface="+mn-lt"/>
                <a:ea typeface="+mn-ea"/>
                <a:cs typeface="+mn-cs"/>
              </a:rPr>
              <a:t>在当今社会中，虽然在神教会中，但是未跟神发生真实生命的关系，有的是别人的指望。</a:t>
            </a:r>
          </a:p>
          <a:p>
            <a:r>
              <a:rPr lang="zh-CN" altLang="zh-CN" sz="1200" kern="1200" dirty="0">
                <a:solidFill>
                  <a:schemeClr val="tx1"/>
                </a:solidFill>
                <a:effectLst/>
                <a:latin typeface="+mn-lt"/>
                <a:ea typeface="+mn-ea"/>
                <a:cs typeface="+mn-cs"/>
              </a:rPr>
              <a:t>虽然有很多人在属神的教会中，每周日来聚会，小组来参加，也乐意参加各种服侍，但是他并不关心自己跟神真正的生命的关系，他关注的是自己的感受好不好，自己有没有受到重视，此类人的指望不是从神儿来，此类看似有指望，但是他的指望是虚假的而且更加的危险。</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：现实世界只能给你嫉妒苦毒：</a:t>
            </a:r>
          </a:p>
          <a:p>
            <a:r>
              <a:rPr lang="zh-CN" altLang="zh-CN" sz="1200" kern="1200" dirty="0">
                <a:solidFill>
                  <a:schemeClr val="tx1"/>
                </a:solidFill>
                <a:effectLst/>
                <a:latin typeface="+mn-lt"/>
                <a:ea typeface="+mn-ea"/>
                <a:cs typeface="+mn-cs"/>
              </a:rPr>
              <a:t>从上面我们知道现实的世界没有给这个病人真正的医治，尽管他已经等待了三十八年，那么我们来看给了他什么呢？我们来看经文，病人回答说：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先生，水动的时候，没有人把我放在池子里；我正去的时候，就有别人比我先下去。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从三十八年的病人的回答中，我们可以看出：</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，对耶稣的称呼为“先生”，说明他是尊重耶稣的，尽管他不知道耶稣是谁，但是他的回答是认真的，不是随便的。</a:t>
            </a:r>
          </a:p>
          <a:p>
            <a:r>
              <a:rPr lang="zh-CN" altLang="zh-CN" sz="1200" kern="1200" dirty="0">
                <a:solidFill>
                  <a:schemeClr val="tx1"/>
                </a:solidFill>
                <a:effectLst/>
                <a:latin typeface="+mn-lt"/>
                <a:ea typeface="+mn-ea"/>
                <a:cs typeface="+mn-cs"/>
              </a:rPr>
              <a:t>从他的回答中我们分两个方面来看，第一方面，他最早的指望是他人，这个他人可能是自己的亲人，也可能是愿意帮助他的其他人，但是他失望了。自己的亲人在经历了这么长时间之后，完全离开了他。可能他患病之初，还有亲人或者朋友愿意帮助他，当水动的时候，把他放入水中，但是这看似真实却虚无的传统，在经历了长时间的考验之后，亲人或者朋友离开了，他对亲情的失望。</a:t>
            </a:r>
          </a:p>
          <a:p>
            <a:r>
              <a:rPr lang="zh-CN" altLang="zh-CN" sz="1200" kern="1200" dirty="0">
                <a:solidFill>
                  <a:schemeClr val="tx1"/>
                </a:solidFill>
                <a:effectLst/>
                <a:latin typeface="+mn-lt"/>
                <a:ea typeface="+mn-ea"/>
                <a:cs typeface="+mn-cs"/>
              </a:rPr>
              <a:t>第二方面，他正要去的时候，他唯有依靠他自己的努力，但是发现他的努力也失败了，因为有人比他先下去了。先下去的人有没有得到医治，经文没有说，但是伤害却永久的留在了这个人的心中。</a:t>
            </a:r>
          </a:p>
          <a:p>
            <a:r>
              <a:rPr lang="zh-CN" altLang="zh-CN" sz="1200" kern="1200" dirty="0">
                <a:solidFill>
                  <a:schemeClr val="tx1"/>
                </a:solidFill>
                <a:effectLst/>
                <a:latin typeface="+mn-lt"/>
                <a:ea typeface="+mn-ea"/>
                <a:cs typeface="+mn-cs"/>
              </a:rPr>
              <a:t>我们可以从回答的内容中看出并没有生发人的感恩和盼望，而完全是争竞、嫉妒和抱怨，为什么别人比我快，为什么没有人帮助我等等。就像《罗马书》</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章</a:t>
            </a:r>
            <a:r>
              <a:rPr lang="en-US" altLang="zh-CN" sz="1200" kern="1200" dirty="0">
                <a:solidFill>
                  <a:schemeClr val="tx1"/>
                </a:solidFill>
                <a:effectLst/>
                <a:latin typeface="+mn-lt"/>
                <a:ea typeface="+mn-ea"/>
                <a:cs typeface="+mn-cs"/>
              </a:rPr>
              <a:t>29</a:t>
            </a:r>
            <a:r>
              <a:rPr lang="zh-CN" altLang="zh-CN" sz="1200" kern="1200" dirty="0">
                <a:solidFill>
                  <a:schemeClr val="tx1"/>
                </a:solidFill>
                <a:effectLst/>
                <a:latin typeface="+mn-lt"/>
                <a:ea typeface="+mn-ea"/>
                <a:cs typeface="+mn-cs"/>
              </a:rPr>
              <a:t>节和</a:t>
            </a:r>
            <a:r>
              <a:rPr lang="en-US" altLang="zh-CN" sz="1200" kern="1200" dirty="0">
                <a:solidFill>
                  <a:schemeClr val="tx1"/>
                </a:solidFill>
                <a:effectLst/>
                <a:latin typeface="+mn-lt"/>
                <a:ea typeface="+mn-ea"/>
                <a:cs typeface="+mn-cs"/>
              </a:rPr>
              <a:t>30</a:t>
            </a:r>
            <a:r>
              <a:rPr lang="zh-CN" altLang="zh-CN" sz="1200" kern="1200" dirty="0">
                <a:solidFill>
                  <a:schemeClr val="tx1"/>
                </a:solidFill>
                <a:effectLst/>
                <a:latin typeface="+mn-lt"/>
                <a:ea typeface="+mn-ea"/>
                <a:cs typeface="+mn-cs"/>
              </a:rPr>
              <a:t>节中所说：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装满了各样不义、邪恶、贪婪、恶毒（或作</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阴毒</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），满心是嫉妒、凶杀、争竞、诡诈、毒恨，又是谗毁的、背后说人的、怨恨　神的（或作</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被　神所憎恶的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这些就是不认识神的真实现状，而三十八年的病人的现状，他在被称为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蒙怜悯</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池子旁边，等待了三十八年。他也渴望被怜悯，被医治，后面我们也可以看到他同时也在渴望可以去圣殿去敬拜神，但是他在遇见耶稣之前，这一切都跟他没有关系，直到他遇见耶稣，这一切才开始发生彻底的改变。</a:t>
            </a:r>
          </a:p>
          <a:p>
            <a:r>
              <a:rPr lang="zh-CN" altLang="zh-CN" sz="1200" kern="1200" dirty="0">
                <a:solidFill>
                  <a:schemeClr val="tx1"/>
                </a:solidFill>
                <a:effectLst/>
                <a:latin typeface="+mn-lt"/>
                <a:ea typeface="+mn-ea"/>
                <a:cs typeface="+mn-cs"/>
              </a:rPr>
              <a:t>毕士大蒙怜悯的池子能带给他盼望吗？真的能带给他全人的医治吗？从经文中，我们可以肯定的回答：“不能”，假如他没有遇见耶稣继续等待，假如他在第三十九年的时候，被医治了，那么我们问他虽然身体被医治了，那么他的内心被医治了吗？他内心是否还是充满苦毒嫉妒和纷争呢？他会不会抱怨为什么不早点医治我，为什么让我白白浪费那三十八年等。他会抱怨说为什么让我遇到这个疾病？三十八年中，他经历了一次又一次的失望，在一次又一次的失望中变成了绝望。所以他回答耶稣，不是说“我要痊愈”，而是单单抱怨，没有人帮我，别人比我先下去。这里面充满的怨恨和苦毒。谁能成为他的拯救？谁能真正的安慰他，谁能真正的医治他使他痊愈？他永远不能成为他自己所盼望的那样，唯有基督只有基督。</a:t>
            </a:r>
          </a:p>
          <a:p>
            <a:r>
              <a:rPr lang="zh-CN" altLang="zh-CN" sz="1200" kern="1200" dirty="0">
                <a:solidFill>
                  <a:schemeClr val="tx1"/>
                </a:solidFill>
                <a:effectLst/>
                <a:latin typeface="+mn-lt"/>
                <a:ea typeface="+mn-ea"/>
                <a:cs typeface="+mn-cs"/>
              </a:rPr>
              <a:t>同样我们从这段经文的三十八年的病人是否可以看到我们自己熟悉的影子，我们在未认识主之前，我们努力在世界上找依靠和盼望，那最终这个世界带给我们的是什么呢？</a:t>
            </a:r>
          </a:p>
          <a:p>
            <a:r>
              <a:rPr lang="zh-CN" altLang="zh-CN" sz="1200" kern="1200" dirty="0">
                <a:solidFill>
                  <a:schemeClr val="tx1"/>
                </a:solidFill>
                <a:effectLst/>
                <a:latin typeface="+mn-lt"/>
                <a:ea typeface="+mn-ea"/>
                <a:cs typeface="+mn-cs"/>
              </a:rPr>
              <a:t>如果我们离开基督，没有把基督作为我们人生的中心，我们在世界上做各种努力，我们在工作上努力加班，努力挣钱，但是这些能带给我们真正的平安吗？我们在这个世界上努力跟各种人做好人际关系，努力保养我们的身体，这些能带给我们喜乐和平安吗？</a:t>
            </a:r>
          </a:p>
          <a:p>
            <a:r>
              <a:rPr lang="zh-CN" altLang="zh-CN" sz="1200" kern="1200" dirty="0">
                <a:solidFill>
                  <a:schemeClr val="tx1"/>
                </a:solidFill>
                <a:effectLst/>
                <a:latin typeface="+mn-lt"/>
                <a:ea typeface="+mn-ea"/>
                <a:cs typeface="+mn-cs"/>
              </a:rPr>
              <a:t>我们努力工作，我们的职位和薪水可能会得到升迁和增加，但是这个时候，我们会期望那更高的职位和更高的薪水，我们内心不满足，同时我们由于不认识神，我们内心会满了骄傲自满，我们内心没有满足和依靠。如果我们没有得到职位的升迁和薪水的增加，我们会怎么样呢？我们就像这个三十八年的病人一样，内心会满了嫉妒和苦毒。从抱怨我们所在公司或者单位，到最终抱怨神，为什么会遭遇这些不公平等。</a:t>
            </a:r>
          </a:p>
          <a:p>
            <a:r>
              <a:rPr lang="zh-CN" altLang="zh-CN" sz="1200" kern="1200" dirty="0">
                <a:solidFill>
                  <a:schemeClr val="tx1"/>
                </a:solidFill>
                <a:effectLst/>
                <a:latin typeface="+mn-lt"/>
                <a:ea typeface="+mn-ea"/>
                <a:cs typeface="+mn-cs"/>
              </a:rPr>
              <a:t>我们看到这个世界他真正带给我们的是什么呢？我们从经文中可以看到，现实世界带给我们的是嫉妒：在同样类似的条件下，为什么别人被医治了，我没有被医治？为什么同样大学同学有大房子，而我只能租房子住？为什么我们相同学历他可以开公司当老板，每天轻轻松松赚到很多的钱，而我只能每天辛苦加班拿微薄的薪水等等，这些就是这个现实世界带给我们的嫉妒纷争，抱怨苦毒。</a:t>
            </a:r>
          </a:p>
          <a:p>
            <a:r>
              <a:rPr lang="zh-CN" altLang="zh-CN" sz="1200" kern="1200" dirty="0">
                <a:solidFill>
                  <a:schemeClr val="tx1"/>
                </a:solidFill>
                <a:effectLst/>
                <a:latin typeface="+mn-lt"/>
                <a:ea typeface="+mn-ea"/>
                <a:cs typeface="+mn-cs"/>
              </a:rPr>
              <a:t>那到底谁能给我们盼望和依靠呢？谁是我们真正的满足呢？</a:t>
            </a:r>
          </a:p>
          <a:p>
            <a:r>
              <a:rPr lang="en-US" altLang="zh-CN" sz="1200" b="1" kern="1200" dirty="0">
                <a:solidFill>
                  <a:schemeClr val="tx1"/>
                </a:solidFill>
                <a:effectLst/>
                <a:latin typeface="+mn-lt"/>
                <a:ea typeface="+mn-ea"/>
                <a:cs typeface="+mn-cs"/>
              </a:rPr>
              <a:t>C</a:t>
            </a:r>
            <a:r>
              <a:rPr lang="zh-CN" altLang="zh-CN" sz="1200" b="1" kern="1200" dirty="0">
                <a:solidFill>
                  <a:schemeClr val="tx1"/>
                </a:solidFill>
                <a:effectLst/>
                <a:latin typeface="+mn-lt"/>
                <a:ea typeface="+mn-ea"/>
                <a:cs typeface="+mn-cs"/>
              </a:rPr>
              <a:t>：唯有基督给人盼望：</a:t>
            </a:r>
          </a:p>
          <a:p>
            <a:r>
              <a:rPr lang="zh-CN" altLang="zh-CN" sz="1200" kern="1200" dirty="0">
                <a:solidFill>
                  <a:schemeClr val="tx1"/>
                </a:solidFill>
                <a:effectLst/>
                <a:latin typeface="+mn-lt"/>
                <a:ea typeface="+mn-ea"/>
                <a:cs typeface="+mn-cs"/>
              </a:rPr>
              <a:t>病人在毕士大池子旁边躺了三十八年，也等待了三十八年，等来的却是无法被医治和毫无指望的人生（水动的时候，没有人，我正要去的时候，有人已经。。。）。正是在他毫无指望的时候，耶稣遇见了他，而耶稣见面的第一句问话，就是他最关注的痊愈，他的盼望的焦点：你要痊愈吗？当他由失望慢慢绝望的时候，耶稣遇见了他，而耶稣也真正带给了他盼望：痊愈。耶稣问他这句话的目的就是要把他从彻底的被医治的失望中拉回到有盼望和依靠有指望的生活。从他的回答中，我们可以看到一方面是抱怨，而另一方面我们也可以看出这段回答中有倾诉。他向这个关心他的人倾诉自己内心心声，他渴望痊愈，但是无能为力。是耶稣的问话又重新激起了他的盼望同时又带给他可以信靠的指望。</a:t>
            </a:r>
          </a:p>
          <a:p>
            <a:r>
              <a:rPr lang="zh-CN" altLang="zh-CN" sz="1200" kern="1200" dirty="0">
                <a:solidFill>
                  <a:schemeClr val="tx1"/>
                </a:solidFill>
                <a:effectLst/>
                <a:latin typeface="+mn-lt"/>
                <a:ea typeface="+mn-ea"/>
                <a:cs typeface="+mn-cs"/>
              </a:rPr>
              <a:t>在这三十八中，可能有很多人来问他，但是其他人的问话的焦点很少是这个三十八的瘫子，而是被医治的案例，或者水是否真的会动或者是你见过天使吗等等，但是耶稣来，他不关心其他人是否曾经被医治，也不关心这个池子的水是否真的会动，是否真的有天使来过，他关心的是眼前这个三十八的瘫子，他的问话也只有很简短的五个字，你要痊愈吗？正是这个问话，让病人重新燃起了被医治的指望。</a:t>
            </a:r>
          </a:p>
          <a:p>
            <a:r>
              <a:rPr lang="zh-CN" altLang="zh-CN" sz="1200" kern="1200" dirty="0">
                <a:solidFill>
                  <a:schemeClr val="tx1"/>
                </a:solidFill>
                <a:effectLst/>
                <a:latin typeface="+mn-lt"/>
                <a:ea typeface="+mn-ea"/>
                <a:cs typeface="+mn-cs"/>
              </a:rPr>
              <a:t>同样的现代的社会，虽然时代不同，社会、科技或者医疗技术的发展但是人真正的指望却从未发生过改变？科技不能成为我们的盼望、良好的医疗更不能成为我们的依靠，唯有基督能成为我们的盼望和依靠。我们经常会被肉体的情欲，眼目的情欲，并今生的骄傲所蒙蔽，由于我们罪性的缘故，我们天生就喜爱这些，但是这些都不能成为我们的盼望和依靠。我们虽然四肢健全，但是我们灵性上却是瞎眼的、瘸腿的和血气枯干的，我们每天沉沦在此不能自拔，我也希望别人可以把我们放到池子里，但是没有人能做到。我们希望天使搅动水来搅动我们的心灵，但是从来就没有果效。我们希望别人可以成为我们的帮助把我们放到池子里，但是没有人。我们期望依靠自己去到池子里，但是却总是有别人比我们先先去。在我们一次一次的的失望中，耶稣来了，他触摸到我们的盼望，并且也唯有他能给我们真正的盼望和医治直至痊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3</a:t>
            </a:fld>
            <a:endParaRPr lang="zh-CN" altLang="en-US"/>
          </a:p>
        </p:txBody>
      </p:sp>
    </p:spTree>
    <p:extLst>
      <p:ext uri="{BB962C8B-B14F-4D97-AF65-F5344CB8AC3E}">
        <p14:creationId xmlns:p14="http://schemas.microsoft.com/office/powerpoint/2010/main" val="3013176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节很直接记录说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耶稣看见他躺着，知道他病了许久</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就是三十八年病人现在最真实的现状，他躺着、他病了许久、内心没有了盼望，相反却充满了嫉妒和抱怨等各样的罪。他甚至可能就是在单单等待死亡的来临。一个毫无盼望、毫无喜乐且行动不便的人。他在自己医治的事情上，毫无任何能力。他曾经想依靠别人的帮助被医治，但是失败了，“没有人把我放到”。他也曾经希望依靠自己的能力被医治，但是也失败了，“等我要下去的时候”。随着年龄越来越大，身体也越来越不方便，他能做的只能毫无盼望的等待。经文对他的描述是“躺着”，失去任何主动寻求机会的信心。他也已经知道凭借别人的帮助和自己的主动性已经不可能被医治，所以只能是毫无盼望的“躺着”。</a:t>
            </a:r>
          </a:p>
          <a:p>
            <a:r>
              <a:rPr lang="zh-CN" altLang="zh-CN" sz="1200" kern="1200" dirty="0">
                <a:solidFill>
                  <a:schemeClr val="tx1"/>
                </a:solidFill>
                <a:effectLst/>
                <a:latin typeface="+mn-lt"/>
                <a:ea typeface="+mn-ea"/>
                <a:cs typeface="+mn-cs"/>
              </a:rPr>
              <a:t>同样，我们把注意力回到今天我们的社会和我们自己，即使在未信主之前凭借我们生活常识我们也知道我们身上有各种的罪，我们内心会有嫉妒、骄傲、诡诈等等。我们希望我们能不嫉妒、不自夸。我们也努力去禁戒我们不做害羞的事，但是我们做不到。不说其他的就拿骄傲着一个问题来说，我们希望我们能不骄傲，但是我们知道任何人都能从自己身上找出骄傲的资本。举例说来：有人以自己的财产骄傲，有人以自己姣好面容骄傲，有人以自己好行为骄傲，有人以自己的知识学历骄傲等等，就是一个乞丐你问他也有骄傲的地方。这个就是我们的罪性所在。但是我们却禁戒不住自己的骄傲。这个就是我们在医治上毫无能力。你可能说如果拥有好的修养是不是会不骄傲，不会，即使你外在不表现出来，其实你的内心还是在骄傲。</a:t>
            </a:r>
          </a:p>
          <a:p>
            <a:r>
              <a:rPr lang="zh-CN" altLang="zh-CN" sz="1200" kern="1200" dirty="0">
                <a:solidFill>
                  <a:schemeClr val="tx1"/>
                </a:solidFill>
                <a:effectLst/>
                <a:latin typeface="+mn-lt"/>
                <a:ea typeface="+mn-ea"/>
                <a:cs typeface="+mn-cs"/>
              </a:rPr>
              <a:t>同样，我们在属灵的医治“生命得救”事情上也是如此，自从亚当夏娃犯罪被赶出伊甸园之后，我们人类在罪上就是全然堕落，罪已经污染了我们方方面面，我们在属灵上已经是一个“死人”，我们能有的仅仅是犯罪得罪神，在我们未重生得救之前，我们不能做任何神眼中看为善的事情，我们也不可能主动寻求那位至善至圣的神，我们在得救的事情上是毫无行动的能力，我们愿意自己享受那罪中之乐，我们喜欢犯罪，我们从未思想过要口称耶稣为主，我们认为我们自己就是主，我们骄傲、自满、自以为是等等。这就是我们未认识这位至高神之前我们的状态。那么为什么我们可以转回被医治呢？以致于得救成为神的儿女呢？或者我们回到经文，为什么这个三十八年的瘫子被神所医治呢？</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、耶稣主动寻找失丧的人</a:t>
            </a:r>
          </a:p>
          <a:p>
            <a:r>
              <a:rPr lang="zh-CN" altLang="zh-CN" sz="1200" kern="1200" dirty="0">
                <a:solidFill>
                  <a:schemeClr val="tx1"/>
                </a:solidFill>
                <a:effectLst/>
                <a:latin typeface="+mn-lt"/>
                <a:ea typeface="+mn-ea"/>
                <a:cs typeface="+mn-cs"/>
              </a:rPr>
              <a:t>经文第</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节“耶稣看见他躺着，知道他病了许久”，甚至耶稣可能是专门来到毕士大池子来找寻他，基督是神，他清楚他所有的情况。耶稣主动来到他面前，耶稣主动开口问他</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你要痊愈吗？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简短的问话触及了这个病人的心灵。耶稣的问话是直接切入人心腹，他了解人的需要，躺了三十八年的病人最需要的是痊愈，所以耶稣主动且直接向这个病人发问。而我们这灵性瞎眼瘸腿的人最需要的是主的恩典，但是这恩典不是我们自己愿意去找寻的，除非基督主动找寻我们，否则我们还在那错误的池子旁边苦苦等待蒙怜悯。圣经中所记载的医治有的是病人呼求耶稣的医治，有的是基督主动发出医治。而这个是耶稣主动去毕士大池子旁边医治这个三十八年的瘫子，这个神迹耶稣是主动者，他主动寻找被需要被医治的人，按着他的主权他主动医治需要的人。还有一个跟他比较类似的就是撒玛利亚妇人，她也是耶稣主动找到她来传福音给她。</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你要痊愈吗？”这个也是主问我们所有人的问题，我们在未预见耶稣之前，我们渴望痊愈、渴望被爱、渴望身体得痊愈，但是我们却得不到。我们不能凭我们已有的知识、能力或财力得到医治，我们有的是装满了各样不义</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满心是嫉妒、凶杀、争竞、诡诈，我们希望得到是自己欲望的满足，但是我们却得不到。我们希望用各种各样的欲望填满我们自己的内心，但是却发现我们自己内心是个无底洞，他越来越吞噬着我们自己。我们开始失望，就像那个三十八年的病人在一次一次的失望中我们开始绝望，我们没有了依靠和盼望，我们进入出生入死的境界。唯有耶稣来到我们面前，他简单直接的问题来问我们，“你要痊愈吗？”你要得着医治吗？这个不是我们自己可以找寻的，是神的恩典在创世之初就预定拣选我们成为他蒙爱的儿女，从而进入他圣洁的国度。</a:t>
            </a:r>
          </a:p>
          <a:p>
            <a:r>
              <a:rPr lang="zh-CN" altLang="zh-CN" sz="1200" kern="1200" dirty="0">
                <a:solidFill>
                  <a:schemeClr val="tx1"/>
                </a:solidFill>
                <a:effectLst/>
                <a:latin typeface="+mn-lt"/>
                <a:ea typeface="+mn-ea"/>
                <a:cs typeface="+mn-cs"/>
              </a:rPr>
              <a:t>现在耶稣对我们每个人发出了邀请“你要痊愈吗？”，我们需要再次问我们自己，我们生命是否真正被耶稣所医治，我们是否跟耶稣真正有生命的联结。</a:t>
            </a:r>
          </a:p>
          <a:p>
            <a:r>
              <a:rPr lang="zh-CN" altLang="zh-CN" sz="1200" kern="1200" dirty="0">
                <a:solidFill>
                  <a:schemeClr val="tx1"/>
                </a:solidFill>
                <a:effectLst/>
                <a:latin typeface="+mn-lt"/>
                <a:ea typeface="+mn-ea"/>
                <a:cs typeface="+mn-cs"/>
              </a:rPr>
              <a:t>经文中三十八年病人并没有正面回答耶稣，而是说了一些不相干的话，我们来看耶稣是否真正医治了这个病人？那接下来具体发生了什么？</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4</a:t>
            </a:fld>
            <a:endParaRPr lang="zh-CN" altLang="en-US"/>
          </a:p>
        </p:txBody>
      </p:sp>
    </p:spTree>
    <p:extLst>
      <p:ext uri="{BB962C8B-B14F-4D97-AF65-F5344CB8AC3E}">
        <p14:creationId xmlns:p14="http://schemas.microsoft.com/office/powerpoint/2010/main" val="3146748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节，</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先生，水动的时候，没有人把我放在池子里；我正去的时候，就有别人比我先下去。</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病人并没有直接回答耶稣，而是描述他悲惨的境况。好像在说，我身体不便，没有人帮助我，等我艰难的移动身体要下去的时候，有人不顾我的艰难，而比我先下去了（从这段回答中我们也可以看出，如果真的有人在池子里当水动的时候下去得了医治，其实这个被医治的人他的病可能是很轻的，并不是最重的那个）。我就是那个不能被医治的可怜的人。这个病人此时可能已经接受身体不能得医治的现状，也可能他已经彻底的失望，更有可能他已经习惯了在病中的生活，他甚至在享受病中别人的种种施舍，所以他并没有直接的回答耶稣说“我要痊愈”。但是耶稣知道他最需要的是什么？</a:t>
            </a:r>
          </a:p>
          <a:p>
            <a:r>
              <a:rPr lang="zh-CN" altLang="zh-CN" sz="1200" kern="1200" dirty="0">
                <a:solidFill>
                  <a:schemeClr val="tx1"/>
                </a:solidFill>
                <a:effectLst/>
                <a:latin typeface="+mn-lt"/>
                <a:ea typeface="+mn-ea"/>
                <a:cs typeface="+mn-cs"/>
              </a:rPr>
              <a:t>耶稣在此仅说了一句话，尽管他没有求耶稣医治他，尽管他没有想到过被医治，但是耶稣却主动的做了医治。主却没有再问他，而是直接命令他说</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起来</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这是对一个无力之人并且病了三十八年的瘫子说的一句最不可能的做到的命令，没有复杂的程序，没有要求病人做什么准备来得医治，而仅仅是简单的去执行耶稣的命令，“起来，拿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耶稣的医治简单而有效，“立刻痊愈，就拿起褥子”。之前是“躺着”，基督来了要求他“起来”，这是一个彻底的改变。耶稣的命令发出，经文的描述“那人立刻痊愈”。耶稣的话是有能力的，从“躺着”来等待外在的可见的水动从而希望被医治，尽管这个医治是那么不可能，而“起来”却是内在力量并且是真实的，同时也只有耶稣的话才能有力量才能胜过这三十八年的惯性而重新站立。主的话语带着莫大的能力，带着医治人的能力， 主对人的医治是话语发出“立刻痊愈”。在这段经文中，并没有描述病人对耶稣话语的信靠，而单单是耶稣恩典的给与。也就是说这个医治的神迹中，耶稣并没有要求病人做什么来得医治，而是耶稣是完全的恩典施与主动者，这个不像其他神迹，我们在四福音书中能看到耶稣实行神迹有各种各样的医治，有“西罗亚池子里去洗”的瞎眼的被医治，有彼得履海因信耶稣的话而行，有主动摸耶稣衣裳穗子而得医治的血漏的妇人等等，但是在本段经文中耶稣医治的神迹中个，我们看到耶稣病没有要求病人信，也没有要求病人做什么，仅仅要求病人痊愈之后拿褥子走，此神迹的医治是立即的有效的，完全是出于神的大能和恩典。唯有耶稣才能医治我们，使我们痊愈，我们不能靠自己的力量去抓，靠我们自己的能力去争，争到最后就是虚空的虚空，一切都是虚空。因为唯有基督才可以真正的医治我们，使我们痊愈，使我们得到真正的满足。</a:t>
            </a:r>
          </a:p>
          <a:p>
            <a:r>
              <a:rPr lang="zh-CN" altLang="zh-CN" sz="1200" kern="1200" dirty="0">
                <a:solidFill>
                  <a:schemeClr val="tx1"/>
                </a:solidFill>
                <a:effectLst/>
                <a:latin typeface="+mn-lt"/>
                <a:ea typeface="+mn-ea"/>
                <a:cs typeface="+mn-cs"/>
              </a:rPr>
              <a:t>同时我们也看到耶稣在这里所实行的医治是明确和立刻的，这个没有一点的隐藏。跟之前医治大臣的儿子稍微有差别，大臣的儿子是【耶稣对他说：“回去吧！你的儿子活了。”那人信耶稣所说的话，就回去了。正下去的时候，他的仆人迎见他，说他的儿子活了。】医治并不是立即能看到的。但是这三十八年的瘫子的医治却是立即的，而且是马上让人看到医治的效果“拿起褥子”。从这个动作我们可以看到主医治的第二个特点：</a:t>
            </a:r>
          </a:p>
          <a:p>
            <a:r>
              <a:rPr lang="en-US" altLang="zh-CN" sz="1200" b="1" kern="1200" dirty="0">
                <a:solidFill>
                  <a:schemeClr val="tx1"/>
                </a:solidFill>
                <a:effectLst/>
                <a:latin typeface="+mn-lt"/>
                <a:ea typeface="+mn-ea"/>
                <a:cs typeface="+mn-cs"/>
              </a:rPr>
              <a:t>B</a:t>
            </a:r>
            <a:r>
              <a:rPr lang="zh-CN" altLang="zh-CN" sz="1200" b="1" kern="1200" dirty="0">
                <a:solidFill>
                  <a:schemeClr val="tx1"/>
                </a:solidFill>
                <a:effectLst/>
                <a:latin typeface="+mn-lt"/>
                <a:ea typeface="+mn-ea"/>
                <a:cs typeface="+mn-cs"/>
              </a:rPr>
              <a:t>、主的医治是完全的</a:t>
            </a:r>
          </a:p>
          <a:p>
            <a:r>
              <a:rPr lang="zh-CN" altLang="zh-CN" sz="1200" kern="1200" dirty="0">
                <a:solidFill>
                  <a:schemeClr val="tx1"/>
                </a:solidFill>
                <a:effectLst/>
                <a:latin typeface="+mn-lt"/>
                <a:ea typeface="+mn-ea"/>
                <a:cs typeface="+mn-cs"/>
              </a:rPr>
              <a:t>经文</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节“那人立刻痊愈，就拿起褥子来走了”，这是让其他的人看到瘫子的医治是完全的医治，完全的神迹，不是慢慢的渐进的医治，是向在场的所有人显明耶稣医治的大能。并且这个医治是立刻和彻底的医治，没有任何遗漏的医治，联系到后面的经文，我们可以知道当时是安息日，所有的人会更留意这个医治的神迹，就会自然的传讲这个神迹，从而让耶稣的名得着更大的传播。同时耶稣这样做见证，也是对旧约滥用安息日律法的一个反对，他是安息日的主，他按照自己的权柄和计划来行做万事。同样他有权柄在安息日医治一个三十八年的瘫子，从而让这个瘫子在安息日得到真正的安息。</a:t>
            </a:r>
          </a:p>
          <a:p>
            <a:r>
              <a:rPr lang="zh-CN" altLang="zh-CN" sz="1200" kern="1200" dirty="0">
                <a:solidFill>
                  <a:schemeClr val="tx1"/>
                </a:solidFill>
                <a:effectLst/>
                <a:latin typeface="+mn-lt"/>
                <a:ea typeface="+mn-ea"/>
                <a:cs typeface="+mn-cs"/>
              </a:rPr>
              <a:t>同样，联系到我们自身，我们在未信主的时候，我们被这个世界所辖制，当我们接受福音成为神的儿女之后，我们是否被神的话语完全的医治，主的医治在我们身上是否是真实有效还是仅仅是外在的表现？我们的内心有没有真正被主所医治？我们是否相信神的能力是完全的，他不光能医治我们身体的疾病，更能医治我们内心的疾病，而且祂的医治是完全彻底的。如果我们相信主的医治是完全的，我们就当坦然无惧且生活在平安和喜乐和满心盼望中。我们相信神的应许和大能，我们相信祂在创世之初就拣选我们成为祂的儿女且用不失落，我们相信祂大能的保守和看顾，我们相信无论我们经历什么，罗马书</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章中说“谁能使我们与基督的爱隔绝呢？难道是患难吗？是困苦吗？是逼迫吗？是饥饿吗？是赤身露体吗？是危险吗？是刀剑吗？。。。然而，靠着爱我们的主，在这一切的事上已经得胜有余了。因为我深信无论是死，是生，是天使，是掌权的，是有能的，是现在的事，是将来的事，是高处的，是低处的，是别的受造之物，都不能叫我们与神的爱隔绝；这爱是在我们的主基督耶稣里的。”惟愿我们能借着这段经文求神帮助我们，让我们在各样的环境中以荣耀神以神为乐为我们的人生目的。不惧怕，不气馁，不骄傲，不灰心，以弗所书</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章“倚赖他的大能大力，作刚强的人。要穿戴神所赐的全副军装。”</a:t>
            </a:r>
          </a:p>
          <a:p>
            <a:r>
              <a:rPr lang="zh-CN" altLang="zh-CN" sz="1200" kern="1200" dirty="0">
                <a:solidFill>
                  <a:schemeClr val="tx1"/>
                </a:solidFill>
                <a:effectLst/>
                <a:latin typeface="+mn-lt"/>
                <a:ea typeface="+mn-ea"/>
                <a:cs typeface="+mn-cs"/>
              </a:rPr>
              <a:t>我们以前可能没有盼望，信主后，我们有了切实的盼望，并且知道我们的盼望是真实有效的并且会与我们每天同在。</a:t>
            </a:r>
          </a:p>
          <a:p>
            <a:r>
              <a:rPr lang="zh-CN" altLang="zh-CN" sz="1200" kern="1200" dirty="0">
                <a:solidFill>
                  <a:schemeClr val="tx1"/>
                </a:solidFill>
                <a:effectLst/>
                <a:latin typeface="+mn-lt"/>
                <a:ea typeface="+mn-ea"/>
                <a:cs typeface="+mn-cs"/>
              </a:rPr>
              <a:t>惟愿神赐给我们真实的智慧和知识，让我们能再次从这段经文中，我们学习到，基督是人盼望的主，基督是主动医治人的主，基督的医治是完全的主。阿门。</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5</a:t>
            </a:fld>
            <a:endParaRPr lang="zh-CN" altLang="en-US"/>
          </a:p>
        </p:txBody>
      </p:sp>
    </p:spTree>
    <p:extLst>
      <p:ext uri="{BB962C8B-B14F-4D97-AF65-F5344CB8AC3E}">
        <p14:creationId xmlns:p14="http://schemas.microsoft.com/office/powerpoint/2010/main" val="508129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37E4E65-8D8F-4C44-BEBF-DBC49233F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C4017DF-A48A-431C-B0D6-691FA87AA5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sz="1200" kern="1200" dirty="0">
                <a:solidFill>
                  <a:schemeClr val="tx1"/>
                </a:solidFill>
                <a:effectLst/>
                <a:latin typeface="+mn-lt"/>
                <a:ea typeface="+mn-ea"/>
                <a:cs typeface="+mn-cs"/>
              </a:rPr>
              <a:t>基督是我们生命真实的盼望吗（是：具体表现）？</a:t>
            </a:r>
          </a:p>
          <a:p>
            <a:r>
              <a:rPr lang="zh-CN" altLang="zh-CN" sz="1200" kern="1200" dirty="0">
                <a:solidFill>
                  <a:schemeClr val="tx1"/>
                </a:solidFill>
                <a:effectLst/>
                <a:latin typeface="+mn-lt"/>
                <a:ea typeface="+mn-ea"/>
                <a:cs typeface="+mn-cs"/>
              </a:rPr>
              <a:t>我们是否已经被基督真实医治（是：具体改变）？</a:t>
            </a:r>
          </a:p>
          <a:p>
            <a:r>
              <a:rPr lang="zh-CN" altLang="zh-CN" sz="1200" kern="1200" dirty="0">
                <a:solidFill>
                  <a:schemeClr val="tx1"/>
                </a:solidFill>
                <a:effectLst/>
                <a:latin typeface="+mn-lt"/>
                <a:ea typeface="+mn-ea"/>
                <a:cs typeface="+mn-cs"/>
              </a:rPr>
              <a:t>备注：</a:t>
            </a:r>
          </a:p>
          <a:p>
            <a:pPr lvl="0"/>
            <a:r>
              <a:rPr lang="zh-CN" altLang="zh-CN" sz="1200" kern="1200" dirty="0">
                <a:solidFill>
                  <a:schemeClr val="tx1"/>
                </a:solidFill>
                <a:effectLst/>
                <a:latin typeface="+mn-lt"/>
                <a:ea typeface="+mn-ea"/>
                <a:cs typeface="+mn-cs"/>
              </a:rPr>
              <a:t>现代的医疗不能成为我们被医治的指望，但是神也借着现代的医疗技术和医生来医治我们的身体疾病。所以基督徒不应该消极或者逃避治疗，相反，而应该积极配合医生的治疗。神凭借祂的主权，可以用神迹来医治我们的疾病，也可以采用常规医生来医治我们，不论哪种方式都应该感恩。但是肯定不会采用交鬼或者异教假神来医治我们。</a:t>
            </a:r>
          </a:p>
          <a:p>
            <a:pPr eaLnBrk="1" hangingPunct="1">
              <a:spcBef>
                <a:spcPct val="0"/>
              </a:spcBef>
            </a:pPr>
            <a:endParaRPr lang="en-US" altLang="zh-CN" dirty="0"/>
          </a:p>
        </p:txBody>
      </p:sp>
      <p:sp>
        <p:nvSpPr>
          <p:cNvPr id="6148" name="灯片编号占位符 3">
            <a:extLst>
              <a:ext uri="{FF2B5EF4-FFF2-40B4-BE49-F238E27FC236}">
                <a16:creationId xmlns:a16="http://schemas.microsoft.com/office/drawing/2014/main" id="{D935BC87-345A-4E3F-B27F-B29D40378B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5D4740-1AEA-4F48-AF32-5F9C07875C79}" type="slidenum">
              <a:rPr lang="zh-CN" altLang="en-US" smtClean="0"/>
              <a:pPr/>
              <a:t>6</a:t>
            </a:fld>
            <a:endParaRPr lang="zh-CN" altLang="en-US"/>
          </a:p>
        </p:txBody>
      </p:sp>
    </p:spTree>
    <p:extLst>
      <p:ext uri="{BB962C8B-B14F-4D97-AF65-F5344CB8AC3E}">
        <p14:creationId xmlns:p14="http://schemas.microsoft.com/office/powerpoint/2010/main" val="591398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15F2983B-D420-4632-8957-D097E0831B1C}"/>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0EC511B7-02F2-47CA-9584-06EE5B5A7AFC}"/>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7C4A4387-CACF-4109-926C-A66A58C99899}"/>
              </a:ext>
            </a:extLst>
          </p:cNvPr>
          <p:cNvSpPr>
            <a:spLocks noGrp="1" noChangeArrowheads="1"/>
          </p:cNvSpPr>
          <p:nvPr>
            <p:ph type="sldNum" sz="quarter" idx="12"/>
          </p:nvPr>
        </p:nvSpPr>
        <p:spPr>
          <a:ln/>
        </p:spPr>
        <p:txBody>
          <a:bodyPr/>
          <a:lstStyle>
            <a:lvl1pPr>
              <a:defRPr/>
            </a:lvl1pPr>
          </a:lstStyle>
          <a:p>
            <a:pPr>
              <a:defRPr/>
            </a:pPr>
            <a:fld id="{78488E35-BAE7-45D4-BD06-7FC34383A799}" type="slidenum">
              <a:rPr lang="es-ES" altLang="zh-CN"/>
              <a:pPr>
                <a:defRPr/>
              </a:pPr>
              <a:t>‹#›</a:t>
            </a:fld>
            <a:endParaRPr lang="es-ES" altLang="zh-CN"/>
          </a:p>
        </p:txBody>
      </p:sp>
    </p:spTree>
    <p:extLst>
      <p:ext uri="{BB962C8B-B14F-4D97-AF65-F5344CB8AC3E}">
        <p14:creationId xmlns:p14="http://schemas.microsoft.com/office/powerpoint/2010/main" val="493673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1938"/>
            <a:ext cx="8229600" cy="1143000"/>
          </a:xfrm>
        </p:spPr>
        <p:txBody>
          <a:bodyPr/>
          <a:lstStyle>
            <a:lvl1pPr>
              <a:defRPr>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solidFill>
                  <a:schemeClr val="bg1"/>
                </a:solidFill>
                <a:latin typeface="微软雅黑" panose="020B0503020204020204" pitchFamily="34" charset="-122"/>
                <a:ea typeface="微软雅黑" panose="020B0503020204020204" pitchFamily="34" charset="-122"/>
              </a:defRPr>
            </a:lvl1pPr>
            <a:lvl2pPr>
              <a:defRPr>
                <a:solidFill>
                  <a:schemeClr val="bg1"/>
                </a:solidFill>
                <a:latin typeface="微软雅黑" panose="020B0503020204020204" pitchFamily="34" charset="-122"/>
                <a:ea typeface="微软雅黑" panose="020B0503020204020204" pitchFamily="34" charset="-122"/>
              </a:defRPr>
            </a:lvl2pPr>
            <a:lvl3pPr>
              <a:defRPr>
                <a:solidFill>
                  <a:schemeClr val="bg1"/>
                </a:solidFill>
                <a:latin typeface="微软雅黑" panose="020B0503020204020204" pitchFamily="34" charset="-122"/>
                <a:ea typeface="微软雅黑" panose="020B0503020204020204" pitchFamily="34" charset="-122"/>
              </a:defRPr>
            </a:lvl3pPr>
            <a:lvl4pPr>
              <a:defRPr>
                <a:solidFill>
                  <a:schemeClr val="bg1"/>
                </a:solidFill>
                <a:latin typeface="微软雅黑" panose="020B0503020204020204" pitchFamily="34" charset="-122"/>
                <a:ea typeface="微软雅黑" panose="020B0503020204020204" pitchFamily="34" charset="-122"/>
              </a:defRPr>
            </a:lvl4pPr>
            <a:lvl5pPr>
              <a:defRPr>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3F31DBBB-1397-49C2-BFDB-19E2BBD6CB56}"/>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42535772-B1A0-41CC-A2B4-84BE1ADAB68F}"/>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002CFD53-CF8B-4B2A-9BDD-68139D201822}"/>
              </a:ext>
            </a:extLst>
          </p:cNvPr>
          <p:cNvSpPr>
            <a:spLocks noGrp="1" noChangeArrowheads="1"/>
          </p:cNvSpPr>
          <p:nvPr>
            <p:ph type="sldNum" sz="quarter" idx="12"/>
          </p:nvPr>
        </p:nvSpPr>
        <p:spPr>
          <a:ln/>
        </p:spPr>
        <p:txBody>
          <a:bodyPr/>
          <a:lstStyle>
            <a:lvl1pPr>
              <a:defRPr/>
            </a:lvl1pPr>
          </a:lstStyle>
          <a:p>
            <a:pPr>
              <a:defRPr/>
            </a:pPr>
            <a:fld id="{1CD78F9C-AB71-4B0C-AA10-B844AADCEB42}" type="slidenum">
              <a:rPr lang="es-ES" altLang="zh-CN"/>
              <a:pPr>
                <a:defRPr/>
              </a:pPr>
              <a:t>‹#›</a:t>
            </a:fld>
            <a:endParaRPr lang="es-ES" altLang="zh-CN"/>
          </a:p>
        </p:txBody>
      </p:sp>
    </p:spTree>
    <p:extLst>
      <p:ext uri="{BB962C8B-B14F-4D97-AF65-F5344CB8AC3E}">
        <p14:creationId xmlns:p14="http://schemas.microsoft.com/office/powerpoint/2010/main" val="3241204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atin typeface="+mn-ea"/>
                <a:ea typeface="+mn-ea"/>
              </a:defRPr>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单击此处编辑母版文本样式</a:t>
            </a:r>
          </a:p>
        </p:txBody>
      </p:sp>
      <p:sp>
        <p:nvSpPr>
          <p:cNvPr id="4" name="Rectangle 4">
            <a:extLst>
              <a:ext uri="{FF2B5EF4-FFF2-40B4-BE49-F238E27FC236}">
                <a16:creationId xmlns:a16="http://schemas.microsoft.com/office/drawing/2014/main" id="{9F41CD45-CF44-4D8E-806C-21CD179D99C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9F9C0A1B-A467-49D9-A8A3-6A6F9CAC3C2E}"/>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21B35E12-403C-46AC-9BC2-64EF81D7AE5B}"/>
              </a:ext>
            </a:extLst>
          </p:cNvPr>
          <p:cNvSpPr>
            <a:spLocks noGrp="1" noChangeArrowheads="1"/>
          </p:cNvSpPr>
          <p:nvPr>
            <p:ph type="sldNum" sz="quarter" idx="12"/>
          </p:nvPr>
        </p:nvSpPr>
        <p:spPr>
          <a:ln/>
        </p:spPr>
        <p:txBody>
          <a:bodyPr/>
          <a:lstStyle>
            <a:lvl1pPr>
              <a:defRPr/>
            </a:lvl1pPr>
          </a:lstStyle>
          <a:p>
            <a:pPr>
              <a:defRPr/>
            </a:pPr>
            <a:fld id="{052D12B0-91D6-4193-92AD-67CB04DF2432}" type="slidenum">
              <a:rPr lang="es-ES" altLang="zh-CN"/>
              <a:pPr>
                <a:defRPr/>
              </a:pPr>
              <a:t>‹#›</a:t>
            </a:fld>
            <a:endParaRPr lang="es-ES" altLang="zh-CN"/>
          </a:p>
        </p:txBody>
      </p:sp>
    </p:spTree>
    <p:extLst>
      <p:ext uri="{BB962C8B-B14F-4D97-AF65-F5344CB8AC3E}">
        <p14:creationId xmlns:p14="http://schemas.microsoft.com/office/powerpoint/2010/main" val="3107802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A51105F-87CB-4064-877E-5230DED796B4}"/>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F3DD6787-9F21-4353-BAE7-560A8D1D366E}"/>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427353BA-8F27-4D6C-AD50-B6EB475ED99F}"/>
              </a:ext>
            </a:extLst>
          </p:cNvPr>
          <p:cNvSpPr>
            <a:spLocks noGrp="1" noChangeArrowheads="1"/>
          </p:cNvSpPr>
          <p:nvPr>
            <p:ph type="sldNum" sz="quarter" idx="12"/>
          </p:nvPr>
        </p:nvSpPr>
        <p:spPr>
          <a:ln/>
        </p:spPr>
        <p:txBody>
          <a:bodyPr/>
          <a:lstStyle>
            <a:lvl1pPr>
              <a:defRPr/>
            </a:lvl1pPr>
          </a:lstStyle>
          <a:p>
            <a:pPr>
              <a:defRPr/>
            </a:pPr>
            <a:fld id="{F7CA7591-EAEA-426F-A6CF-9BF515447587}" type="slidenum">
              <a:rPr lang="es-ES" altLang="zh-CN"/>
              <a:pPr>
                <a:defRPr/>
              </a:pPr>
              <a:t>‹#›</a:t>
            </a:fld>
            <a:endParaRPr lang="es-ES" altLang="zh-CN"/>
          </a:p>
        </p:txBody>
      </p:sp>
    </p:spTree>
    <p:extLst>
      <p:ext uri="{BB962C8B-B14F-4D97-AF65-F5344CB8AC3E}">
        <p14:creationId xmlns:p14="http://schemas.microsoft.com/office/powerpoint/2010/main" val="1097497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54C4882-4030-4551-AF2A-604B13C147E6}"/>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8" name="Rectangle 5">
            <a:extLst>
              <a:ext uri="{FF2B5EF4-FFF2-40B4-BE49-F238E27FC236}">
                <a16:creationId xmlns:a16="http://schemas.microsoft.com/office/drawing/2014/main" id="{005574A5-382E-4CDB-BF34-04C7C8D1D24A}"/>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9" name="Rectangle 6">
            <a:extLst>
              <a:ext uri="{FF2B5EF4-FFF2-40B4-BE49-F238E27FC236}">
                <a16:creationId xmlns:a16="http://schemas.microsoft.com/office/drawing/2014/main" id="{0B5DCB6A-E20F-482F-98C2-BEF1CF7CC890}"/>
              </a:ext>
            </a:extLst>
          </p:cNvPr>
          <p:cNvSpPr>
            <a:spLocks noGrp="1" noChangeArrowheads="1"/>
          </p:cNvSpPr>
          <p:nvPr>
            <p:ph type="sldNum" sz="quarter" idx="12"/>
          </p:nvPr>
        </p:nvSpPr>
        <p:spPr>
          <a:ln/>
        </p:spPr>
        <p:txBody>
          <a:bodyPr/>
          <a:lstStyle>
            <a:lvl1pPr>
              <a:defRPr/>
            </a:lvl1pPr>
          </a:lstStyle>
          <a:p>
            <a:pPr>
              <a:defRPr/>
            </a:pPr>
            <a:fld id="{9D3EA9D3-1937-4284-A088-A09838326C94}" type="slidenum">
              <a:rPr lang="es-ES" altLang="zh-CN"/>
              <a:pPr>
                <a:defRPr/>
              </a:pPr>
              <a:t>‹#›</a:t>
            </a:fld>
            <a:endParaRPr lang="es-ES" altLang="zh-CN"/>
          </a:p>
        </p:txBody>
      </p:sp>
    </p:spTree>
    <p:extLst>
      <p:ext uri="{BB962C8B-B14F-4D97-AF65-F5344CB8AC3E}">
        <p14:creationId xmlns:p14="http://schemas.microsoft.com/office/powerpoint/2010/main" val="294533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B16D69BB-90D9-4D6E-9AD4-811AB804D37E}"/>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4" name="Rectangle 5">
            <a:extLst>
              <a:ext uri="{FF2B5EF4-FFF2-40B4-BE49-F238E27FC236}">
                <a16:creationId xmlns:a16="http://schemas.microsoft.com/office/drawing/2014/main" id="{1B29C593-DD8D-4D80-8DEA-E1AC9CE86416}"/>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5" name="Rectangle 6">
            <a:extLst>
              <a:ext uri="{FF2B5EF4-FFF2-40B4-BE49-F238E27FC236}">
                <a16:creationId xmlns:a16="http://schemas.microsoft.com/office/drawing/2014/main" id="{B24C40ED-72EF-41C5-9CE4-35B94B8CEBE1}"/>
              </a:ext>
            </a:extLst>
          </p:cNvPr>
          <p:cNvSpPr>
            <a:spLocks noGrp="1" noChangeArrowheads="1"/>
          </p:cNvSpPr>
          <p:nvPr>
            <p:ph type="sldNum" sz="quarter" idx="12"/>
          </p:nvPr>
        </p:nvSpPr>
        <p:spPr>
          <a:ln/>
        </p:spPr>
        <p:txBody>
          <a:bodyPr/>
          <a:lstStyle>
            <a:lvl1pPr>
              <a:defRPr/>
            </a:lvl1pPr>
          </a:lstStyle>
          <a:p>
            <a:pPr>
              <a:defRPr/>
            </a:pPr>
            <a:fld id="{CB24F1E1-55F5-4A59-AEE6-5BEEFA3D3611}" type="slidenum">
              <a:rPr lang="es-ES" altLang="zh-CN"/>
              <a:pPr>
                <a:defRPr/>
              </a:pPr>
              <a:t>‹#›</a:t>
            </a:fld>
            <a:endParaRPr lang="es-ES" altLang="zh-CN"/>
          </a:p>
        </p:txBody>
      </p:sp>
    </p:spTree>
    <p:extLst>
      <p:ext uri="{BB962C8B-B14F-4D97-AF65-F5344CB8AC3E}">
        <p14:creationId xmlns:p14="http://schemas.microsoft.com/office/powerpoint/2010/main" val="1405885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B529430-00AB-4612-B492-F6FDB811182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3" name="Rectangle 5">
            <a:extLst>
              <a:ext uri="{FF2B5EF4-FFF2-40B4-BE49-F238E27FC236}">
                <a16:creationId xmlns:a16="http://schemas.microsoft.com/office/drawing/2014/main" id="{EAF8F7E6-1245-4F85-8FB1-7C120AE4508B}"/>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4" name="Rectangle 6">
            <a:extLst>
              <a:ext uri="{FF2B5EF4-FFF2-40B4-BE49-F238E27FC236}">
                <a16:creationId xmlns:a16="http://schemas.microsoft.com/office/drawing/2014/main" id="{62E633C2-7DB4-432C-B810-1C33BDFBC069}"/>
              </a:ext>
            </a:extLst>
          </p:cNvPr>
          <p:cNvSpPr>
            <a:spLocks noGrp="1" noChangeArrowheads="1"/>
          </p:cNvSpPr>
          <p:nvPr>
            <p:ph type="sldNum" sz="quarter" idx="12"/>
          </p:nvPr>
        </p:nvSpPr>
        <p:spPr>
          <a:ln/>
        </p:spPr>
        <p:txBody>
          <a:bodyPr/>
          <a:lstStyle>
            <a:lvl1pPr>
              <a:defRPr/>
            </a:lvl1pPr>
          </a:lstStyle>
          <a:p>
            <a:pPr>
              <a:defRPr/>
            </a:pPr>
            <a:fld id="{B0E49A2C-9CD2-4C7A-A1D2-3CBD16CC691A}" type="slidenum">
              <a:rPr lang="es-ES" altLang="zh-CN"/>
              <a:pPr>
                <a:defRPr/>
              </a:pPr>
              <a:t>‹#›</a:t>
            </a:fld>
            <a:endParaRPr lang="es-ES" altLang="zh-CN"/>
          </a:p>
        </p:txBody>
      </p:sp>
    </p:spTree>
    <p:extLst>
      <p:ext uri="{BB962C8B-B14F-4D97-AF65-F5344CB8AC3E}">
        <p14:creationId xmlns:p14="http://schemas.microsoft.com/office/powerpoint/2010/main" val="278803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1CE38FA-AC78-43F9-874C-7F9362FA348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83E51434-F35A-47E4-9D77-3DEFC4B1AB68}"/>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11ED52B8-170D-446B-A0CA-86B3BF84B474}"/>
              </a:ext>
            </a:extLst>
          </p:cNvPr>
          <p:cNvSpPr>
            <a:spLocks noGrp="1" noChangeArrowheads="1"/>
          </p:cNvSpPr>
          <p:nvPr>
            <p:ph type="sldNum" sz="quarter" idx="12"/>
          </p:nvPr>
        </p:nvSpPr>
        <p:spPr>
          <a:ln/>
        </p:spPr>
        <p:txBody>
          <a:bodyPr/>
          <a:lstStyle>
            <a:lvl1pPr>
              <a:defRPr/>
            </a:lvl1pPr>
          </a:lstStyle>
          <a:p>
            <a:pPr>
              <a:defRPr/>
            </a:pPr>
            <a:fld id="{8B17A878-4AB6-4221-93ED-128AB758D1C2}" type="slidenum">
              <a:rPr lang="es-ES" altLang="zh-CN"/>
              <a:pPr>
                <a:defRPr/>
              </a:pPr>
              <a:t>‹#›</a:t>
            </a:fld>
            <a:endParaRPr lang="es-ES" altLang="zh-CN"/>
          </a:p>
        </p:txBody>
      </p:sp>
    </p:spTree>
    <p:extLst>
      <p:ext uri="{BB962C8B-B14F-4D97-AF65-F5344CB8AC3E}">
        <p14:creationId xmlns:p14="http://schemas.microsoft.com/office/powerpoint/2010/main" val="1404719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1A3E51F-5DA1-4810-B799-081B9080CF32}"/>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6" name="Rectangle 5">
            <a:extLst>
              <a:ext uri="{FF2B5EF4-FFF2-40B4-BE49-F238E27FC236}">
                <a16:creationId xmlns:a16="http://schemas.microsoft.com/office/drawing/2014/main" id="{811843C6-6CB6-47B7-BC82-8DCE9897628C}"/>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7" name="Rectangle 6">
            <a:extLst>
              <a:ext uri="{FF2B5EF4-FFF2-40B4-BE49-F238E27FC236}">
                <a16:creationId xmlns:a16="http://schemas.microsoft.com/office/drawing/2014/main" id="{093C44D6-AA9E-4140-A152-867869D32815}"/>
              </a:ext>
            </a:extLst>
          </p:cNvPr>
          <p:cNvSpPr>
            <a:spLocks noGrp="1" noChangeArrowheads="1"/>
          </p:cNvSpPr>
          <p:nvPr>
            <p:ph type="sldNum" sz="quarter" idx="12"/>
          </p:nvPr>
        </p:nvSpPr>
        <p:spPr>
          <a:ln/>
        </p:spPr>
        <p:txBody>
          <a:bodyPr/>
          <a:lstStyle>
            <a:lvl1pPr>
              <a:defRPr/>
            </a:lvl1pPr>
          </a:lstStyle>
          <a:p>
            <a:pPr>
              <a:defRPr/>
            </a:pPr>
            <a:fld id="{5FCB7166-2AE7-430A-B399-B7645AF39F4E}" type="slidenum">
              <a:rPr lang="es-ES" altLang="zh-CN"/>
              <a:pPr>
                <a:defRPr/>
              </a:pPr>
              <a:t>‹#›</a:t>
            </a:fld>
            <a:endParaRPr lang="es-ES" altLang="zh-CN"/>
          </a:p>
        </p:txBody>
      </p:sp>
    </p:spTree>
    <p:extLst>
      <p:ext uri="{BB962C8B-B14F-4D97-AF65-F5344CB8AC3E}">
        <p14:creationId xmlns:p14="http://schemas.microsoft.com/office/powerpoint/2010/main" val="1315070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EA74BCC-44DF-4398-A140-708FD8DD41EB}"/>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E750864B-CBA7-47D3-9545-AC9AF7C7AD28}"/>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EE7E91F5-09AC-4851-98A0-DD2A5F51539F}"/>
              </a:ext>
            </a:extLst>
          </p:cNvPr>
          <p:cNvSpPr>
            <a:spLocks noGrp="1" noChangeArrowheads="1"/>
          </p:cNvSpPr>
          <p:nvPr>
            <p:ph type="sldNum" sz="quarter" idx="12"/>
          </p:nvPr>
        </p:nvSpPr>
        <p:spPr>
          <a:ln/>
        </p:spPr>
        <p:txBody>
          <a:bodyPr/>
          <a:lstStyle>
            <a:lvl1pPr>
              <a:defRPr/>
            </a:lvl1pPr>
          </a:lstStyle>
          <a:p>
            <a:pPr>
              <a:defRPr/>
            </a:pPr>
            <a:fld id="{6BA5C569-D32D-4EC6-BB87-AB8D60CE8C7A}" type="slidenum">
              <a:rPr lang="es-ES" altLang="zh-CN"/>
              <a:pPr>
                <a:defRPr/>
              </a:pPr>
              <a:t>‹#›</a:t>
            </a:fld>
            <a:endParaRPr lang="es-ES" altLang="zh-CN"/>
          </a:p>
        </p:txBody>
      </p:sp>
    </p:spTree>
    <p:extLst>
      <p:ext uri="{BB962C8B-B14F-4D97-AF65-F5344CB8AC3E}">
        <p14:creationId xmlns:p14="http://schemas.microsoft.com/office/powerpoint/2010/main" val="1859817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980A6AD-9844-47EC-B114-E7C47A9539CA}"/>
              </a:ext>
            </a:extLst>
          </p:cNvPr>
          <p:cNvSpPr>
            <a:spLocks noGrp="1" noChangeArrowheads="1"/>
          </p:cNvSpPr>
          <p:nvPr>
            <p:ph type="dt" sz="half" idx="10"/>
          </p:nvPr>
        </p:nvSpPr>
        <p:spPr>
          <a:ln/>
        </p:spPr>
        <p:txBody>
          <a:bodyPr/>
          <a:lstStyle>
            <a:lvl1pPr>
              <a:defRPr/>
            </a:lvl1pPr>
          </a:lstStyle>
          <a:p>
            <a:pPr>
              <a:defRPr/>
            </a:pPr>
            <a:endParaRPr lang="es-ES" altLang="zh-CN"/>
          </a:p>
        </p:txBody>
      </p:sp>
      <p:sp>
        <p:nvSpPr>
          <p:cNvPr id="5" name="Rectangle 5">
            <a:extLst>
              <a:ext uri="{FF2B5EF4-FFF2-40B4-BE49-F238E27FC236}">
                <a16:creationId xmlns:a16="http://schemas.microsoft.com/office/drawing/2014/main" id="{AA454E40-DAC4-490A-96CF-1F552658F5B9}"/>
              </a:ext>
            </a:extLst>
          </p:cNvPr>
          <p:cNvSpPr>
            <a:spLocks noGrp="1" noChangeArrowheads="1"/>
          </p:cNvSpPr>
          <p:nvPr>
            <p:ph type="ftr" sz="quarter" idx="11"/>
          </p:nvPr>
        </p:nvSpPr>
        <p:spPr>
          <a:ln/>
        </p:spPr>
        <p:txBody>
          <a:bodyPr/>
          <a:lstStyle>
            <a:lvl1pPr>
              <a:defRPr/>
            </a:lvl1pPr>
          </a:lstStyle>
          <a:p>
            <a:pPr>
              <a:defRPr/>
            </a:pPr>
            <a:endParaRPr lang="es-ES" altLang="zh-CN"/>
          </a:p>
        </p:txBody>
      </p:sp>
      <p:sp>
        <p:nvSpPr>
          <p:cNvPr id="6" name="Rectangle 6">
            <a:extLst>
              <a:ext uri="{FF2B5EF4-FFF2-40B4-BE49-F238E27FC236}">
                <a16:creationId xmlns:a16="http://schemas.microsoft.com/office/drawing/2014/main" id="{699E1111-0B21-4BC4-A4B1-0CBB65C101B7}"/>
              </a:ext>
            </a:extLst>
          </p:cNvPr>
          <p:cNvSpPr>
            <a:spLocks noGrp="1" noChangeArrowheads="1"/>
          </p:cNvSpPr>
          <p:nvPr>
            <p:ph type="sldNum" sz="quarter" idx="12"/>
          </p:nvPr>
        </p:nvSpPr>
        <p:spPr>
          <a:ln/>
        </p:spPr>
        <p:txBody>
          <a:bodyPr/>
          <a:lstStyle>
            <a:lvl1pPr>
              <a:defRPr/>
            </a:lvl1pPr>
          </a:lstStyle>
          <a:p>
            <a:pPr>
              <a:defRPr/>
            </a:pPr>
            <a:fld id="{A0D8CAEE-F9F5-4642-8844-7AE539B10E19}" type="slidenum">
              <a:rPr lang="es-ES" altLang="zh-CN"/>
              <a:pPr>
                <a:defRPr/>
              </a:pPr>
              <a:t>‹#›</a:t>
            </a:fld>
            <a:endParaRPr lang="es-ES" altLang="zh-CN"/>
          </a:p>
        </p:txBody>
      </p:sp>
    </p:spTree>
    <p:extLst>
      <p:ext uri="{BB962C8B-B14F-4D97-AF65-F5344CB8AC3E}">
        <p14:creationId xmlns:p14="http://schemas.microsoft.com/office/powerpoint/2010/main" val="84304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E9A0C65-DA14-42DE-8CF5-2E34EF89E738}"/>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zh-CN"/>
              <a:t>Haga clic para cambiar el estilo de título	</a:t>
            </a:r>
          </a:p>
        </p:txBody>
      </p:sp>
      <p:sp>
        <p:nvSpPr>
          <p:cNvPr id="1027" name="Rectangle 3">
            <a:extLst>
              <a:ext uri="{FF2B5EF4-FFF2-40B4-BE49-F238E27FC236}">
                <a16:creationId xmlns:a16="http://schemas.microsoft.com/office/drawing/2014/main" id="{D1348984-D2BD-4612-AFFE-42EA36E403CB}"/>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p>
        </p:txBody>
      </p:sp>
      <p:sp>
        <p:nvSpPr>
          <p:cNvPr id="1028" name="Rectangle 4">
            <a:extLst>
              <a:ext uri="{FF2B5EF4-FFF2-40B4-BE49-F238E27FC236}">
                <a16:creationId xmlns:a16="http://schemas.microsoft.com/office/drawing/2014/main" id="{F38C8325-8802-455C-BE1C-9A517A76FE95}"/>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ea typeface="宋体" panose="02010600030101010101" pitchFamily="2" charset="-122"/>
              </a:defRPr>
            </a:lvl1pPr>
          </a:lstStyle>
          <a:p>
            <a:pPr>
              <a:defRPr/>
            </a:pPr>
            <a:endParaRPr lang="es-ES" altLang="zh-CN"/>
          </a:p>
        </p:txBody>
      </p:sp>
      <p:sp>
        <p:nvSpPr>
          <p:cNvPr id="1029" name="Rectangle 5">
            <a:extLst>
              <a:ext uri="{FF2B5EF4-FFF2-40B4-BE49-F238E27FC236}">
                <a16:creationId xmlns:a16="http://schemas.microsoft.com/office/drawing/2014/main" id="{43BF34CE-0BAD-4827-90D2-59CE8EB7F881}"/>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anose="02010600030101010101" pitchFamily="2" charset="-122"/>
              </a:defRPr>
            </a:lvl1pPr>
          </a:lstStyle>
          <a:p>
            <a:pPr>
              <a:defRPr/>
            </a:pPr>
            <a:endParaRPr lang="es-ES" altLang="zh-CN"/>
          </a:p>
        </p:txBody>
      </p:sp>
      <p:sp>
        <p:nvSpPr>
          <p:cNvPr id="1030" name="Rectangle 6">
            <a:extLst>
              <a:ext uri="{FF2B5EF4-FFF2-40B4-BE49-F238E27FC236}">
                <a16:creationId xmlns:a16="http://schemas.microsoft.com/office/drawing/2014/main" id="{222AFF9A-3FF3-4879-AD35-1F594C0F438C}"/>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ea typeface="宋体" panose="02010600030101010101" pitchFamily="2" charset="-122"/>
              </a:defRPr>
            </a:lvl1pPr>
          </a:lstStyle>
          <a:p>
            <a:pPr>
              <a:defRPr/>
            </a:pPr>
            <a:fld id="{2C15FD87-5F71-4162-BE04-E7686FCB5F56}" type="slidenum">
              <a:rPr lang="es-ES" altLang="zh-CN"/>
              <a:pPr>
                <a:defRPr/>
              </a:pPr>
              <a:t>‹#›</a:t>
            </a:fld>
            <a:endParaRPr lang="es-E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Trebuchet MS" panose="020B0603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170" name="Rectangle 10">
            <a:extLst>
              <a:ext uri="{FF2B5EF4-FFF2-40B4-BE49-F238E27FC236}">
                <a16:creationId xmlns:a16="http://schemas.microsoft.com/office/drawing/2014/main" id="{C38FCE21-CC3E-4C81-B95A-118DE7524B3B}"/>
              </a:ext>
            </a:extLst>
          </p:cNvPr>
          <p:cNvSpPr>
            <a:spLocks noGrp="1" noChangeArrowheads="1"/>
          </p:cNvSpPr>
          <p:nvPr>
            <p:ph type="subTitle" idx="1"/>
          </p:nvPr>
        </p:nvSpPr>
        <p:spPr>
          <a:xfrm>
            <a:off x="1484313" y="3189288"/>
            <a:ext cx="6400800" cy="1752600"/>
          </a:xfrm>
        </p:spPr>
        <p:txBody>
          <a:bodyPr anchor="ctr"/>
          <a:lstStyle/>
          <a:p>
            <a:pPr eaLnBrk="1" hangingPunct="1"/>
            <a:r>
              <a:rPr lang="zh-CN" altLang="en-US" sz="3200" dirty="0">
                <a:solidFill>
                  <a:srgbClr val="FF0000"/>
                </a:solidFill>
                <a:latin typeface="华文琥珀" panose="02010800040101010101" pitchFamily="2" charset="-122"/>
                <a:ea typeface="华文琥珀" panose="02010800040101010101" pitchFamily="2" charset="-122"/>
              </a:rPr>
              <a:t>基督的医治</a:t>
            </a:r>
            <a:endParaRPr lang="en-US" altLang="zh-CN" sz="3200" dirty="0">
              <a:solidFill>
                <a:srgbClr val="FF0000"/>
              </a:solidFill>
              <a:latin typeface="华文琥珀" panose="02010800040101010101" pitchFamily="2" charset="-122"/>
              <a:ea typeface="华文琥珀" panose="02010800040101010101" pitchFamily="2" charset="-122"/>
            </a:endParaRPr>
          </a:p>
          <a:p>
            <a:pPr eaLnBrk="1" hangingPunct="1"/>
            <a:r>
              <a:rPr lang="zh-CN" altLang="en-US" dirty="0">
                <a:latin typeface="华文琥珀" panose="02010800040101010101" pitchFamily="2" charset="-122"/>
                <a:ea typeface="华文琥珀" panose="02010800040101010101" pitchFamily="2" charset="-122"/>
              </a:rPr>
              <a:t>约翰福音</a:t>
            </a:r>
            <a:r>
              <a:rPr lang="en-US" altLang="zh-CN" dirty="0">
                <a:latin typeface="华文琥珀" panose="02010800040101010101" pitchFamily="2" charset="-122"/>
                <a:ea typeface="华文琥珀" panose="02010800040101010101" pitchFamily="2" charset="-122"/>
              </a:rPr>
              <a:t>5</a:t>
            </a:r>
            <a:r>
              <a:rPr lang="zh-CN" altLang="en-US" dirty="0">
                <a:latin typeface="华文琥珀" panose="02010800040101010101" pitchFamily="2" charset="-122"/>
                <a:ea typeface="华文琥珀" panose="02010800040101010101" pitchFamily="2" charset="-122"/>
              </a:rPr>
              <a:t>章</a:t>
            </a:r>
            <a:r>
              <a:rPr lang="en-US" altLang="zh-CN" dirty="0">
                <a:latin typeface="华文琥珀" panose="02010800040101010101" pitchFamily="2" charset="-122"/>
                <a:ea typeface="华文琥珀" panose="02010800040101010101" pitchFamily="2" charset="-122"/>
              </a:rPr>
              <a:t>1~9</a:t>
            </a:r>
            <a:r>
              <a:rPr lang="zh-CN" altLang="en-US" dirty="0">
                <a:latin typeface="华文琥珀" panose="02010800040101010101" pitchFamily="2" charset="-122"/>
                <a:ea typeface="华文琥珀" panose="02010800040101010101" pitchFamily="2" charset="-122"/>
              </a:rPr>
              <a:t>节</a:t>
            </a:r>
            <a:endParaRPr lang="en-US" altLang="zh-CN" dirty="0">
              <a:latin typeface="华文琥珀" panose="02010800040101010101" pitchFamily="2" charset="-122"/>
              <a:ea typeface="华文琥珀" panose="02010800040101010101" pitchFamily="2" charset="-122"/>
            </a:endParaRPr>
          </a:p>
          <a:p>
            <a:pPr eaLnBrk="1" hangingPunct="1"/>
            <a:r>
              <a:rPr lang="en-US" altLang="zh-CN" sz="1600" dirty="0">
                <a:latin typeface="华文琥珀" panose="02010800040101010101" pitchFamily="2" charset="-122"/>
                <a:ea typeface="华文琥珀" panose="02010800040101010101" pitchFamily="2" charset="-122"/>
              </a:rPr>
              <a:t>2018</a:t>
            </a:r>
            <a:r>
              <a:rPr lang="zh-CN" altLang="en-US" sz="1600" dirty="0">
                <a:latin typeface="华文琥珀" panose="02010800040101010101" pitchFamily="2" charset="-122"/>
                <a:ea typeface="华文琥珀" panose="02010800040101010101" pitchFamily="2" charset="-122"/>
              </a:rPr>
              <a:t>年</a:t>
            </a:r>
            <a:r>
              <a:rPr lang="en-US" altLang="zh-CN" sz="1600" dirty="0">
                <a:latin typeface="华文琥珀" panose="02010800040101010101" pitchFamily="2" charset="-122"/>
                <a:ea typeface="华文琥珀" panose="02010800040101010101" pitchFamily="2" charset="-122"/>
              </a:rPr>
              <a:t>9</a:t>
            </a:r>
            <a:r>
              <a:rPr lang="zh-CN" altLang="en-US" sz="1600" dirty="0">
                <a:latin typeface="华文琥珀" panose="02010800040101010101" pitchFamily="2" charset="-122"/>
                <a:ea typeface="华文琥珀" panose="02010800040101010101" pitchFamily="2" charset="-122"/>
              </a:rPr>
              <a:t>月</a:t>
            </a:r>
            <a:r>
              <a:rPr lang="en-US" altLang="zh-CN" sz="1600" dirty="0">
                <a:latin typeface="华文琥珀" panose="02010800040101010101" pitchFamily="2" charset="-122"/>
                <a:ea typeface="华文琥珀" panose="02010800040101010101" pitchFamily="2" charset="-122"/>
              </a:rPr>
              <a:t>30</a:t>
            </a:r>
            <a:r>
              <a:rPr lang="zh-CN" altLang="en-US" sz="1600" dirty="0">
                <a:latin typeface="华文琥珀" panose="02010800040101010101" pitchFamily="2" charset="-122"/>
                <a:ea typeface="华文琥珀" panose="02010800040101010101" pitchFamily="2" charset="-122"/>
              </a:rPr>
              <a:t>日</a:t>
            </a:r>
            <a:endParaRPr lang="en-US" altLang="zh-CN" sz="1600" dirty="0">
              <a:latin typeface="华文琥珀" panose="02010800040101010101" pitchFamily="2" charset="-122"/>
              <a:ea typeface="华文琥珀" panose="020108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algn="l"/>
            <a:r>
              <a:rPr lang="zh-CN" altLang="en-US" dirty="0"/>
              <a:t>经文：</a:t>
            </a:r>
            <a:r>
              <a:rPr lang="zh-CN" altLang="en-US" sz="1800" dirty="0"/>
              <a:t>约翰福音</a:t>
            </a:r>
            <a:r>
              <a:rPr lang="en-US" altLang="zh-CN" sz="1800" dirty="0"/>
              <a:t>5</a:t>
            </a:r>
            <a:r>
              <a:rPr lang="zh-CN" altLang="en-US" sz="1800" dirty="0"/>
              <a:t>章</a:t>
            </a:r>
            <a:r>
              <a:rPr lang="en-US" altLang="zh-CN" sz="1800" dirty="0"/>
              <a:t>1~9</a:t>
            </a:r>
            <a:r>
              <a:rPr lang="zh-CN" altLang="en-US" sz="1800" dirty="0"/>
              <a:t>节</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pPr marL="0" indent="0">
              <a:buNone/>
            </a:pPr>
            <a:r>
              <a:rPr lang="en-US" altLang="zh-CN" sz="2400" dirty="0"/>
              <a:t>1 </a:t>
            </a:r>
            <a:r>
              <a:rPr lang="zh-CN" altLang="zh-CN" sz="2400" dirty="0"/>
              <a:t>这事以后，到了犹太人的一个节期。耶稣就上耶路撒冷去。</a:t>
            </a:r>
            <a:r>
              <a:rPr lang="en-US" altLang="zh-CN" sz="2400" dirty="0"/>
              <a:t>2 </a:t>
            </a:r>
            <a:r>
              <a:rPr lang="zh-CN" altLang="zh-CN" sz="2400" dirty="0"/>
              <a:t>在耶路撒冷，靠近羊门有一个池子，希伯来话叫作毕士大，旁边有五个廊子。</a:t>
            </a:r>
            <a:r>
              <a:rPr lang="en-US" altLang="zh-CN" sz="2400" dirty="0"/>
              <a:t>3 </a:t>
            </a:r>
            <a:r>
              <a:rPr lang="zh-CN" altLang="zh-CN" sz="2400" dirty="0"/>
              <a:t>里面躺着瞎眼的、瘸腿的、血气枯干的许多</a:t>
            </a:r>
            <a:r>
              <a:rPr lang="zh-CN" altLang="zh-CN" sz="2400" b="1" dirty="0"/>
              <a:t>病人</a:t>
            </a:r>
            <a:r>
              <a:rPr lang="zh-CN" altLang="zh-CN" sz="2000" i="1" dirty="0"/>
              <a:t>（有古卷在此有</a:t>
            </a:r>
            <a:r>
              <a:rPr lang="en-US" altLang="zh-CN" sz="2000" i="1" dirty="0"/>
              <a:t>“</a:t>
            </a:r>
            <a:r>
              <a:rPr lang="zh-CN" altLang="zh-CN" sz="2000" i="1" dirty="0"/>
              <a:t>等候水动，</a:t>
            </a:r>
            <a:r>
              <a:rPr lang="en-US" altLang="zh-CN" sz="2000" i="1" dirty="0"/>
              <a:t>4</a:t>
            </a:r>
            <a:r>
              <a:rPr lang="zh-CN" altLang="zh-CN" sz="2000" i="1" dirty="0"/>
              <a:t>因为有天使按时下池子搅动那水，水动之后，谁先下去，无论害什么病就</a:t>
            </a:r>
            <a:r>
              <a:rPr lang="zh-CN" altLang="zh-CN" sz="2000" b="1" i="1" dirty="0"/>
              <a:t>痊愈</a:t>
            </a:r>
            <a:r>
              <a:rPr lang="zh-CN" altLang="zh-CN" sz="2000" i="1" dirty="0"/>
              <a:t>了</a:t>
            </a:r>
            <a:r>
              <a:rPr lang="en-US" altLang="zh-CN" sz="2000" i="1" dirty="0"/>
              <a:t>”</a:t>
            </a:r>
            <a:r>
              <a:rPr lang="zh-CN" altLang="zh-CN" sz="2000" i="1" dirty="0"/>
              <a:t>）</a:t>
            </a:r>
            <a:r>
              <a:rPr lang="zh-CN" altLang="zh-CN" sz="2400" dirty="0"/>
              <a:t>。</a:t>
            </a:r>
            <a:r>
              <a:rPr lang="en-US" altLang="zh-CN" sz="2400" dirty="0"/>
              <a:t>5 </a:t>
            </a:r>
            <a:r>
              <a:rPr lang="zh-CN" altLang="zh-CN" sz="2400" dirty="0"/>
              <a:t>在那里有一个人，</a:t>
            </a:r>
            <a:r>
              <a:rPr lang="zh-CN" altLang="zh-CN" sz="2400" b="1" dirty="0"/>
              <a:t>病了</a:t>
            </a:r>
            <a:r>
              <a:rPr lang="zh-CN" altLang="zh-CN" sz="2400" dirty="0"/>
              <a:t>三十八年。</a:t>
            </a:r>
            <a:r>
              <a:rPr lang="en-US" altLang="zh-CN" sz="2400" dirty="0"/>
              <a:t>6 </a:t>
            </a:r>
            <a:r>
              <a:rPr lang="zh-CN" altLang="zh-CN" sz="2400" dirty="0"/>
              <a:t>耶稣看见他躺着，知道他</a:t>
            </a:r>
            <a:r>
              <a:rPr lang="zh-CN" altLang="zh-CN" sz="2400" b="1" dirty="0"/>
              <a:t>病了</a:t>
            </a:r>
            <a:r>
              <a:rPr lang="zh-CN" altLang="zh-CN" sz="2400" dirty="0"/>
              <a:t>许久，就问他说：</a:t>
            </a:r>
            <a:r>
              <a:rPr lang="en-US" altLang="zh-CN" sz="2400" dirty="0"/>
              <a:t>“</a:t>
            </a:r>
            <a:r>
              <a:rPr lang="zh-CN" altLang="zh-CN" sz="2400" dirty="0">
                <a:solidFill>
                  <a:srgbClr val="FFC000"/>
                </a:solidFill>
              </a:rPr>
              <a:t>你要</a:t>
            </a:r>
            <a:r>
              <a:rPr lang="zh-CN" altLang="zh-CN" sz="2400" b="1" dirty="0">
                <a:solidFill>
                  <a:srgbClr val="FFC000"/>
                </a:solidFill>
              </a:rPr>
              <a:t>痊愈</a:t>
            </a:r>
            <a:r>
              <a:rPr lang="zh-CN" altLang="zh-CN" sz="2400" dirty="0">
                <a:solidFill>
                  <a:srgbClr val="FFC000"/>
                </a:solidFill>
              </a:rPr>
              <a:t>吗</a:t>
            </a:r>
            <a:r>
              <a:rPr lang="zh-CN" altLang="zh-CN" sz="2400" dirty="0"/>
              <a:t>？</a:t>
            </a:r>
            <a:r>
              <a:rPr lang="en-US" altLang="zh-CN" sz="2400" dirty="0"/>
              <a:t>”7 </a:t>
            </a:r>
            <a:r>
              <a:rPr lang="zh-CN" altLang="zh-CN" sz="2400" b="1" dirty="0"/>
              <a:t>病人</a:t>
            </a:r>
            <a:r>
              <a:rPr lang="zh-CN" altLang="zh-CN" sz="2400" dirty="0"/>
              <a:t>回答说：</a:t>
            </a:r>
            <a:r>
              <a:rPr lang="en-US" altLang="zh-CN" sz="2400" dirty="0"/>
              <a:t>“</a:t>
            </a:r>
            <a:r>
              <a:rPr lang="zh-CN" altLang="zh-CN" sz="2400" dirty="0">
                <a:solidFill>
                  <a:srgbClr val="C00000"/>
                </a:solidFill>
              </a:rPr>
              <a:t>先生，水动的时候，没有人把我放在池子里；我正去的时候，就有别人比我先下去</a:t>
            </a:r>
            <a:r>
              <a:rPr lang="zh-CN" altLang="zh-CN" sz="2400" dirty="0"/>
              <a:t>。</a:t>
            </a:r>
            <a:r>
              <a:rPr lang="en-US" altLang="zh-CN" sz="2400" dirty="0"/>
              <a:t>”8 </a:t>
            </a:r>
            <a:r>
              <a:rPr lang="zh-CN" altLang="zh-CN" sz="2400" dirty="0"/>
              <a:t>耶稣对他说：</a:t>
            </a:r>
            <a:r>
              <a:rPr lang="en-US" altLang="zh-CN" sz="2400" dirty="0"/>
              <a:t>“</a:t>
            </a:r>
            <a:r>
              <a:rPr lang="zh-CN" altLang="zh-CN" sz="2400" dirty="0"/>
              <a:t>起来，拿你的褥子走吧！</a:t>
            </a:r>
            <a:r>
              <a:rPr lang="en-US" altLang="zh-CN" sz="2400" dirty="0"/>
              <a:t>”9 </a:t>
            </a:r>
            <a:r>
              <a:rPr lang="zh-CN" altLang="zh-CN" sz="2400" dirty="0"/>
              <a:t>那人立刻</a:t>
            </a:r>
            <a:r>
              <a:rPr lang="zh-CN" altLang="zh-CN" sz="2400" b="1" dirty="0"/>
              <a:t>痊愈</a:t>
            </a:r>
            <a:r>
              <a:rPr lang="zh-CN" altLang="zh-CN" sz="2400" dirty="0"/>
              <a:t>，就拿起褥子来走了。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algn="l"/>
            <a:r>
              <a:rPr lang="en-US" altLang="zh-CN" b="1" dirty="0"/>
              <a:t>1</a:t>
            </a:r>
            <a:r>
              <a:rPr lang="zh-CN" altLang="zh-CN" b="1" dirty="0"/>
              <a:t>，</a:t>
            </a:r>
            <a:r>
              <a:rPr lang="en-US" altLang="zh-CN" b="1" dirty="0"/>
              <a:t>	</a:t>
            </a:r>
            <a:r>
              <a:rPr lang="zh-CN" altLang="zh-CN" b="1" dirty="0"/>
              <a:t>基督是人真实指望的主</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251520" y="1600200"/>
            <a:ext cx="8892480" cy="5257800"/>
          </a:xfrm>
        </p:spPr>
        <p:txBody>
          <a:bodyPr/>
          <a:lstStyle/>
          <a:p>
            <a:pPr marL="571500" indent="-571500">
              <a:buFont typeface="+mj-lt"/>
              <a:buAutoNum type="romanUcPeriod"/>
            </a:pPr>
            <a:r>
              <a:rPr lang="zh-CN" altLang="zh-CN"/>
              <a:t>现实世界</a:t>
            </a:r>
            <a:r>
              <a:rPr lang="zh-CN" altLang="en-US"/>
              <a:t>给人虚假的</a:t>
            </a:r>
            <a:r>
              <a:rPr lang="zh-CN" altLang="zh-CN"/>
              <a:t>指望</a:t>
            </a:r>
            <a:endParaRPr lang="en-US" altLang="zh-CN" dirty="0"/>
          </a:p>
          <a:p>
            <a:pPr marL="400050" lvl="1" indent="0">
              <a:buNone/>
            </a:pPr>
            <a:r>
              <a:rPr lang="zh-CN" altLang="zh-CN" dirty="0"/>
              <a:t>里面躺着瞎眼的、瘸腿的、血气枯干的</a:t>
            </a:r>
            <a:endParaRPr lang="en-US" altLang="zh-CN" dirty="0"/>
          </a:p>
          <a:p>
            <a:pPr marL="571500" indent="-571500">
              <a:buFont typeface="+mj-lt"/>
              <a:buAutoNum type="romanUcPeriod"/>
            </a:pPr>
            <a:r>
              <a:rPr lang="zh-CN" altLang="zh-CN" dirty="0"/>
              <a:t>现实世界只能给你嫉妒苦毒</a:t>
            </a:r>
            <a:r>
              <a:rPr lang="zh-CN" altLang="en-US" dirty="0"/>
              <a:t>失望</a:t>
            </a:r>
            <a:endParaRPr lang="en-US" altLang="zh-CN" dirty="0"/>
          </a:p>
          <a:p>
            <a:pPr marL="400050" lvl="1" indent="0">
              <a:buNone/>
            </a:pPr>
            <a:r>
              <a:rPr lang="zh-CN" altLang="zh-CN" dirty="0"/>
              <a:t>没有人把我</a:t>
            </a:r>
            <a:r>
              <a:rPr lang="zh-CN" altLang="en-US" dirty="0"/>
              <a:t>。。。</a:t>
            </a:r>
            <a:r>
              <a:rPr lang="zh-CN" altLang="zh-CN" dirty="0"/>
              <a:t>我正去的</a:t>
            </a:r>
            <a:r>
              <a:rPr lang="zh-CN" altLang="en-US" dirty="0"/>
              <a:t>。。。</a:t>
            </a:r>
            <a:r>
              <a:rPr lang="zh-CN" altLang="zh-CN" dirty="0"/>
              <a:t>有别人比我</a:t>
            </a:r>
            <a:endParaRPr lang="en-US" altLang="zh-CN" dirty="0"/>
          </a:p>
          <a:p>
            <a:pPr marL="400050" lvl="1" indent="0">
              <a:buNone/>
            </a:pPr>
            <a:r>
              <a:rPr lang="zh-CN" altLang="en-US" sz="2000" dirty="0"/>
              <a:t>装满了各样不义、邪恶、贪婪、恶毒，满心是嫉妒、凶杀、争竞、诡诈、毒恨，</a:t>
            </a:r>
            <a:r>
              <a:rPr lang="en-US" altLang="zh-CN" sz="2000" u="sng" baseline="30000" dirty="0"/>
              <a:t>30</a:t>
            </a:r>
            <a:r>
              <a:rPr lang="zh-CN" altLang="en-US" sz="2000" baseline="30000" dirty="0"/>
              <a:t> </a:t>
            </a:r>
            <a:r>
              <a:rPr lang="zh-CN" altLang="en-US" sz="2000" dirty="0"/>
              <a:t>又是谗毁的、背后说人的、怨恨　神的、侮慢人的、狂傲的、自夸的、捏造恶事的、违背父母的、</a:t>
            </a:r>
            <a:r>
              <a:rPr lang="en-US" altLang="zh-CN" sz="2000" u="sng" baseline="30000" dirty="0"/>
              <a:t>31</a:t>
            </a:r>
            <a:r>
              <a:rPr lang="zh-CN" altLang="en-US" sz="2000" baseline="30000" dirty="0"/>
              <a:t> </a:t>
            </a:r>
            <a:r>
              <a:rPr lang="zh-CN" altLang="en-US" sz="2000" dirty="0"/>
              <a:t>无知的、背约的、无亲情的、不怜悯人的。（罗</a:t>
            </a:r>
            <a:r>
              <a:rPr lang="en-US" altLang="zh-CN" sz="2000" dirty="0"/>
              <a:t>1:29</a:t>
            </a:r>
            <a:r>
              <a:rPr lang="zh-CN" altLang="en-US" sz="2000" dirty="0"/>
              <a:t>）</a:t>
            </a:r>
            <a:endParaRPr lang="en-US" altLang="zh-CN" dirty="0"/>
          </a:p>
          <a:p>
            <a:pPr marL="571500" indent="-571500">
              <a:buFont typeface="+mj-lt"/>
              <a:buAutoNum type="romanUcPeriod"/>
            </a:pPr>
            <a:r>
              <a:rPr lang="zh-CN" altLang="zh-CN" dirty="0"/>
              <a:t>唯有基督给人盼望</a:t>
            </a:r>
          </a:p>
          <a:p>
            <a:pPr marL="400050" lvl="1" indent="0">
              <a:buNone/>
            </a:pPr>
            <a:r>
              <a:rPr lang="zh-CN" altLang="zh-CN" dirty="0"/>
              <a:t>你要</a:t>
            </a:r>
            <a:r>
              <a:rPr lang="zh-CN" altLang="zh-CN" b="1" dirty="0"/>
              <a:t>痊愈</a:t>
            </a:r>
            <a:r>
              <a:rPr lang="zh-CN" altLang="zh-CN" dirty="0"/>
              <a:t>吗</a:t>
            </a:r>
          </a:p>
          <a:p>
            <a:pPr marL="400050" lvl="1" indent="0">
              <a:buNone/>
            </a:pPr>
            <a:r>
              <a:rPr lang="zh-CN" altLang="zh-CN" sz="2000" dirty="0"/>
              <a:t>把他从彻底的被医治的失望中拉回到有盼望和依靠有指望</a:t>
            </a:r>
          </a:p>
        </p:txBody>
      </p:sp>
    </p:spTree>
    <p:extLst>
      <p:ext uri="{BB962C8B-B14F-4D97-AF65-F5344CB8AC3E}">
        <p14:creationId xmlns:p14="http://schemas.microsoft.com/office/powerpoint/2010/main" val="2071616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algn="l"/>
            <a:r>
              <a:rPr lang="en-US" altLang="zh-CN" b="1" dirty="0"/>
              <a:t>2</a:t>
            </a:r>
            <a:r>
              <a:rPr lang="zh-CN" altLang="zh-CN" b="1" dirty="0"/>
              <a:t>，</a:t>
            </a:r>
            <a:r>
              <a:rPr lang="en-US" altLang="zh-CN" b="1" dirty="0"/>
              <a:t>	</a:t>
            </a:r>
            <a:r>
              <a:rPr lang="zh-CN" altLang="zh-CN" b="1" dirty="0"/>
              <a:t>基督是主动寻找人的主</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pPr marL="571500" indent="-571500">
              <a:buFont typeface="+mj-lt"/>
              <a:buAutoNum type="romanUcPeriod"/>
            </a:pPr>
            <a:r>
              <a:rPr lang="zh-CN" altLang="zh-CN" dirty="0"/>
              <a:t>在医治上人毫无行动能力</a:t>
            </a:r>
          </a:p>
          <a:p>
            <a:pPr marL="400050" lvl="1" indent="0">
              <a:buNone/>
            </a:pPr>
            <a:r>
              <a:rPr lang="zh-CN" altLang="zh-CN" dirty="0"/>
              <a:t>看见他躺着</a:t>
            </a:r>
            <a:endParaRPr lang="en-US" altLang="zh-CN" dirty="0"/>
          </a:p>
          <a:p>
            <a:pPr marL="400050" lvl="1" indent="0">
              <a:buNone/>
            </a:pPr>
            <a:r>
              <a:rPr lang="en-US" altLang="zh-CN" dirty="0"/>
              <a:t>A</a:t>
            </a:r>
            <a:r>
              <a:rPr lang="zh-CN" altLang="en-US" dirty="0"/>
              <a:t>，罪不能靠自己被赦免。</a:t>
            </a:r>
            <a:endParaRPr lang="en-US" altLang="zh-CN" dirty="0"/>
          </a:p>
          <a:p>
            <a:pPr marL="400050" lvl="1" indent="0">
              <a:buNone/>
            </a:pPr>
            <a:r>
              <a:rPr lang="en-US" altLang="zh-CN" dirty="0"/>
              <a:t>B</a:t>
            </a:r>
            <a:r>
              <a:rPr lang="zh-CN" altLang="en-US" dirty="0"/>
              <a:t>，得救是神完全恩典。</a:t>
            </a:r>
            <a:endParaRPr lang="en-US" altLang="zh-CN" dirty="0"/>
          </a:p>
          <a:p>
            <a:pPr marL="971550" lvl="1" indent="-571500">
              <a:buFont typeface="+mj-lt"/>
              <a:buAutoNum type="romanUcPeriod"/>
            </a:pPr>
            <a:endParaRPr lang="en-US" altLang="zh-CN" dirty="0"/>
          </a:p>
          <a:p>
            <a:pPr marL="571500" indent="-571500">
              <a:buFont typeface="+mj-lt"/>
              <a:buAutoNum type="romanUcPeriod"/>
            </a:pPr>
            <a:r>
              <a:rPr lang="zh-CN" altLang="zh-CN" dirty="0"/>
              <a:t>耶稣主动寻找失丧的人</a:t>
            </a:r>
          </a:p>
          <a:p>
            <a:pPr marL="400050" lvl="1" indent="0">
              <a:buNone/>
            </a:pPr>
            <a:r>
              <a:rPr lang="zh-CN" altLang="zh-CN" dirty="0"/>
              <a:t>你要痊愈吗</a:t>
            </a:r>
            <a:endParaRPr lang="zh-CN" altLang="zh-CN" sz="2400" dirty="0"/>
          </a:p>
        </p:txBody>
      </p:sp>
    </p:spTree>
    <p:extLst>
      <p:ext uri="{BB962C8B-B14F-4D97-AF65-F5344CB8AC3E}">
        <p14:creationId xmlns:p14="http://schemas.microsoft.com/office/powerpoint/2010/main" val="2554827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algn="l"/>
            <a:r>
              <a:rPr lang="en-US" altLang="zh-CN" b="1" dirty="0"/>
              <a:t>3</a:t>
            </a:r>
            <a:r>
              <a:rPr lang="zh-CN" altLang="zh-CN" b="1" dirty="0"/>
              <a:t>，</a:t>
            </a:r>
            <a:r>
              <a:rPr lang="en-US" altLang="zh-CN" b="1" dirty="0"/>
              <a:t>	</a:t>
            </a:r>
            <a:r>
              <a:rPr lang="zh-CN" altLang="zh-CN" b="1" dirty="0"/>
              <a:t>基督是医治人的主</a:t>
            </a:r>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pPr marL="571500" lvl="0" indent="-571500">
              <a:buFont typeface="+mj-lt"/>
              <a:buAutoNum type="romanUcPeriod"/>
            </a:pPr>
            <a:r>
              <a:rPr lang="zh-CN" altLang="zh-CN" dirty="0"/>
              <a:t>主的医治是立即的</a:t>
            </a:r>
          </a:p>
          <a:p>
            <a:pPr marL="400050" lvl="1" indent="0">
              <a:buNone/>
            </a:pPr>
            <a:r>
              <a:rPr lang="zh-CN" altLang="zh-CN" dirty="0"/>
              <a:t>立刻</a:t>
            </a:r>
            <a:r>
              <a:rPr lang="zh-CN" altLang="zh-CN" b="1" dirty="0"/>
              <a:t>痊愈</a:t>
            </a:r>
            <a:endParaRPr lang="en-US" altLang="zh-CN" b="1" dirty="0"/>
          </a:p>
          <a:p>
            <a:pPr marL="971550" lvl="1" indent="-571500">
              <a:buFont typeface="+mj-lt"/>
              <a:buAutoNum type="romanUcPeriod"/>
            </a:pPr>
            <a:endParaRPr lang="en-US" altLang="zh-CN" dirty="0"/>
          </a:p>
          <a:p>
            <a:pPr marL="571500" indent="-571500">
              <a:buFont typeface="+mj-lt"/>
              <a:buAutoNum type="romanUcPeriod"/>
            </a:pPr>
            <a:r>
              <a:rPr lang="zh-CN" altLang="zh-CN" dirty="0"/>
              <a:t>主的医治是完全的</a:t>
            </a:r>
          </a:p>
          <a:p>
            <a:pPr marL="400050" lvl="1" indent="0">
              <a:buNone/>
            </a:pPr>
            <a:r>
              <a:rPr lang="zh-CN" altLang="zh-CN" dirty="0"/>
              <a:t>拿起褥子来走</a:t>
            </a:r>
            <a:endParaRPr lang="en-US" altLang="zh-CN" dirty="0"/>
          </a:p>
          <a:p>
            <a:pPr marL="400050" lvl="1" indent="0">
              <a:buNone/>
            </a:pPr>
            <a:r>
              <a:rPr lang="zh-CN" altLang="en-US" sz="1800" dirty="0"/>
              <a:t>“</a:t>
            </a:r>
            <a:r>
              <a:rPr lang="en-US" altLang="zh-CN" sz="1800" dirty="0"/>
              <a:t>35 </a:t>
            </a:r>
            <a:r>
              <a:rPr lang="zh-CN" altLang="en-US" sz="1800" dirty="0"/>
              <a:t>谁能使我们与基督的爱隔绝呢？难道是患难吗？是困苦吗？是逼迫吗？是饥饿吗？是赤身露体吗？是危险吗？是刀剑吗？</a:t>
            </a:r>
            <a:r>
              <a:rPr lang="en-US" altLang="zh-CN" sz="1800" dirty="0"/>
              <a:t>36 </a:t>
            </a:r>
            <a:r>
              <a:rPr lang="zh-CN" altLang="en-US" sz="1800" dirty="0"/>
              <a:t>如经上所记：“我们为你的缘故终日被杀，人看我们如将宰的羊。”</a:t>
            </a:r>
            <a:r>
              <a:rPr lang="en-US" altLang="zh-CN" sz="1800" dirty="0"/>
              <a:t>37 </a:t>
            </a:r>
            <a:r>
              <a:rPr lang="zh-CN" altLang="en-US" sz="1800" dirty="0"/>
              <a:t>然而，靠着爱我们的主，在这一切的事上已经得胜有余了。</a:t>
            </a:r>
            <a:r>
              <a:rPr lang="en-US" altLang="zh-CN" sz="1800" dirty="0"/>
              <a:t>38 </a:t>
            </a:r>
            <a:r>
              <a:rPr lang="zh-CN" altLang="en-US" sz="1800" dirty="0"/>
              <a:t>因为我深信无论是死，是生，是天使，是掌权的，是有能的，是现在的事，是将来的事，</a:t>
            </a:r>
            <a:r>
              <a:rPr lang="en-US" altLang="zh-CN" sz="1800" dirty="0"/>
              <a:t>39 </a:t>
            </a:r>
            <a:r>
              <a:rPr lang="zh-CN" altLang="en-US" sz="1800" dirty="0"/>
              <a:t>是高处的，是低处的，是别的受造之物，都不能叫我们与　神的爱隔绝；这爱是在我们的主基督耶稣里的。”（罗马书</a:t>
            </a:r>
            <a:r>
              <a:rPr lang="en-US" altLang="zh-CN" sz="1800" dirty="0"/>
              <a:t>8</a:t>
            </a:r>
            <a:r>
              <a:rPr lang="zh-CN" altLang="en-US" sz="1800" dirty="0"/>
              <a:t>章）</a:t>
            </a:r>
            <a:endParaRPr lang="en-US" altLang="zh-CN" sz="1800" dirty="0"/>
          </a:p>
          <a:p>
            <a:pPr marL="400050" lvl="1" indent="0">
              <a:buNone/>
            </a:pPr>
            <a:endParaRPr lang="zh-CN" altLang="zh-CN" sz="2400" dirty="0"/>
          </a:p>
        </p:txBody>
      </p:sp>
    </p:spTree>
    <p:extLst>
      <p:ext uri="{BB962C8B-B14F-4D97-AF65-F5344CB8AC3E}">
        <p14:creationId xmlns:p14="http://schemas.microsoft.com/office/powerpoint/2010/main" val="372086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578C671-B69C-4BEB-8AD4-3A86A9EC2E70}"/>
              </a:ext>
            </a:extLst>
          </p:cNvPr>
          <p:cNvSpPr>
            <a:spLocks noGrp="1"/>
          </p:cNvSpPr>
          <p:nvPr>
            <p:ph type="title"/>
          </p:nvPr>
        </p:nvSpPr>
        <p:spPr/>
        <p:txBody>
          <a:bodyPr/>
          <a:lstStyle/>
          <a:p>
            <a:pPr algn="l"/>
            <a:r>
              <a:rPr lang="en-US" altLang="zh-CN" b="1" dirty="0"/>
              <a:t>4</a:t>
            </a:r>
            <a:r>
              <a:rPr lang="zh-CN" altLang="zh-CN" b="1" dirty="0"/>
              <a:t>，</a:t>
            </a:r>
            <a:r>
              <a:rPr lang="en-US" altLang="zh-CN" b="1" dirty="0"/>
              <a:t>	</a:t>
            </a:r>
            <a:r>
              <a:rPr lang="zh-CN" altLang="zh-CN" dirty="0"/>
              <a:t>应用思考</a:t>
            </a:r>
            <a:endParaRPr lang="zh-CN" altLang="zh-CN" b="1" dirty="0"/>
          </a:p>
        </p:txBody>
      </p:sp>
      <p:sp>
        <p:nvSpPr>
          <p:cNvPr id="5123" name="Rectangle 3">
            <a:extLst>
              <a:ext uri="{FF2B5EF4-FFF2-40B4-BE49-F238E27FC236}">
                <a16:creationId xmlns:a16="http://schemas.microsoft.com/office/drawing/2014/main" id="{823B1026-6B98-4FD8-8DA8-D78FA979416E}"/>
              </a:ext>
            </a:extLst>
          </p:cNvPr>
          <p:cNvSpPr>
            <a:spLocks noGrp="1" noChangeArrowheads="1"/>
          </p:cNvSpPr>
          <p:nvPr>
            <p:ph idx="1"/>
          </p:nvPr>
        </p:nvSpPr>
        <p:spPr>
          <a:xfrm>
            <a:off x="457200" y="1600200"/>
            <a:ext cx="8686800" cy="5257800"/>
          </a:xfrm>
        </p:spPr>
        <p:txBody>
          <a:bodyPr/>
          <a:lstStyle/>
          <a:p>
            <a:pPr lvl="0"/>
            <a:r>
              <a:rPr lang="zh-CN" altLang="zh-CN" dirty="0"/>
              <a:t>基督是我们生命真实的盼望吗（具体表现）？</a:t>
            </a:r>
            <a:endParaRPr lang="en-US" altLang="zh-CN" dirty="0"/>
          </a:p>
          <a:p>
            <a:pPr lvl="0"/>
            <a:endParaRPr lang="zh-CN" altLang="zh-CN" dirty="0"/>
          </a:p>
          <a:p>
            <a:pPr lvl="0"/>
            <a:r>
              <a:rPr lang="zh-CN" altLang="zh-CN" dirty="0"/>
              <a:t>我们是否已经被基督真实医治（具体改变）？</a:t>
            </a:r>
            <a:endParaRPr lang="en-US" altLang="zh-CN" dirty="0"/>
          </a:p>
          <a:p>
            <a:r>
              <a:rPr lang="zh-CN" altLang="zh-CN" dirty="0"/>
              <a:t>备注：</a:t>
            </a:r>
          </a:p>
          <a:p>
            <a:pPr lvl="1"/>
            <a:r>
              <a:rPr lang="zh-CN" altLang="zh-CN" sz="2000" dirty="0"/>
              <a:t>现代的医疗不能成为我们被医治的指望，但是神也借着现代的医疗技术和医生来医治我们的身体疾病。所以基督徒不应该消极或者逃避治疗，相反，而应该积极配合医生的治疗。神凭借祂的主权，可以用神迹来医治我们</a:t>
            </a:r>
            <a:r>
              <a:rPr lang="zh-CN" altLang="zh-CN" sz="2000"/>
              <a:t>的疾病</a:t>
            </a:r>
            <a:r>
              <a:rPr lang="zh-CN" altLang="en-US" sz="2000"/>
              <a:t>（西罗亚池子去洗）</a:t>
            </a:r>
            <a:r>
              <a:rPr lang="zh-CN" altLang="zh-CN" sz="2000"/>
              <a:t>，</a:t>
            </a:r>
            <a:r>
              <a:rPr lang="zh-CN" altLang="zh-CN" sz="2000" dirty="0"/>
              <a:t>也</a:t>
            </a:r>
            <a:r>
              <a:rPr lang="zh-CN" altLang="zh-CN" sz="2000"/>
              <a:t>可以采用</a:t>
            </a:r>
            <a:r>
              <a:rPr lang="zh-CN" altLang="en-US" sz="2000"/>
              <a:t>现代医疗技术和</a:t>
            </a:r>
            <a:r>
              <a:rPr lang="zh-CN" altLang="zh-CN" sz="2000"/>
              <a:t>医生</a:t>
            </a:r>
            <a:r>
              <a:rPr lang="zh-CN" altLang="zh-CN" sz="2000" dirty="0"/>
              <a:t>来医治我们，不论哪种方式都应该感恩。但是肯定不会采用交鬼或者异教假神来医治我们。</a:t>
            </a:r>
          </a:p>
          <a:p>
            <a:pPr lvl="0"/>
            <a:endParaRPr lang="zh-CN" altLang="zh-CN" dirty="0"/>
          </a:p>
        </p:txBody>
      </p:sp>
    </p:spTree>
    <p:extLst>
      <p:ext uri="{BB962C8B-B14F-4D97-AF65-F5344CB8AC3E}">
        <p14:creationId xmlns:p14="http://schemas.microsoft.com/office/powerpoint/2010/main" val="4183620022"/>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4868</TotalTime>
  <Words>3806</Words>
  <Application>Microsoft Office PowerPoint</Application>
  <PresentationFormat>全屏显示(4:3)</PresentationFormat>
  <Paragraphs>116</Paragraphs>
  <Slides>6</Slides>
  <Notes>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vt:i4>
      </vt:variant>
    </vt:vector>
  </HeadingPairs>
  <TitlesOfParts>
    <vt:vector size="13" baseType="lpstr">
      <vt:lpstr>华文琥珀</vt:lpstr>
      <vt:lpstr>华文新魏</vt:lpstr>
      <vt:lpstr>微软雅黑</vt:lpstr>
      <vt:lpstr>Arial</vt:lpstr>
      <vt:lpstr>Calibri</vt:lpstr>
      <vt:lpstr>Trebuchet MS</vt:lpstr>
      <vt:lpstr>Diseño predeterminado</vt:lpstr>
      <vt:lpstr>PowerPoint 演示文稿</vt:lpstr>
      <vt:lpstr>经文：约翰福音5章1~9节</vt:lpstr>
      <vt:lpstr>1， 基督是人真实指望的主</vt:lpstr>
      <vt:lpstr>2， 基督是主动寻找人的主</vt:lpstr>
      <vt:lpstr>3， 基督是医治人的主</vt:lpstr>
      <vt:lpstr>4， 应用思考</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李 强</cp:lastModifiedBy>
  <cp:revision>670</cp:revision>
  <dcterms:created xsi:type="dcterms:W3CDTF">2010-05-23T14:28:12Z</dcterms:created>
  <dcterms:modified xsi:type="dcterms:W3CDTF">2018-12-30T00:00:39Z</dcterms:modified>
</cp:coreProperties>
</file>