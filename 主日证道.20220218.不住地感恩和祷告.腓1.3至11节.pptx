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20" r:id="rId3"/>
    <p:sldId id="327" r:id="rId4"/>
    <p:sldId id="345" r:id="rId5"/>
    <p:sldId id="346" r:id="rId6"/>
    <p:sldId id="347" r:id="rId7"/>
    <p:sldId id="338" r:id="rId8"/>
    <p:sldId id="339" r:id="rId9"/>
    <p:sldId id="340" r:id="rId10"/>
    <p:sldId id="321" r:id="rId11"/>
    <p:sldId id="341" r:id="rId12"/>
    <p:sldId id="342" r:id="rId13"/>
    <p:sldId id="343" r:id="rId14"/>
    <p:sldId id="344" r:id="rId15"/>
    <p:sldId id="325" r:id="rId16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94" autoAdjust="0"/>
    <p:restoredTop sz="96387" autoAdjust="0"/>
  </p:normalViewPr>
  <p:slideViewPr>
    <p:cSldViewPr showGuides="1">
      <p:cViewPr varScale="1">
        <p:scale>
          <a:sx n="90" d="100"/>
          <a:sy n="90" d="100"/>
        </p:scale>
        <p:origin x="7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431BC9BE-B2F5-419C-88F5-3E34A40CF83F}"/>
    <pc:docChg chg="modSld">
      <pc:chgData name="李 强" userId="633faa5c58ce3e78" providerId="LiveId" clId="{431BC9BE-B2F5-419C-88F5-3E34A40CF83F}" dt="2021-07-03T17:21:18.940" v="5" actId="20577"/>
      <pc:docMkLst>
        <pc:docMk/>
      </pc:docMkLst>
      <pc:sldChg chg="modSp mod">
        <pc:chgData name="李 强" userId="633faa5c58ce3e78" providerId="LiveId" clId="{431BC9BE-B2F5-419C-88F5-3E34A40CF83F}" dt="2021-07-03T17:21:18.940" v="5" actId="20577"/>
        <pc:sldMkLst>
          <pc:docMk/>
          <pc:sldMk cId="0" sldId="256"/>
        </pc:sldMkLst>
        <pc:spChg chg="mod">
          <ac:chgData name="李 强" userId="633faa5c58ce3e78" providerId="LiveId" clId="{431BC9BE-B2F5-419C-88F5-3E34A40CF83F}" dt="2021-07-03T17:21:18.940" v="5" actId="20577"/>
          <ac:spMkLst>
            <pc:docMk/>
            <pc:sldMk cId="0" sldId="256"/>
            <ac:spMk id="7170" creationId="{C38FCE21-CC3E-4C81-B95A-118DE7524B3B}"/>
          </ac:spMkLst>
        </pc:spChg>
      </pc:sldChg>
    </pc:docChg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2021/7/4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8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875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411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71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62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31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36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024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24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09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783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9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不住地感恩和祷告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>
                <a:latin typeface="华文琥珀" panose="02010800040101010101" pitchFamily="2" charset="-122"/>
                <a:ea typeface="华文琥珀" panose="02010800040101010101" pitchFamily="2" charset="-122"/>
              </a:rPr>
              <a:t>3</a:t>
            </a:r>
            <a:r>
              <a:rPr lang="zh-CN" altLang="en-US">
                <a:latin typeface="华文琥珀" panose="02010800040101010101" pitchFamily="2" charset="-122"/>
                <a:ea typeface="华文琥珀" panose="02010800040101010101" pitchFamily="2" charset="-122"/>
              </a:rPr>
              <a:t>至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2021年7月4日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2400" dirty="0"/>
              <a:t>腓</a:t>
            </a:r>
            <a:r>
              <a:rPr lang="en-US" altLang="zh-CN" sz="2400" dirty="0"/>
              <a:t>1</a:t>
            </a:r>
            <a:r>
              <a:rPr lang="zh-CN" altLang="en-US" sz="2400" dirty="0"/>
              <a:t>章</a:t>
            </a:r>
            <a:r>
              <a:rPr lang="en-US" altLang="zh-CN" sz="2400" dirty="0"/>
              <a:t>1</a:t>
            </a:r>
            <a:r>
              <a:rPr lang="zh-CN" altLang="en-US" sz="2400" dirty="0"/>
              <a:t>至</a:t>
            </a:r>
            <a:r>
              <a:rPr lang="en-US" altLang="zh-CN" sz="2400" dirty="0"/>
              <a:t>11</a:t>
            </a:r>
            <a:r>
              <a:rPr lang="zh-CN" altLang="en-US" sz="2400" dirty="0"/>
              <a:t>节</a:t>
            </a:r>
            <a:br>
              <a:rPr lang="en-US" altLang="zh-CN" sz="1200" dirty="0">
                <a:latin typeface="华文琥珀" panose="02010800040101010101" pitchFamily="2" charset="-122"/>
                <a:ea typeface="华文琥珀" panose="02010800040101010101" pitchFamily="2" charset="-122"/>
              </a:rPr>
            </a:br>
            <a:endParaRPr lang="zh-CN" altLang="en-US" sz="24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217326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1 </a:t>
            </a:r>
            <a:r>
              <a:rPr lang="zh-CN" altLang="en-US" sz="1800" dirty="0"/>
              <a:t>基督耶稣的</a:t>
            </a:r>
            <a:r>
              <a:rPr lang="zh-CN" altLang="en-US" sz="1800" b="1" dirty="0"/>
              <a:t>仆人</a:t>
            </a:r>
            <a:r>
              <a:rPr lang="zh-CN" altLang="en-US" sz="1800" dirty="0"/>
              <a:t>保罗和提摩太写信给凡住腓立比、在基督耶稣里的</a:t>
            </a:r>
            <a:r>
              <a:rPr lang="zh-CN" altLang="en-US" sz="1800" b="1" dirty="0"/>
              <a:t>众圣徒</a:t>
            </a:r>
            <a:r>
              <a:rPr lang="zh-CN" altLang="en-US" sz="1800" dirty="0"/>
              <a:t>和</a:t>
            </a:r>
            <a:r>
              <a:rPr lang="zh-CN" altLang="en-US" sz="1800" b="1" dirty="0"/>
              <a:t>诸位监督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诸位执事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 </a:t>
            </a:r>
            <a:r>
              <a:rPr lang="zh-CN" altLang="en-US" sz="1800" dirty="0"/>
              <a:t>愿</a:t>
            </a:r>
            <a:r>
              <a:rPr lang="zh-CN" altLang="en-US" sz="1800" b="1" dirty="0"/>
              <a:t>恩惠、平安</a:t>
            </a:r>
            <a:r>
              <a:rPr lang="zh-CN" altLang="en-US" sz="1800" dirty="0"/>
              <a:t>从　神我们的父并主耶稣基督归与你们！</a:t>
            </a:r>
          </a:p>
          <a:p>
            <a:pPr marL="0" indent="0">
              <a:buNone/>
            </a:pPr>
            <a:r>
              <a:rPr lang="en-US" altLang="zh-CN" sz="1800" dirty="0"/>
              <a:t>3 </a:t>
            </a:r>
            <a:r>
              <a:rPr lang="zh-CN" altLang="en-US" sz="1800" dirty="0"/>
              <a:t>我每逢想念你们，就感谢我的　神；</a:t>
            </a:r>
            <a:r>
              <a:rPr lang="en-US" altLang="zh-CN" sz="1800" dirty="0"/>
              <a:t>4 </a:t>
            </a:r>
            <a:r>
              <a:rPr lang="zh-CN" altLang="en-US" sz="1800" dirty="0"/>
              <a:t>（每逢为你们众人祈求的时候，常是欢欢喜喜地祈求。）</a:t>
            </a:r>
            <a:r>
              <a:rPr lang="en-US" altLang="zh-CN" sz="1800" dirty="0"/>
              <a:t>5 </a:t>
            </a:r>
            <a:r>
              <a:rPr lang="zh-CN" altLang="en-US" sz="1800" dirty="0"/>
              <a:t>因为从头一天直到如今，你们是同心合意的兴旺福音。</a:t>
            </a:r>
            <a:r>
              <a:rPr lang="en-US" altLang="zh-CN" sz="1800" dirty="0"/>
              <a:t>6 </a:t>
            </a:r>
            <a:r>
              <a:rPr lang="zh-CN" altLang="en-US" sz="1800" dirty="0"/>
              <a:t>我深信那在你们心里动了善工的，必成全这工，直到耶稣基督的日子。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7 </a:t>
            </a:r>
            <a:r>
              <a:rPr lang="zh-CN" altLang="en-US" sz="1800" dirty="0"/>
              <a:t>我为你们众人有这样的意念，原是应当的，因你们常在我心里，无论我是在捆锁之中，是辩明证实福音的时候，你们都与我一同得恩。</a:t>
            </a:r>
            <a:r>
              <a:rPr lang="en-US" altLang="zh-CN" sz="1800" dirty="0"/>
              <a:t>8 </a:t>
            </a:r>
            <a:r>
              <a:rPr lang="zh-CN" altLang="en-US" sz="1800" dirty="0"/>
              <a:t>我体会基督耶稣的心肠，切切地想念你们众人，这是　神可以给我作见证的。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9 </a:t>
            </a:r>
            <a:r>
              <a:rPr lang="zh-CN" altLang="en-US" sz="1800" dirty="0"/>
              <a:t>我所祷告的，就是要你们的爱心在知识和各样见识上多而又多，</a:t>
            </a:r>
            <a:r>
              <a:rPr lang="en-US" altLang="zh-CN" sz="1800" dirty="0"/>
              <a:t>10 </a:t>
            </a:r>
            <a:r>
              <a:rPr lang="zh-CN" altLang="en-US" sz="1800" dirty="0"/>
              <a:t>使你们能分别是非（或作“喜爱那美好的事”），作诚实无过的人，直到基督的日子；</a:t>
            </a:r>
            <a:r>
              <a:rPr lang="en-US" altLang="zh-CN" sz="1800" dirty="0"/>
              <a:t>11 </a:t>
            </a:r>
            <a:r>
              <a:rPr lang="zh-CN" altLang="en-US" sz="1800" dirty="0"/>
              <a:t>并靠着耶稣基督结满了仁义的果子，叫荣耀称赞归与　神。</a:t>
            </a:r>
            <a:endParaRPr lang="zh-CN" alt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背景</a:t>
            </a:r>
            <a:r>
              <a:rPr lang="zh-CN" altLang="en-US" sz="2400" dirty="0"/>
              <a:t>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腓立比教会建立：</a:t>
            </a:r>
            <a:endParaRPr lang="en-US" altLang="zh-CN" sz="2400" dirty="0"/>
          </a:p>
          <a:p>
            <a:pPr lvl="1"/>
            <a:r>
              <a:rPr lang="zh-CN" altLang="en-US" sz="2000" dirty="0"/>
              <a:t>通读</a:t>
            </a:r>
            <a:r>
              <a:rPr lang="en-US" altLang="zh-CN" sz="2000" dirty="0"/>
              <a:t>《</a:t>
            </a:r>
            <a:r>
              <a:rPr lang="zh-CN" altLang="en-US" sz="2000" dirty="0"/>
              <a:t>使徒行传</a:t>
            </a:r>
            <a:r>
              <a:rPr lang="en-US" altLang="zh-CN" sz="2000" dirty="0"/>
              <a:t>》16</a:t>
            </a:r>
            <a:r>
              <a:rPr lang="zh-CN" altLang="en-US" sz="2000" dirty="0"/>
              <a:t>章</a:t>
            </a:r>
            <a:endParaRPr lang="en-US" altLang="zh-CN" sz="2000" dirty="0"/>
          </a:p>
          <a:p>
            <a:r>
              <a:rPr lang="zh-CN" altLang="en-US" sz="2400" dirty="0"/>
              <a:t>对保罗的支持：</a:t>
            </a:r>
            <a:endParaRPr lang="en-US" altLang="zh-CN" sz="2400" dirty="0"/>
          </a:p>
          <a:p>
            <a:pPr lvl="1"/>
            <a:r>
              <a:rPr lang="zh-CN" altLang="en-US" sz="2000" dirty="0"/>
              <a:t>财物</a:t>
            </a:r>
            <a:endParaRPr lang="en-US" altLang="zh-CN" sz="2000" dirty="0"/>
          </a:p>
          <a:p>
            <a:pPr lvl="1"/>
            <a:r>
              <a:rPr lang="zh-CN" altLang="en-US" sz="2000" dirty="0"/>
              <a:t>以巴弗提</a:t>
            </a:r>
            <a:endParaRPr lang="en-US" altLang="zh-CN" sz="2000" dirty="0"/>
          </a:p>
          <a:p>
            <a:r>
              <a:rPr lang="zh-CN" altLang="en-US" sz="2400" dirty="0"/>
              <a:t>地理位置</a:t>
            </a:r>
            <a:r>
              <a:rPr lang="zh-CN" altLang="en-US" sz="2400" dirty="0">
                <a:sym typeface="Wingdings" panose="05000000000000000000" pitchFamily="2" charset="2"/>
              </a:rPr>
              <a:t>（保罗第二次和第三次宣教旅程地图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000" dirty="0"/>
              <a:t>亚欧大陆要道</a:t>
            </a:r>
            <a:endParaRPr lang="en-US" altLang="zh-CN" sz="2000" dirty="0"/>
          </a:p>
          <a:p>
            <a:pPr lvl="1"/>
            <a:r>
              <a:rPr lang="zh-CN" altLang="en-US" sz="2000" dirty="0"/>
              <a:t>盛产黄金</a:t>
            </a:r>
            <a:endParaRPr lang="en-US" altLang="zh-CN" sz="2000" dirty="0"/>
          </a:p>
          <a:p>
            <a:pPr lvl="1"/>
            <a:r>
              <a:rPr lang="zh-CN" altLang="en-US" sz="2000" dirty="0"/>
              <a:t>欧洲第一个教会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85340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保罗第二次宣教旅程地图</a:t>
            </a:r>
            <a:endParaRPr lang="zh-CN" altLang="en-US" sz="24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EB1FD8-06C6-4599-8C58-CA2877DEB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6" y="1289526"/>
            <a:ext cx="7524328" cy="5563158"/>
          </a:xfrm>
        </p:spPr>
      </p:pic>
    </p:spTree>
    <p:extLst>
      <p:ext uri="{BB962C8B-B14F-4D97-AF65-F5344CB8AC3E}">
        <p14:creationId xmlns:p14="http://schemas.microsoft.com/office/powerpoint/2010/main" val="410361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保罗第三次宣教旅程地图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979224-CF8D-478B-8EA0-36390AFBE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372639"/>
            <a:ext cx="6835707" cy="5223423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1F492E9-C6A2-4D45-B5E4-3CA93FB32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40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地理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Wingdings" panose="05000000000000000000" pitchFamily="2" charset="2"/>
              </a:rPr>
              <a:t>腓立比地理位置：</a:t>
            </a:r>
            <a:r>
              <a:rPr lang="zh-CN" altLang="en-US" sz="2400" dirty="0"/>
              <a:t>伊格那丟大道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32FA61-2F57-4DD3-8FB1-988FC3415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04938"/>
            <a:ext cx="6552728" cy="535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04BE843-108C-4309-B0ED-14487C467F62}"/>
              </a:ext>
            </a:extLst>
          </p:cNvPr>
          <p:cNvSpPr/>
          <p:nvPr/>
        </p:nvSpPr>
        <p:spPr>
          <a:xfrm>
            <a:off x="4932040" y="2636912"/>
            <a:ext cx="57606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2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目的：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对腓立比教会感谢</a:t>
            </a:r>
            <a:endParaRPr lang="en-US" altLang="zh-CN" sz="2400" dirty="0"/>
          </a:p>
          <a:p>
            <a:r>
              <a:rPr lang="zh-CN" altLang="zh-CN" sz="2400" dirty="0"/>
              <a:t>在灵性和道理上都有些错误，因而要藉这机会改正他们</a:t>
            </a:r>
            <a:endParaRPr lang="en-US" altLang="zh-CN" sz="2400" dirty="0"/>
          </a:p>
          <a:p>
            <a:pPr lvl="1"/>
            <a:r>
              <a:rPr lang="zh-CN" altLang="zh-CN" sz="2000" dirty="0"/>
              <a:t>对保罗的下监受苦感到不安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12~14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zh-CN" sz="2000" dirty="0"/>
              <a:t>割礼异端在他们当中</a:t>
            </a:r>
            <a:r>
              <a:rPr lang="zh-CN" altLang="en-US" sz="2000" dirty="0"/>
              <a:t>搅扰（</a:t>
            </a:r>
            <a:r>
              <a:rPr lang="en-US" altLang="zh-CN" sz="2000" dirty="0"/>
              <a:t>3</a:t>
            </a:r>
            <a:r>
              <a:rPr lang="zh-CN" altLang="en-US" sz="2000" dirty="0"/>
              <a:t>章</a:t>
            </a:r>
            <a:r>
              <a:rPr lang="en-US" altLang="zh-CN" sz="2000" dirty="0"/>
              <a:t>2~3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纵欲主义（</a:t>
            </a:r>
            <a:r>
              <a:rPr lang="en-US" altLang="zh-CN" sz="2000" dirty="0"/>
              <a:t>3</a:t>
            </a:r>
            <a:r>
              <a:rPr lang="zh-CN" altLang="en-US" sz="2000" dirty="0"/>
              <a:t>章</a:t>
            </a:r>
            <a:r>
              <a:rPr lang="en-US" altLang="zh-CN" sz="2000" dirty="0"/>
              <a:t>17~19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zh-CN" sz="2000" dirty="0"/>
              <a:t>不和睦的事发生（腓</a:t>
            </a:r>
            <a:r>
              <a:rPr lang="en-US" altLang="zh-CN" sz="2000" dirty="0"/>
              <a:t>4:2-3</a:t>
            </a:r>
            <a:r>
              <a:rPr lang="zh-CN" altLang="zh-CN" sz="2000" dirty="0"/>
              <a:t>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24517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内容：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dirty="0"/>
              <a:t>基督的福音</a:t>
            </a:r>
            <a:endParaRPr lang="en-US" altLang="zh-CN" sz="2400" dirty="0"/>
          </a:p>
          <a:p>
            <a:pPr lvl="1"/>
            <a:r>
              <a:rPr lang="zh-CN" altLang="zh-CN" sz="2000" dirty="0"/>
              <a:t>“辨明证实福音”、“叫福音兴旺”和“辨明福音”</a:t>
            </a:r>
            <a:endParaRPr lang="en-US" altLang="zh-CN" sz="2000" dirty="0"/>
          </a:p>
          <a:p>
            <a:r>
              <a:rPr lang="zh-CN" altLang="zh-CN" sz="2400" dirty="0"/>
              <a:t>基督里的群体</a:t>
            </a:r>
            <a:endParaRPr lang="en-US" altLang="zh-CN" sz="2400" dirty="0"/>
          </a:p>
          <a:p>
            <a:pPr lvl="1"/>
            <a:r>
              <a:rPr lang="zh-CN" altLang="zh-CN" sz="2000" dirty="0"/>
              <a:t>“在基督里”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03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特点：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D1F273-E680-40A2-87B5-888679D9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喜乐的书卷</a:t>
            </a:r>
            <a:endParaRPr lang="en-US" altLang="zh-CN" sz="2400" dirty="0"/>
          </a:p>
          <a:p>
            <a:r>
              <a:rPr lang="zh-CN" altLang="en-US" sz="2400" dirty="0"/>
              <a:t>强调基督的地位</a:t>
            </a:r>
            <a:endParaRPr lang="en-US" altLang="zh-CN" sz="2400" dirty="0"/>
          </a:p>
          <a:p>
            <a:r>
              <a:rPr lang="zh-CN" altLang="en-US" sz="2400" dirty="0"/>
              <a:t>大量使用了“我”（</a:t>
            </a:r>
            <a:r>
              <a:rPr lang="en-US" altLang="zh-CN" sz="2400" dirty="0"/>
              <a:t>100</a:t>
            </a:r>
            <a:r>
              <a:rPr lang="zh-CN" altLang="en-US" sz="2400" dirty="0"/>
              <a:t>多次），个人性书信，热情</a:t>
            </a:r>
            <a:endParaRPr lang="en-US" altLang="zh-CN" sz="2400" dirty="0"/>
          </a:p>
          <a:p>
            <a:r>
              <a:rPr lang="zh-CN" altLang="zh-CN" sz="2400" dirty="0"/>
              <a:t>语气最温和、称赞最多的一卷</a:t>
            </a:r>
            <a:r>
              <a:rPr lang="zh-CN" altLang="en-US" sz="2400" dirty="0"/>
              <a:t>书信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83195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大纲：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000" b="1" dirty="0"/>
              <a:t>一、在基督问候（一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11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二、	基督是中心（一</a:t>
            </a:r>
            <a:r>
              <a:rPr lang="en-US" altLang="zh-CN" sz="2000" b="1" dirty="0"/>
              <a:t>12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26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三、	基督是榜样（一</a:t>
            </a:r>
            <a:r>
              <a:rPr lang="en-US" altLang="zh-CN" sz="2000" b="1" dirty="0"/>
              <a:t>27</a:t>
            </a:r>
            <a:r>
              <a:rPr lang="zh-CN" altLang="en-US" sz="2000" b="1" dirty="0"/>
              <a:t>～二</a:t>
            </a:r>
            <a:r>
              <a:rPr lang="en-US" altLang="zh-CN" sz="2000" b="1" dirty="0"/>
              <a:t>30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四、	基督是标竿（三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～四</a:t>
            </a:r>
            <a:r>
              <a:rPr lang="en-US" altLang="zh-CN" sz="2000" b="1" dirty="0"/>
              <a:t>l</a:t>
            </a:r>
            <a:r>
              <a:rPr lang="zh-CN" altLang="en-US" sz="2000" b="1" dirty="0"/>
              <a:t>）</a:t>
            </a:r>
          </a:p>
          <a:p>
            <a:r>
              <a:rPr lang="zh-CN" altLang="en-US" sz="2000" b="1" dirty="0"/>
              <a:t>五、	基督是力量（四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～</a:t>
            </a:r>
            <a:r>
              <a:rPr lang="en-US" altLang="zh-CN" sz="2000" b="1" dirty="0"/>
              <a:t>23</a:t>
            </a:r>
            <a:r>
              <a:rPr lang="zh-CN" altLang="en-US" sz="2000" b="1" dirty="0"/>
              <a:t>）</a:t>
            </a:r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分段：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第一段：</a:t>
            </a:r>
            <a:r>
              <a:rPr lang="en-US" altLang="zh-CN" sz="1800" kern="100" dirty="0">
                <a:effectLst/>
                <a:cs typeface="Times New Roman" panose="02020603050405020304" pitchFamily="18" charset="0"/>
              </a:rPr>
              <a:t>1~2</a:t>
            </a:r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节，</a:t>
            </a:r>
            <a:r>
              <a:rPr lang="zh-CN" altLang="en-US" sz="1800" kern="100" dirty="0">
                <a:effectLst/>
                <a:cs typeface="Times New Roman" panose="02020603050405020304" pitchFamily="18" charset="0"/>
              </a:rPr>
              <a:t>问候</a:t>
            </a:r>
            <a:endParaRPr lang="en-US" altLang="zh-CN" sz="1800" kern="100" dirty="0">
              <a:effectLst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</a:t>
            </a:r>
            <a:r>
              <a:rPr lang="en-US" altLang="zh-CN" sz="1400" kern="100" dirty="0">
                <a:cs typeface="Times New Roman" panose="02020603050405020304" pitchFamily="18" charset="0"/>
              </a:rPr>
              <a:t>a</a:t>
            </a:r>
            <a:r>
              <a:rPr lang="zh-CN" altLang="en-US" sz="1400" kern="100" dirty="0">
                <a:cs typeface="Times New Roman" panose="02020603050405020304" pitchFamily="18" charset="0"/>
              </a:rPr>
              <a:t>：写信的人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effectLst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en-US" altLang="zh-CN" sz="1400" kern="100" dirty="0">
                <a:effectLst/>
                <a:cs typeface="Times New Roman" panose="02020603050405020304" pitchFamily="18" charset="0"/>
              </a:rPr>
              <a:t>b</a:t>
            </a:r>
            <a:r>
              <a:rPr lang="zh-CN" altLang="en-US" sz="1400" kern="100" dirty="0">
                <a:effectLst/>
                <a:cs typeface="Times New Roman" panose="02020603050405020304" pitchFamily="18" charset="0"/>
              </a:rPr>
              <a:t>：收信的人</a:t>
            </a:r>
            <a:endParaRPr lang="en-US" altLang="zh-CN" sz="1400" kern="100" dirty="0">
              <a:effectLst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节：问候、祝福</a:t>
            </a:r>
            <a:endParaRPr lang="zh-CN" altLang="zh-CN" sz="1400" kern="100" dirty="0">
              <a:effectLst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第二段：</a:t>
            </a:r>
            <a:r>
              <a:rPr lang="en-US" altLang="zh-CN" sz="1800" kern="100" dirty="0">
                <a:effectLst/>
                <a:cs typeface="Times New Roman" panose="02020603050405020304" pitchFamily="18" charset="0"/>
              </a:rPr>
              <a:t>3~8</a:t>
            </a:r>
            <a:r>
              <a:rPr lang="zh-CN" altLang="zh-CN" sz="1800" kern="100" dirty="0">
                <a:cs typeface="Times New Roman" panose="02020603050405020304" pitchFamily="18" charset="0"/>
              </a:rPr>
              <a:t>节，感恩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3~4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节：为神的百姓感恩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5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节：感恩的基础</a:t>
            </a:r>
            <a:r>
              <a:rPr lang="en-US" altLang="zh-CN" sz="1400" kern="100" dirty="0"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cs typeface="Times New Roman" panose="02020603050405020304" pitchFamily="18" charset="0"/>
              </a:rPr>
              <a:t>过去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6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节：感恩的基础</a:t>
            </a:r>
            <a:r>
              <a:rPr lang="en-US" altLang="zh-CN" sz="1400" kern="100" dirty="0">
                <a:cs typeface="Times New Roman" panose="02020603050405020304" pitchFamily="18" charset="0"/>
              </a:rPr>
              <a:t>-</a:t>
            </a:r>
            <a:r>
              <a:rPr lang="zh-CN" altLang="en-US" sz="1400" kern="100" dirty="0">
                <a:cs typeface="Times New Roman" panose="02020603050405020304" pitchFamily="18" charset="0"/>
              </a:rPr>
              <a:t>未来</a:t>
            </a:r>
            <a:r>
              <a:rPr lang="en-US" altLang="zh-CN" sz="1400" kern="100" dirty="0">
                <a:cs typeface="Times New Roman" panose="02020603050405020304" pitchFamily="18" charset="0"/>
              </a:rPr>
              <a:t>	</a:t>
            </a: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1400" kern="100" dirty="0">
                <a:cs typeface="Times New Roman" panose="02020603050405020304" pitchFamily="18" charset="0"/>
              </a:rPr>
              <a:t>8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节：信心与感恩的基础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cs typeface="Times New Roman" panose="02020603050405020304" pitchFamily="18" charset="0"/>
              </a:rPr>
              <a:t>第三段：</a:t>
            </a:r>
            <a:r>
              <a:rPr lang="en-US" altLang="zh-CN" sz="1800" kern="100" dirty="0">
                <a:cs typeface="Times New Roman" panose="02020603050405020304" pitchFamily="18" charset="0"/>
              </a:rPr>
              <a:t>9~11</a:t>
            </a:r>
            <a:r>
              <a:rPr lang="zh-CN" altLang="zh-CN" sz="1800" kern="100" dirty="0">
                <a:cs typeface="Times New Roman" panose="02020603050405020304" pitchFamily="18" charset="0"/>
              </a:rPr>
              <a:t>节，祷告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9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节：祷告内容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10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节：祷告原因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kern="100" dirty="0">
                <a:cs typeface="Times New Roman" panose="02020603050405020304" pitchFamily="18" charset="0"/>
              </a:rPr>
              <a:t>11</a:t>
            </a:r>
            <a:r>
              <a:rPr lang="zh-CN" altLang="en-US" sz="1400" kern="100" dirty="0">
                <a:cs typeface="Times New Roman" panose="02020603050405020304" pitchFamily="18" charset="0"/>
              </a:rPr>
              <a:t>节：祷告的目的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4303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第一段：</a:t>
            </a:r>
            <a:r>
              <a:rPr lang="en-US" altLang="zh-CN" sz="4400" kern="100" dirty="0">
                <a:effectLst/>
                <a:cs typeface="Times New Roman" panose="02020603050405020304" pitchFamily="18" charset="0"/>
              </a:rPr>
              <a:t>1~2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sz="4400" kern="100" dirty="0">
                <a:cs typeface="Times New Roman" panose="02020603050405020304" pitchFamily="18" charset="0"/>
              </a:rPr>
              <a:t>问候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</a:t>
            </a:r>
            <a:r>
              <a:rPr lang="zh-CN" altLang="en-US" sz="1800" kern="100" dirty="0">
                <a:cs typeface="Times New Roman" panose="02020603050405020304" pitchFamily="18" charset="0"/>
              </a:rPr>
              <a:t> 基督耶稣的仆人保罗和提摩太写信给凡住腓立比、在基督耶稣里的众圣徒和诸位监督、诸位执事。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2</a:t>
            </a:r>
            <a:r>
              <a:rPr lang="zh-CN" altLang="en-US" sz="1800" kern="100" dirty="0">
                <a:cs typeface="Times New Roman" panose="02020603050405020304" pitchFamily="18" charset="0"/>
              </a:rPr>
              <a:t> 愿恩惠、平安从　神我们的父并主耶稣基督归与你们！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cs typeface="Times New Roman" panose="02020603050405020304" pitchFamily="18" charset="0"/>
              </a:rPr>
              <a:t>经文：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kern="100" dirty="0">
                <a:cs typeface="Times New Roman" panose="02020603050405020304" pitchFamily="18" charset="0"/>
              </a:rPr>
              <a:t>你们不是自己的人，因为你们是重价买来的。所以，要在你们的身子上荣耀神。……作奴仆蒙召于主的，就是主所释放的人，作自由之人蒙召的，就是基督的奴仆。你们是重价买来的，不要作人的奴仆。（林前六</a:t>
            </a:r>
            <a:r>
              <a:rPr lang="en-US" altLang="zh-CN" sz="1400" kern="100" dirty="0">
                <a:cs typeface="Times New Roman" panose="02020603050405020304" pitchFamily="18" charset="0"/>
              </a:rPr>
              <a:t>19-23</a:t>
            </a:r>
            <a:r>
              <a:rPr lang="zh-CN" altLang="zh-CN" sz="1400" kern="100" dirty="0"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400" kern="100" dirty="0">
                <a:cs typeface="Times New Roman" panose="02020603050405020304" pitchFamily="18" charset="0"/>
              </a:rPr>
              <a:t>不要只在眼前事奉，像是讨人喜欢的；要像基督的仆人，从心里遵行神的旨意。（弗六</a:t>
            </a:r>
            <a:r>
              <a:rPr lang="en-US" altLang="zh-CN" sz="1400" kern="100" dirty="0">
                <a:cs typeface="Times New Roman" panose="02020603050405020304" pitchFamily="18" charset="0"/>
              </a:rPr>
              <a:t>6-7 </a:t>
            </a:r>
            <a:r>
              <a:rPr lang="zh-CN" altLang="en-US" sz="1400" kern="100" dirty="0"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1666741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第二段：</a:t>
            </a:r>
            <a:r>
              <a:rPr lang="en-US" altLang="zh-CN" sz="4400" kern="100" dirty="0">
                <a:effectLst/>
                <a:cs typeface="Times New Roman" panose="02020603050405020304" pitchFamily="18" charset="0"/>
              </a:rPr>
              <a:t>3~8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ffectLst/>
                <a:cs typeface="Times New Roman" panose="02020603050405020304" pitchFamily="18" charset="0"/>
              </a:rPr>
              <a:t>感恩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3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我每逢想念你们，就感谢我的　神；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cs typeface="Times New Roman" panose="02020603050405020304" pitchFamily="18" charset="0"/>
              </a:rPr>
              <a:t>（每逢为你们众人祈求的时候，常是欢欢喜喜地祈求。）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5 </a:t>
            </a:r>
            <a:r>
              <a:rPr lang="zh-CN" altLang="en-US" sz="1800" kern="100" dirty="0">
                <a:cs typeface="Times New Roman" panose="02020603050405020304" pitchFamily="18" charset="0"/>
              </a:rPr>
              <a:t>因为从头一天直到如今，你们是同心合意的兴旺福音。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6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我深信那在你们心里动了善工的，必成全这工，直到耶稣基督的日子。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7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我为你们众人有这样的意念，原是应当的，因你们常在我心里，无论我是在捆锁之中，是辩明证实福音的时候，你们都与我一同得恩。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8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我体会基督耶稣的心肠，切切地想念你们众人，这是　神可以给我作见证的。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lvl="1" algn="just"/>
            <a:endParaRPr lang="en-US" altLang="zh-CN" sz="1400" b="1" kern="100" dirty="0">
              <a:cs typeface="Times New Roman" panose="02020603050405020304" pitchFamily="18" charset="0"/>
            </a:endParaRPr>
          </a:p>
          <a:p>
            <a:pPr lvl="1" algn="just"/>
            <a:endParaRPr lang="zh-CN" altLang="zh-CN" sz="14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59764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第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三</a:t>
            </a:r>
            <a:r>
              <a:rPr lang="zh-CN" altLang="zh-CN" sz="4400" kern="100" dirty="0">
                <a:effectLst/>
                <a:cs typeface="Times New Roman" panose="02020603050405020304" pitchFamily="18" charset="0"/>
              </a:rPr>
              <a:t>段：</a:t>
            </a:r>
            <a:r>
              <a:rPr lang="en-US" altLang="zh-CN" sz="4400" kern="100">
                <a:effectLst/>
                <a:cs typeface="Times New Roman" panose="02020603050405020304" pitchFamily="18" charset="0"/>
              </a:rPr>
              <a:t>9~11</a:t>
            </a:r>
            <a:r>
              <a:rPr lang="zh-CN" altLang="zh-CN" sz="4400" kern="100">
                <a:effectLst/>
                <a:cs typeface="Times New Roman" panose="02020603050405020304" pitchFamily="18" charset="0"/>
              </a:rPr>
              <a:t>节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ffectLst/>
                <a:cs typeface="Times New Roman" panose="02020603050405020304" pitchFamily="18" charset="0"/>
              </a:rPr>
              <a:t>祷告</a:t>
            </a:r>
            <a:r>
              <a:rPr lang="zh-CN" altLang="en-US" sz="4400" kern="100" dirty="0">
                <a:effectLst/>
                <a:cs typeface="Times New Roman" panose="02020603050405020304" pitchFamily="18" charset="0"/>
              </a:rPr>
              <a:t>）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9 </a:t>
            </a:r>
            <a:r>
              <a:rPr lang="zh-CN" altLang="en-US" sz="1800" kern="100" dirty="0">
                <a:cs typeface="Times New Roman" panose="02020603050405020304" pitchFamily="18" charset="0"/>
              </a:rPr>
              <a:t>我所祷告的，就是要你们的爱心在知识和各样见识上多而又多，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10 </a:t>
            </a:r>
            <a:r>
              <a:rPr lang="zh-CN" altLang="en-US" sz="1800" kern="100" dirty="0">
                <a:cs typeface="Times New Roman" panose="02020603050405020304" pitchFamily="18" charset="0"/>
              </a:rPr>
              <a:t>使你们能分别是非（或作“喜爱那美好的事”），作诚实无过的人，直到基督的日子；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cs typeface="Times New Roman" panose="02020603050405020304" pitchFamily="18" charset="0"/>
              </a:rPr>
              <a:t>11 </a:t>
            </a:r>
            <a:r>
              <a:rPr lang="zh-CN" altLang="en-US" sz="1800" kern="100" dirty="0">
                <a:cs typeface="Times New Roman" panose="02020603050405020304" pitchFamily="18" charset="0"/>
              </a:rPr>
              <a:t>并靠着耶稣基督结满了仁义的果子，叫荣耀称赞归与　神。</a:t>
            </a:r>
            <a:endParaRPr lang="en-US" altLang="zh-CN" sz="1800" kern="1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18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369066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应用思考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lvl="0"/>
            <a:r>
              <a:rPr lang="zh-CN" altLang="en-US" dirty="0"/>
              <a:t>靠主喜乐</a:t>
            </a:r>
            <a:r>
              <a:rPr lang="zh-CN" altLang="zh-CN" dirty="0"/>
              <a:t>？</a:t>
            </a:r>
            <a:endParaRPr lang="en-US" altLang="zh-CN" dirty="0"/>
          </a:p>
          <a:p>
            <a:pPr lvl="0"/>
            <a:r>
              <a:rPr lang="zh-CN" altLang="en-US" dirty="0"/>
              <a:t>为什么祷告？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362002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6429</TotalTime>
  <Words>1034</Words>
  <Application>Microsoft Office PowerPoint</Application>
  <PresentationFormat>全屏显示(4:3)</PresentationFormat>
  <Paragraphs>97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经文：腓1章1至11节 </vt:lpstr>
      <vt:lpstr>背景：</vt:lpstr>
      <vt:lpstr>地理：保罗第二次宣教旅程地图</vt:lpstr>
      <vt:lpstr>地理：保罗第三次宣教旅程地图</vt:lpstr>
      <vt:lpstr>地理：腓立比地理位置：伊格那丟大道</vt:lpstr>
      <vt:lpstr>目的：</vt:lpstr>
      <vt:lpstr>内容：</vt:lpstr>
      <vt:lpstr>特点：</vt:lpstr>
      <vt:lpstr>大纲：</vt:lpstr>
      <vt:lpstr>分段：</vt:lpstr>
      <vt:lpstr>第一段：1~2节（问候）</vt:lpstr>
      <vt:lpstr>第二段：3~8节（感恩）</vt:lpstr>
      <vt:lpstr>第三段：9~11节（祷告）</vt:lpstr>
      <vt:lpstr>应用思考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 强</cp:lastModifiedBy>
  <cp:revision>900</cp:revision>
  <dcterms:created xsi:type="dcterms:W3CDTF">2010-05-23T14:28:12Z</dcterms:created>
  <dcterms:modified xsi:type="dcterms:W3CDTF">2021-07-03T17:21:19Z</dcterms:modified>
</cp:coreProperties>
</file>