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539" r:id="rId2"/>
    <p:sldId id="413" r:id="rId3"/>
    <p:sldId id="425" r:id="rId4"/>
    <p:sldId id="427" r:id="rId5"/>
    <p:sldId id="530" r:id="rId6"/>
    <p:sldId id="531" r:id="rId7"/>
    <p:sldId id="541" r:id="rId8"/>
    <p:sldId id="540" r:id="rId9"/>
    <p:sldId id="542" r:id="rId10"/>
    <p:sldId id="538" r:id="rId11"/>
    <p:sldId id="54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A76"/>
    <a:srgbClr val="633D06"/>
    <a:srgbClr val="FCFEFE"/>
    <a:srgbClr val="FFFFFF"/>
    <a:srgbClr val="00205D"/>
    <a:srgbClr val="C90909"/>
    <a:srgbClr val="272520"/>
    <a:srgbClr val="203E80"/>
    <a:srgbClr val="F1F1F1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1A0CF-0695-45CF-9B46-F8D273B9A088}" v="113" dt="2022-10-30T06:19:58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3" autoAdjust="0"/>
    <p:restoredTop sz="89515" autoAdjust="0"/>
  </p:normalViewPr>
  <p:slideViewPr>
    <p:cSldViewPr snapToGrid="0">
      <p:cViewPr varScale="1">
        <p:scale>
          <a:sx n="59" d="100"/>
          <a:sy n="59" d="100"/>
        </p:scale>
        <p:origin x="204" y="64"/>
      </p:cViewPr>
      <p:guideLst>
        <p:guide orient="horz" pos="2115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2022/10/30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因为一个会议有了喜庆的互联网，而我们拥有基督的生命将应该是一个什么喜乐的生命呢？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9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2022/10/30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5.jpe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453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喜庆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41823A5-2A76-9987-924D-EEB534DA8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69" y="865188"/>
            <a:ext cx="51435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FC41835-55B1-02B4-EAC9-D1066737A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238" y="4272139"/>
            <a:ext cx="5704762" cy="14142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6C2D18E-13A5-E500-3121-8618289D4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0890" y="4272139"/>
            <a:ext cx="5359872" cy="14142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F0F3C9-8939-E16D-F1EB-3E44A09C0F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0890" y="1401602"/>
            <a:ext cx="5143500" cy="12819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724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8" y="4908434"/>
            <a:ext cx="4613737" cy="509883"/>
          </a:xfrm>
          <a:prstGeom prst="rect">
            <a:avLst/>
          </a:prstGeom>
          <a:solidFill>
            <a:srgbClr val="1A3A76">
              <a:alpha val="29000"/>
            </a:srgbClr>
          </a:solidFill>
          <a:ln w="41275" cmpd="sng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424430" lvl="0" indent="-2424430" algn="l">
              <a:lnSpc>
                <a:spcPct val="120000"/>
              </a:lnSpc>
              <a:buClrTx/>
              <a:buSzTx/>
              <a:buFontTx/>
              <a:defRPr sz="2500">
                <a:solidFill>
                  <a:srgbClr val="FFFFFF"/>
                </a:solidFill>
              </a:defRPr>
            </a:pP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经文：腓立比书二章</a:t>
            </a: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12~18</a:t>
            </a: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节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285644" y="2052839"/>
            <a:ext cx="4264025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algn="ctr">
              <a:lnSpc>
                <a:spcPct val="100000"/>
              </a:lnSpc>
            </a:pPr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明光照耀</a:t>
            </a:r>
            <a:endParaRPr lang="en-US" altLang="zh-CN" sz="5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之</a:t>
            </a:r>
            <a:endParaRPr lang="en-US" altLang="zh-CN" sz="2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喜乐</a:t>
            </a: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7755226" y="4358524"/>
            <a:ext cx="3324860" cy="36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cs typeface="+mn-ea"/>
                <a:sym typeface="+mn-lt"/>
              </a:rPr>
              <a:t>2022</a:t>
            </a:r>
            <a:r>
              <a:rPr lang="zh-CN" altLang="en-US" sz="2000" dirty="0">
                <a:cs typeface="+mn-ea"/>
                <a:sym typeface="+mn-lt"/>
              </a:rPr>
              <a:t>年</a:t>
            </a:r>
            <a:r>
              <a:rPr lang="en-US" altLang="zh-CN" sz="2000" dirty="0">
                <a:cs typeface="+mn-ea"/>
                <a:sym typeface="+mn-lt"/>
              </a:rPr>
              <a:t>10</a:t>
            </a:r>
            <a:r>
              <a:rPr lang="zh-CN" altLang="en-US" sz="2000" dirty="0">
                <a:cs typeface="+mn-ea"/>
                <a:sym typeface="+mn-lt"/>
              </a:rPr>
              <a:t>月</a:t>
            </a:r>
            <a:r>
              <a:rPr lang="en-US" altLang="zh-CN" sz="2000" dirty="0">
                <a:cs typeface="+mn-ea"/>
                <a:sym typeface="+mn-lt"/>
              </a:rPr>
              <a:t>25</a:t>
            </a:r>
            <a:r>
              <a:rPr lang="zh-CN" altLang="en-US" sz="2000" dirty="0">
                <a:cs typeface="+mn-ea"/>
                <a:sym typeface="+mn-lt"/>
              </a:rPr>
              <a:t>日</a:t>
            </a:r>
            <a:endParaRPr lang="en-US" altLang="zh-CN" sz="2000" dirty="0"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5" y="29399"/>
            <a:ext cx="1436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 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85381"/>
            <a:ext cx="10611752" cy="26288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latin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40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腓立比书</a:t>
            </a: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】</a:t>
            </a:r>
            <a:r>
              <a:rPr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二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章</a:t>
            </a:r>
            <a:r>
              <a:rPr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12~18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节（</a:t>
            </a: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17~18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）</a:t>
            </a: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17 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我以你们的信心为供献的祭物，我若被浇奠在其上，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    也是喜乐，并且与你们众人一同喜乐；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18 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你们也要照样喜乐，并且与我一同喜乐。</a:t>
            </a:r>
            <a:endParaRPr lang="zh-CN" altLang="en-US" sz="36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39760"/>
            <a:ext cx="1453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内容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0926617" cy="27139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献祭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你们的信心为供献的祭物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我若被浇奠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喜乐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也是喜乐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与你们众人一同喜乐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38472" y="34836"/>
            <a:ext cx="4656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献祭资格是什么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36942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旧约：祭牲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……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所献的必纯全无残疾的，才蒙悦纳。 （利</a:t>
            </a: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22:21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）</a:t>
            </a:r>
            <a:endParaRPr lang="en-US" altLang="zh-CN" sz="20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新约：基督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因着爱基督为我们被钉十字架。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罗</a:t>
            </a: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5:8】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惟有基督在我们还作罪人的时候为我们死，　神的爱就在此向我们显明了。</a:t>
            </a:r>
            <a:endParaRPr lang="en-US" altLang="zh-CN" sz="20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弗</a:t>
            </a: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5:25】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你们作丈夫的，要爱你们的妻子，正如基督爱教会，为教会舍己。</a:t>
            </a:r>
            <a:endParaRPr lang="en-US" altLang="zh-CN" sz="20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因着神加给我们的爱，我们愿意把自己完全奉献给神。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罗</a:t>
            </a: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12:1】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所以弟兄们，我以　神的慈悲劝你们，将身体献上，当作活祭，是圣洁的，是　神所喜悦的，你们如此侍奉，乃是理所当然的。</a:t>
            </a:r>
            <a:endParaRPr lang="en-US" altLang="zh-CN" sz="20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494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36823" y="26127"/>
            <a:ext cx="3347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祭物的特点 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6048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五种祭物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燔祭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"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但燔祭的脏腑与腿，要用水洗，祭司就要把一切全烧在坛上，当作燔祭，献与耶和华为馨香的火祭。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" 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（利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1:9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素祭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“……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烧在坛上，是献与耶和华为馨香的火祭。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" 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（利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2:2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平安祭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"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亚伦的子孙要把这些烧在坛的燔祭上，就是在火的柴上，是献与耶和华为馨香的火祭。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"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（利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3:5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赎愆祭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"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与平安祭公牛上所取的一样。祭司要把这些烧在燔祭的坛上。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"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（利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4:10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赎罪祭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"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并要因所犯的罪，把他的赎愆祭牲，就是羊群中的母羊，或是一只羊羔，或是一只山羊，牵到耶和华面前为赎罪祭。至于他的罪，祭司要为他赎了。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"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（利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5:6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特点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流血、死、顺服、最好、代赎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36823" y="26127"/>
            <a:ext cx="3347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祭物是什么 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889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腓立比信心：信神的心（主祭）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信神所做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来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12:2】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仰望为我们信心创始成终的耶稣。他因那摆在前面的喜乐，就轻看羞辱，忍受了十字架的苦难，便坐在　神宝座的右边。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信神所说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14:6】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耶稣说：“我就是道路、真理、生命；若不藉着我，没有人能到父那里去。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基督是依靠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基督是主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4:12】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除他以外，别无拯救。因为在天下人间，没有赐下别的名，我们可以靠着得救。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“……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基督是他们的主，也是我们的主。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" 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（林前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1:2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保罗：奠祭（辅祭）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出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29:40】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和这一只羊羔同献的，要用细面伊法十分之一与捣成的油一欣四分之一调和，又用酒一欣四分之一作为奠祭。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提后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4:6 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我现在被浇奠，我离世的时候到了。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657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5661" y="34836"/>
            <a:ext cx="1487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喜乐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659710" cy="36778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人的快乐（“喜乐”）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满足、暂时、变动、愤恨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嫉妒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四个喜乐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也是喜乐，并且与你们众人一同喜乐；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你们也要照样喜乐，并且与我一同喜乐。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保罗的喜乐（基督的国益处）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-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众人的喜乐（祭物得着供献）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基督的喜乐（永远国的喜乐）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935D83-F092-98EE-6E15-D41716FF2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074" y="3709851"/>
            <a:ext cx="4685926" cy="31481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44641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5661" y="34836"/>
            <a:ext cx="1487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喜乐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659710" cy="40661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在基督里的喜乐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活祭（目标）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1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罗</a:t>
            </a:r>
            <a:r>
              <a:rPr lang="en-US" altLang="zh-CN" sz="1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12:1】</a:t>
            </a:r>
            <a:r>
              <a:rPr lang="zh-CN" altLang="en-US" sz="1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所以弟兄们，我以　神的慈悲劝你们，将身体献上，当作活祭，是圣洁的，是　神所喜悦的，你们如此侍奉，乃是理所当然的。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真道上长进（过程）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1:25】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我既然这样深信，就知道仍要住在世间，且与你们众人同住，使你们在所信的道上又长进、又喜乐。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西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1:10】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好叫你们行事为人对得起主，凡事蒙他喜悦，在一切善事上结果子，渐渐地多知道　神，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对未来有盼望（结果）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我们的盼望和喜乐并所夸的冠冕是什么呢？岂不是我们主耶稣来的时候，你们在他面前站立得住吗？ （帖前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2:19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遵守神的命令（行动）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要常常喜乐， （帖前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5:16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不住地祷告， （帖前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5:17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凡事谢恩，因为这是　神在基督耶稣里向你们所定的旨意。 （帖前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5:18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2827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74390" y="222885"/>
            <a:ext cx="6362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讨论问题</a:t>
            </a:r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0" y="1298490"/>
            <a:ext cx="9442383" cy="3834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腓立比教会众圣徒供献信心为祭物，你供献给神的是什么呢？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自我评估喜乐吗？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     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如果不喜乐，那你认为原因是什么？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     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如果喜乐的，那你喜乐原因是</a:t>
            </a:r>
            <a:r>
              <a:rPr lang="zh-CN" altLang="en-US" sz="240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什么？</a:t>
            </a:r>
            <a:endParaRPr lang="zh-CN" altLang="en-US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3767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>
                <a:latin typeface="+mj-lt"/>
                <a:ea typeface="+mj-ea"/>
                <a:cs typeface="+mj-cs"/>
                <a:sym typeface="+mn-lt"/>
              </a:rPr>
              <a:t>通知事项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A7DC7A-F62A-C82F-4C4A-093C24A42EAA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，恭喜圣道班毕业弟兄姊妹。</a:t>
            </a:r>
            <a:endParaRPr lang="en-US" altLang="zh-CN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altLang="zh-CN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/>
              <a:t>2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200" dirty="0"/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4B0E9B98-F760-EC9E-2F1A-6DB7749963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99" b="-2"/>
          <a:stretch/>
        </p:blipFill>
        <p:spPr>
          <a:xfrm>
            <a:off x="850691" y="3386872"/>
            <a:ext cx="3053498" cy="3044271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0" y="1298490"/>
            <a:ext cx="9442383" cy="3834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5C980482-988A-E0D3-9638-D1B5F3A03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69" y="2702010"/>
            <a:ext cx="5076825" cy="28575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0845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730"/>
  <p:tag name="KSO_WM_FULL_TEXT_BEAUTIFY_COPY_ID" val="15099538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730"/>
  <p:tag name="KSO_WM_FULL_TEXT_BEAUTIFY_COPY_ID" val="15099538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2595</TotalTime>
  <Words>1080</Words>
  <Application>Microsoft Office PowerPoint</Application>
  <PresentationFormat>宽屏</PresentationFormat>
  <Paragraphs>102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 强</cp:lastModifiedBy>
  <cp:revision>369</cp:revision>
  <dcterms:created xsi:type="dcterms:W3CDTF">2019-06-19T02:08:00Z</dcterms:created>
  <dcterms:modified xsi:type="dcterms:W3CDTF">2022-10-30T06:34:49Z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