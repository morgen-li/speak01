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560" r:id="rId2"/>
    <p:sldId id="425" r:id="rId3"/>
    <p:sldId id="531" r:id="rId4"/>
    <p:sldId id="562" r:id="rId5"/>
    <p:sldId id="538" r:id="rId6"/>
    <p:sldId id="554" r:id="rId7"/>
    <p:sldId id="553" r:id="rId8"/>
    <p:sldId id="563" r:id="rId9"/>
    <p:sldId id="564" r:id="rId10"/>
    <p:sldId id="565" r:id="rId11"/>
    <p:sldId id="567" r:id="rId12"/>
    <p:sldId id="568" r:id="rId13"/>
    <p:sldId id="566" r:id="rId14"/>
    <p:sldId id="569" r:id="rId15"/>
    <p:sldId id="572" r:id="rId16"/>
    <p:sldId id="570" r:id="rId17"/>
    <p:sldId id="543" r:id="rId18"/>
    <p:sldId id="55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AF1FA3-A15C-4469-BA9D-AFFCB1926A56}" v="968" dt="2023-07-29T05:07:29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96" y="84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A81FBC-F055-4CF8-9F99-BEA867858D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E742C01D-4FF8-4074-AEB3-7EA0CB7B7AE3}">
      <dgm:prSet/>
      <dgm:spPr>
        <a:noFill/>
        <a:ln>
          <a:solidFill>
            <a:srgbClr val="7030A0"/>
          </a:solidFill>
        </a:ln>
      </dgm:spPr>
      <dgm:t>
        <a:bodyPr/>
        <a:lstStyle/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en-US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2:25】</a:t>
          </a:r>
          <a:r>
            <a:rPr lang="zh-CN" altLang="en-US" dirty="0">
              <a:solidFill>
                <a:schemeClr val="tx1"/>
              </a:solidFill>
            </a:rPr>
            <a:t>然而，我想必须打发以巴弗提到你们那里去。他是我的兄弟，与我一同作工、一同当兵，是你们所差遣的，也是供给我需用的。</a:t>
          </a:r>
          <a:endParaRPr lang="zh-CN" dirty="0">
            <a:solidFill>
              <a:schemeClr val="tx1"/>
            </a:solidFill>
          </a:endParaRPr>
        </a:p>
      </dgm:t>
    </dgm:pt>
    <dgm:pt modelId="{47D3505E-4402-497B-8DE8-586DFC075491}" type="par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37181C65-89AB-47D1-B1FA-3745A4223A1D}" type="sibTrans" cxnId="{018024E2-4DB2-4639-A730-6D9C2EB05117}">
      <dgm:prSet/>
      <dgm:spPr/>
      <dgm:t>
        <a:bodyPr/>
        <a:lstStyle/>
        <a:p>
          <a:endParaRPr lang="zh-CN" altLang="en-US"/>
        </a:p>
      </dgm:t>
    </dgm:pt>
    <dgm:pt modelId="{CD7CCBCF-2713-44D8-88C2-C50CF181AF36}">
      <dgm:prSet/>
      <dgm:spPr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en-US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2:26】</a:t>
          </a:r>
          <a:r>
            <a:rPr lang="zh-CN" altLang="en-US" dirty="0">
              <a:solidFill>
                <a:schemeClr val="tx1"/>
              </a:solidFill>
            </a:rPr>
            <a:t>他很想念你们众人，并且极其难过，因为你们听见他病了。</a:t>
          </a:r>
        </a:p>
        <a:p>
          <a:r>
            <a:rPr lang="en-US" altLang="zh-CN" dirty="0">
              <a:solidFill>
                <a:schemeClr val="tx1"/>
              </a:solidFill>
            </a:rPr>
            <a:t>【</a:t>
          </a:r>
          <a:r>
            <a:rPr lang="zh-CN" altLang="en-US" dirty="0">
              <a:solidFill>
                <a:schemeClr val="tx1"/>
              </a:solidFill>
            </a:rPr>
            <a:t>腓</a:t>
          </a:r>
          <a:r>
            <a:rPr lang="en-US" altLang="zh-CN" dirty="0">
              <a:solidFill>
                <a:schemeClr val="tx1"/>
              </a:solidFill>
            </a:rPr>
            <a:t>2:27】</a:t>
          </a:r>
          <a:r>
            <a:rPr lang="zh-CN" altLang="en-US" dirty="0">
              <a:solidFill>
                <a:schemeClr val="tx1"/>
              </a:solidFill>
            </a:rPr>
            <a:t>他实在是病了，几乎要死，然而　神怜恤他，不但怜恤他，也怜恤我，免得我忧上加忧。</a:t>
          </a:r>
          <a:endParaRPr lang="zh-CN" dirty="0">
            <a:solidFill>
              <a:schemeClr val="tx1"/>
            </a:solidFill>
          </a:endParaRPr>
        </a:p>
      </dgm:t>
    </dgm:pt>
    <dgm:pt modelId="{EB2FD9AC-C52C-47FC-9E41-A85CCA563560}" type="par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288FCE0F-63B7-4B19-B87B-0B46D59F1C5C}" type="sibTrans" cxnId="{B59DE30C-14F0-4EE0-A560-8E54B146FD08}">
      <dgm:prSet/>
      <dgm:spPr/>
      <dgm:t>
        <a:bodyPr/>
        <a:lstStyle/>
        <a:p>
          <a:endParaRPr lang="zh-CN" altLang="en-US"/>
        </a:p>
      </dgm:t>
    </dgm:pt>
    <dgm:pt modelId="{E2985E0C-3FFC-49D5-9D68-DE8B2019882F}">
      <dgm:prSet custT="1"/>
      <dgm:spPr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gm:spPr>
      <dgm:t>
        <a:bodyPr spcFirstLastPara="0" vert="horz" wrap="square" lIns="87630" tIns="87630" rIns="87630" bIns="87630" numCol="1" spcCol="1270" anchor="ctr" anchorCtr="0"/>
        <a:lstStyle/>
        <a:p>
          <a:r>
            <a:rPr lang="en-US" altLang="zh-CN" sz="1800" kern="1200" dirty="0">
              <a:solidFill>
                <a:schemeClr val="tx1"/>
              </a:solidFill>
            </a:rPr>
            <a:t>【</a:t>
          </a:r>
          <a:r>
            <a:rPr lang="zh-CN" altLang="en-US" sz="1800" kern="1200" dirty="0">
              <a:solidFill>
                <a:schemeClr val="tx1"/>
              </a:solidFill>
            </a:rPr>
            <a:t>腓</a:t>
          </a:r>
          <a:r>
            <a:rPr lang="en-US" altLang="zh-CN" sz="1800" kern="1200" dirty="0">
              <a:solidFill>
                <a:schemeClr val="tx1"/>
              </a:solidFill>
            </a:rPr>
            <a:t>2:28】</a:t>
          </a:r>
          <a:r>
            <a:rPr lang="zh-CN" altLang="en-US" sz="1800" kern="1200" dirty="0">
              <a:solidFill>
                <a:schemeClr val="tx1"/>
              </a:solidFill>
            </a:rPr>
            <a:t>所以我越发急速打发他去，叫你们再见他，就可以喜乐，我也可以少些忧愁。</a:t>
          </a:r>
        </a:p>
        <a:p>
          <a:r>
            <a:rPr lang="en-US" altLang="zh-CN" sz="1800" kern="1200" dirty="0">
              <a:solidFill>
                <a:schemeClr val="tx1"/>
              </a:solidFill>
            </a:rPr>
            <a:t>【</a:t>
          </a:r>
          <a:r>
            <a:rPr lang="zh-CN" altLang="en-US" sz="1800" kern="1200" dirty="0">
              <a:solidFill>
                <a:schemeClr val="tx1"/>
              </a:solidFill>
            </a:rPr>
            <a:t>腓</a:t>
          </a:r>
          <a:r>
            <a:rPr lang="en-US" altLang="zh-CN" sz="1800" kern="1200" dirty="0">
              <a:solidFill>
                <a:schemeClr val="tx1"/>
              </a:solidFill>
            </a:rPr>
            <a:t>2:29】</a:t>
          </a:r>
          <a:r>
            <a:rPr lang="zh-CN" altLang="en-US" sz="1800" kern="1200" dirty="0">
              <a:solidFill>
                <a:schemeClr val="tx1"/>
              </a:solidFill>
            </a:rPr>
            <a:t>故此，你们要在主里欢欢乐乐地接待他，而且要尊重这样的人，</a:t>
          </a:r>
        </a:p>
        <a:p>
          <a:r>
            <a:rPr lang="en-US" altLang="zh-CN" sz="1800" kern="1200" dirty="0">
              <a:solidFill>
                <a:schemeClr val="tx1"/>
              </a:solidFill>
            </a:rPr>
            <a:t>【</a:t>
          </a:r>
          <a:r>
            <a:rPr lang="zh-CN" altLang="en-US" sz="1800" kern="1200" dirty="0">
              <a:solidFill>
                <a:schemeClr val="tx1"/>
              </a:solidFill>
            </a:rPr>
            <a:t>腓</a:t>
          </a:r>
          <a:r>
            <a:rPr lang="en-US" altLang="zh-CN" sz="1800" kern="1200" dirty="0">
              <a:solidFill>
                <a:schemeClr val="tx1"/>
              </a:solidFill>
            </a:rPr>
            <a:t>2:30】</a:t>
          </a:r>
          <a:r>
            <a:rPr lang="zh-CN" altLang="en-US" sz="1800" kern="1200" dirty="0">
              <a:solidFill>
                <a:schemeClr val="tx1"/>
              </a:solidFill>
            </a:rPr>
            <a:t>因他为作基督的工夫，几乎至死，不顾性命，要补足你们供给我的不及之处。</a:t>
          </a:r>
          <a:endParaRPr lang="zh-CN" sz="1800" kern="1200" dirty="0">
            <a:solidFill>
              <a:schemeClr val="tx1"/>
            </a:solidFill>
          </a:endParaRPr>
        </a:p>
      </dgm:t>
    </dgm:pt>
    <dgm:pt modelId="{384DFEF6-C449-4334-BEE7-426449E80E79}" type="par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36E762D2-B0CC-482C-9599-920BA04D4C52}" type="sibTrans" cxnId="{A10AF7AE-830D-41A9-902C-CE5968C4E6F0}">
      <dgm:prSet/>
      <dgm:spPr/>
      <dgm:t>
        <a:bodyPr/>
        <a:lstStyle/>
        <a:p>
          <a:endParaRPr lang="zh-CN" altLang="en-US"/>
        </a:p>
      </dgm:t>
    </dgm:pt>
    <dgm:pt modelId="{F2141AC8-A486-4288-B085-DB43533E438F}" type="pres">
      <dgm:prSet presAssocID="{66A81FBC-F055-4CF8-9F99-BEA867858D8C}" presName="linear" presStyleCnt="0">
        <dgm:presLayoutVars>
          <dgm:animLvl val="lvl"/>
          <dgm:resizeHandles val="exact"/>
        </dgm:presLayoutVars>
      </dgm:prSet>
      <dgm:spPr/>
    </dgm:pt>
    <dgm:pt modelId="{390D3555-4096-426E-9F81-111950E9479E}" type="pres">
      <dgm:prSet presAssocID="{E742C01D-4FF8-4074-AEB3-7EA0CB7B7AE3}" presName="parentText" presStyleLbl="node1" presStyleIdx="0" presStyleCnt="3" custScaleY="37309">
        <dgm:presLayoutVars>
          <dgm:chMax val="0"/>
          <dgm:bulletEnabled val="1"/>
        </dgm:presLayoutVars>
      </dgm:prSet>
      <dgm:spPr/>
    </dgm:pt>
    <dgm:pt modelId="{507730E8-3E7F-4CAB-B355-EBC692B574F3}" type="pres">
      <dgm:prSet presAssocID="{37181C65-89AB-47D1-B1FA-3745A4223A1D}" presName="spacer" presStyleCnt="0"/>
      <dgm:spPr/>
    </dgm:pt>
    <dgm:pt modelId="{0D6B1CC5-01FB-498C-BA20-9C78C70B8E95}" type="pres">
      <dgm:prSet presAssocID="{CD7CCBCF-2713-44D8-88C2-C50CF181AF36}" presName="parentText" presStyleLbl="node1" presStyleIdx="1" presStyleCnt="3" custScaleY="51424">
        <dgm:presLayoutVars>
          <dgm:chMax val="0"/>
          <dgm:bulletEnabled val="1"/>
        </dgm:presLayoutVars>
      </dgm:prSet>
      <dgm:spPr>
        <a:xfrm>
          <a:off x="0" y="1049333"/>
          <a:ext cx="12192001" cy="2316600"/>
        </a:xfrm>
        <a:prstGeom prst="roundRect">
          <a:avLst/>
        </a:prstGeom>
      </dgm:spPr>
    </dgm:pt>
    <dgm:pt modelId="{12AB3BF3-D919-4463-9838-0A7EBD7A9E35}" type="pres">
      <dgm:prSet presAssocID="{288FCE0F-63B7-4B19-B87B-0B46D59F1C5C}" presName="spacer" presStyleCnt="0"/>
      <dgm:spPr/>
    </dgm:pt>
    <dgm:pt modelId="{CEE5ED75-26E9-4403-BDCA-3E72321A9ADE}" type="pres">
      <dgm:prSet presAssocID="{E2985E0C-3FFC-49D5-9D68-DE8B2019882F}" presName="parentText" presStyleLbl="node1" presStyleIdx="2" presStyleCnt="3" custScaleY="63773">
        <dgm:presLayoutVars>
          <dgm:chMax val="0"/>
          <dgm:bulletEnabled val="1"/>
        </dgm:presLayoutVars>
      </dgm:prSet>
      <dgm:spPr>
        <a:xfrm>
          <a:off x="0" y="3435053"/>
          <a:ext cx="12192001" cy="1477365"/>
        </a:xfrm>
        <a:prstGeom prst="roundRect">
          <a:avLst/>
        </a:prstGeom>
      </dgm:spPr>
    </dgm:pt>
  </dgm:ptLst>
  <dgm:cxnLst>
    <dgm:cxn modelId="{C3C57002-D234-4817-BE1B-7775FBD04558}" type="presOf" srcId="{66A81FBC-F055-4CF8-9F99-BEA867858D8C}" destId="{F2141AC8-A486-4288-B085-DB43533E438F}" srcOrd="0" destOrd="0" presId="urn:microsoft.com/office/officeart/2005/8/layout/vList2"/>
    <dgm:cxn modelId="{B59DE30C-14F0-4EE0-A560-8E54B146FD08}" srcId="{66A81FBC-F055-4CF8-9F99-BEA867858D8C}" destId="{CD7CCBCF-2713-44D8-88C2-C50CF181AF36}" srcOrd="1" destOrd="0" parTransId="{EB2FD9AC-C52C-47FC-9E41-A85CCA563560}" sibTransId="{288FCE0F-63B7-4B19-B87B-0B46D59F1C5C}"/>
    <dgm:cxn modelId="{0AC90865-79B6-416C-92D5-2C30496BFFD9}" type="presOf" srcId="{CD7CCBCF-2713-44D8-88C2-C50CF181AF36}" destId="{0D6B1CC5-01FB-498C-BA20-9C78C70B8E95}" srcOrd="0" destOrd="0" presId="urn:microsoft.com/office/officeart/2005/8/layout/vList2"/>
    <dgm:cxn modelId="{A10AF7AE-830D-41A9-902C-CE5968C4E6F0}" srcId="{66A81FBC-F055-4CF8-9F99-BEA867858D8C}" destId="{E2985E0C-3FFC-49D5-9D68-DE8B2019882F}" srcOrd="2" destOrd="0" parTransId="{384DFEF6-C449-4334-BEE7-426449E80E79}" sibTransId="{36E762D2-B0CC-482C-9599-920BA04D4C52}"/>
    <dgm:cxn modelId="{93C27EDF-F78C-47CB-AE72-BB02A86173DF}" type="presOf" srcId="{E742C01D-4FF8-4074-AEB3-7EA0CB7B7AE3}" destId="{390D3555-4096-426E-9F81-111950E9479E}" srcOrd="0" destOrd="0" presId="urn:microsoft.com/office/officeart/2005/8/layout/vList2"/>
    <dgm:cxn modelId="{018024E2-4DB2-4639-A730-6D9C2EB05117}" srcId="{66A81FBC-F055-4CF8-9F99-BEA867858D8C}" destId="{E742C01D-4FF8-4074-AEB3-7EA0CB7B7AE3}" srcOrd="0" destOrd="0" parTransId="{47D3505E-4402-497B-8DE8-586DFC075491}" sibTransId="{37181C65-89AB-47D1-B1FA-3745A4223A1D}"/>
    <dgm:cxn modelId="{000B3BF8-CAB3-44FF-8436-F2BBA21511B0}" type="presOf" srcId="{E2985E0C-3FFC-49D5-9D68-DE8B2019882F}" destId="{CEE5ED75-26E9-4403-BDCA-3E72321A9ADE}" srcOrd="0" destOrd="0" presId="urn:microsoft.com/office/officeart/2005/8/layout/vList2"/>
    <dgm:cxn modelId="{FC456D06-542F-4483-8E96-F03BE8C02D62}" type="presParOf" srcId="{F2141AC8-A486-4288-B085-DB43533E438F}" destId="{390D3555-4096-426E-9F81-111950E9479E}" srcOrd="0" destOrd="0" presId="urn:microsoft.com/office/officeart/2005/8/layout/vList2"/>
    <dgm:cxn modelId="{09354AC9-0431-413F-B9D0-0152EF6B4892}" type="presParOf" srcId="{F2141AC8-A486-4288-B085-DB43533E438F}" destId="{507730E8-3E7F-4CAB-B355-EBC692B574F3}" srcOrd="1" destOrd="0" presId="urn:microsoft.com/office/officeart/2005/8/layout/vList2"/>
    <dgm:cxn modelId="{95369591-45FC-4A5A-9013-E599EE9BC5CB}" type="presParOf" srcId="{F2141AC8-A486-4288-B085-DB43533E438F}" destId="{0D6B1CC5-01FB-498C-BA20-9C78C70B8E95}" srcOrd="2" destOrd="0" presId="urn:microsoft.com/office/officeart/2005/8/layout/vList2"/>
    <dgm:cxn modelId="{E9D279A7-8D35-4BE2-BB70-0F394D7C0F7C}" type="presParOf" srcId="{F2141AC8-A486-4288-B085-DB43533E438F}" destId="{12AB3BF3-D919-4463-9838-0A7EBD7A9E35}" srcOrd="3" destOrd="0" presId="urn:microsoft.com/office/officeart/2005/8/layout/vList2"/>
    <dgm:cxn modelId="{AB34C1DE-C22D-4BF8-802D-4859D73DADD0}" type="presParOf" srcId="{F2141AC8-A486-4288-B085-DB43533E438F}" destId="{CEE5ED75-26E9-4403-BDCA-3E72321A9AD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0D3555-4096-426E-9F81-111950E9479E}">
      <dsp:nvSpPr>
        <dsp:cNvPr id="0" name=""/>
        <dsp:cNvSpPr/>
      </dsp:nvSpPr>
      <dsp:spPr>
        <a:xfrm>
          <a:off x="0" y="460553"/>
          <a:ext cx="12192001" cy="962516"/>
        </a:xfrm>
        <a:prstGeom prst="roundRect">
          <a:avLst/>
        </a:pr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>
              <a:solidFill>
                <a:schemeClr val="tx1"/>
              </a:solidFill>
            </a:rPr>
            <a:t>【</a:t>
          </a:r>
          <a:r>
            <a:rPr lang="zh-CN" altLang="en-US" sz="1700" kern="1200" dirty="0">
              <a:solidFill>
                <a:schemeClr val="tx1"/>
              </a:solidFill>
            </a:rPr>
            <a:t>腓</a:t>
          </a:r>
          <a:r>
            <a:rPr lang="en-US" altLang="zh-CN" sz="1700" kern="1200" dirty="0">
              <a:solidFill>
                <a:schemeClr val="tx1"/>
              </a:solidFill>
            </a:rPr>
            <a:t>2:25】</a:t>
          </a:r>
          <a:r>
            <a:rPr lang="zh-CN" altLang="en-US" sz="1700" kern="1200" dirty="0">
              <a:solidFill>
                <a:schemeClr val="tx1"/>
              </a:solidFill>
            </a:rPr>
            <a:t>然而，我想必须打发以巴弗提到你们那里去。他是我的兄弟，与我一同作工、一同当兵，是你们所差遣的，也是供给我需用的。</a:t>
          </a:r>
          <a:endParaRPr lang="zh-CN" sz="1700" kern="1200" dirty="0">
            <a:solidFill>
              <a:schemeClr val="tx1"/>
            </a:solidFill>
          </a:endParaRPr>
        </a:p>
      </dsp:txBody>
      <dsp:txXfrm>
        <a:off x="46986" y="507539"/>
        <a:ext cx="12098029" cy="868544"/>
      </dsp:txXfrm>
    </dsp:sp>
    <dsp:sp modelId="{0D6B1CC5-01FB-498C-BA20-9C78C70B8E95}">
      <dsp:nvSpPr>
        <dsp:cNvPr id="0" name=""/>
        <dsp:cNvSpPr/>
      </dsp:nvSpPr>
      <dsp:spPr>
        <a:xfrm>
          <a:off x="0" y="1509469"/>
          <a:ext cx="12192001" cy="1326662"/>
        </a:xfrm>
        <a:prstGeom prst="roundRect">
          <a:avLst/>
        </a:prstGeom>
        <a:noFill/>
        <a:ln w="1270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>
              <a:solidFill>
                <a:schemeClr val="tx1"/>
              </a:solidFill>
            </a:rPr>
            <a:t>【</a:t>
          </a:r>
          <a:r>
            <a:rPr lang="zh-CN" altLang="en-US" sz="1700" kern="1200" dirty="0">
              <a:solidFill>
                <a:schemeClr val="tx1"/>
              </a:solidFill>
            </a:rPr>
            <a:t>腓</a:t>
          </a:r>
          <a:r>
            <a:rPr lang="en-US" altLang="zh-CN" sz="1700" kern="1200" dirty="0">
              <a:solidFill>
                <a:schemeClr val="tx1"/>
              </a:solidFill>
            </a:rPr>
            <a:t>2:26】</a:t>
          </a:r>
          <a:r>
            <a:rPr lang="zh-CN" altLang="en-US" sz="1700" kern="1200" dirty="0">
              <a:solidFill>
                <a:schemeClr val="tx1"/>
              </a:solidFill>
            </a:rPr>
            <a:t>他很想念你们众人，并且极其难过，因为你们听见他病了。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700" kern="1200" dirty="0">
              <a:solidFill>
                <a:schemeClr val="tx1"/>
              </a:solidFill>
            </a:rPr>
            <a:t>【</a:t>
          </a:r>
          <a:r>
            <a:rPr lang="zh-CN" altLang="en-US" sz="1700" kern="1200" dirty="0">
              <a:solidFill>
                <a:schemeClr val="tx1"/>
              </a:solidFill>
            </a:rPr>
            <a:t>腓</a:t>
          </a:r>
          <a:r>
            <a:rPr lang="en-US" altLang="zh-CN" sz="1700" kern="1200" dirty="0">
              <a:solidFill>
                <a:schemeClr val="tx1"/>
              </a:solidFill>
            </a:rPr>
            <a:t>2:27】</a:t>
          </a:r>
          <a:r>
            <a:rPr lang="zh-CN" altLang="en-US" sz="1700" kern="1200" dirty="0">
              <a:solidFill>
                <a:schemeClr val="tx1"/>
              </a:solidFill>
            </a:rPr>
            <a:t>他实在是病了，几乎要死，然而　神怜恤他，不但怜恤他，也怜恤我，免得我忧上加忧。</a:t>
          </a:r>
          <a:endParaRPr lang="zh-CN" sz="1700" kern="1200" dirty="0">
            <a:solidFill>
              <a:schemeClr val="tx1"/>
            </a:solidFill>
          </a:endParaRPr>
        </a:p>
      </dsp:txBody>
      <dsp:txXfrm>
        <a:off x="64762" y="1574231"/>
        <a:ext cx="12062477" cy="1197138"/>
      </dsp:txXfrm>
    </dsp:sp>
    <dsp:sp modelId="{CEE5ED75-26E9-4403-BDCA-3E72321A9ADE}">
      <dsp:nvSpPr>
        <dsp:cNvPr id="0" name=""/>
        <dsp:cNvSpPr/>
      </dsp:nvSpPr>
      <dsp:spPr>
        <a:xfrm>
          <a:off x="0" y="2922531"/>
          <a:ext cx="12192001" cy="1645247"/>
        </a:xfrm>
        <a:prstGeom prst="roundRect">
          <a:avLst/>
        </a:pr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solidFill>
                <a:schemeClr val="tx1"/>
              </a:solidFill>
            </a:rPr>
            <a:t>【</a:t>
          </a:r>
          <a:r>
            <a:rPr lang="zh-CN" altLang="en-US" sz="1800" kern="1200" dirty="0">
              <a:solidFill>
                <a:schemeClr val="tx1"/>
              </a:solidFill>
            </a:rPr>
            <a:t>腓</a:t>
          </a:r>
          <a:r>
            <a:rPr lang="en-US" altLang="zh-CN" sz="1800" kern="1200" dirty="0">
              <a:solidFill>
                <a:schemeClr val="tx1"/>
              </a:solidFill>
            </a:rPr>
            <a:t>2:28】</a:t>
          </a:r>
          <a:r>
            <a:rPr lang="zh-CN" altLang="en-US" sz="1800" kern="1200" dirty="0">
              <a:solidFill>
                <a:schemeClr val="tx1"/>
              </a:solidFill>
            </a:rPr>
            <a:t>所以我越发急速打发他去，叫你们再见他，就可以喜乐，我也可以少些忧愁。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solidFill>
                <a:schemeClr val="tx1"/>
              </a:solidFill>
            </a:rPr>
            <a:t>【</a:t>
          </a:r>
          <a:r>
            <a:rPr lang="zh-CN" altLang="en-US" sz="1800" kern="1200" dirty="0">
              <a:solidFill>
                <a:schemeClr val="tx1"/>
              </a:solidFill>
            </a:rPr>
            <a:t>腓</a:t>
          </a:r>
          <a:r>
            <a:rPr lang="en-US" altLang="zh-CN" sz="1800" kern="1200" dirty="0">
              <a:solidFill>
                <a:schemeClr val="tx1"/>
              </a:solidFill>
            </a:rPr>
            <a:t>2:29】</a:t>
          </a:r>
          <a:r>
            <a:rPr lang="zh-CN" altLang="en-US" sz="1800" kern="1200" dirty="0">
              <a:solidFill>
                <a:schemeClr val="tx1"/>
              </a:solidFill>
            </a:rPr>
            <a:t>故此，你们要在主里欢欢乐乐地接待他，而且要尊重这样的人，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solidFill>
                <a:schemeClr val="tx1"/>
              </a:solidFill>
            </a:rPr>
            <a:t>【</a:t>
          </a:r>
          <a:r>
            <a:rPr lang="zh-CN" altLang="en-US" sz="1800" kern="1200" dirty="0">
              <a:solidFill>
                <a:schemeClr val="tx1"/>
              </a:solidFill>
            </a:rPr>
            <a:t>腓</a:t>
          </a:r>
          <a:r>
            <a:rPr lang="en-US" altLang="zh-CN" sz="1800" kern="1200" dirty="0">
              <a:solidFill>
                <a:schemeClr val="tx1"/>
              </a:solidFill>
            </a:rPr>
            <a:t>2:30】</a:t>
          </a:r>
          <a:r>
            <a:rPr lang="zh-CN" altLang="en-US" sz="1800" kern="1200" dirty="0">
              <a:solidFill>
                <a:schemeClr val="tx1"/>
              </a:solidFill>
            </a:rPr>
            <a:t>因他为作基督的工夫，几乎至死，不顾性命，要补足你们供给我的不及之处。</a:t>
          </a:r>
          <a:endParaRPr lang="zh-CN" sz="1800" kern="1200" dirty="0">
            <a:solidFill>
              <a:schemeClr val="tx1"/>
            </a:solidFill>
          </a:endParaRPr>
        </a:p>
      </dsp:txBody>
      <dsp:txXfrm>
        <a:off x="80314" y="3002845"/>
        <a:ext cx="12031373" cy="1484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2023/7/30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2.emf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经文：腓立比书二章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25~30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285644" y="2052839"/>
            <a:ext cx="4264025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奋力做工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腓二</a:t>
            </a:r>
            <a:r>
              <a:rPr lang="en-US" altLang="zh-CN" sz="4800" b="1" dirty="0"/>
              <a:t>25~30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AB369E9-7320-DE30-3AFD-31DAAE2045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4005360"/>
              </p:ext>
            </p:extLst>
          </p:nvPr>
        </p:nvGraphicFramePr>
        <p:xfrm>
          <a:off x="0" y="1108398"/>
          <a:ext cx="12192001" cy="5028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547"/>
            <a:ext cx="12192000" cy="6256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提摩太目前还不能去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所以我一看出我的事要怎样了结，就盼望立刻打发他去；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保罗定意打发他回去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保罗自己必须要做的决定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2:25】……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我想必须打发以巴弗提到你们那里去。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保罗对以巴弗提服侍肯定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2:25】……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一同当兵，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保罗对腓立比教会的嘱咐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在主里欢喜接待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尊重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再次肯定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2:30】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因他为作基督的工夫，几乎至死，不顾性命，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对比：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提摩太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vs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以巴弗提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547"/>
            <a:ext cx="12192000" cy="55915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提摩太：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同心、求耶稣基督的事、明证、兴旺福音、与我同劳、儿子待父亲。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以巴弗提：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我的兄弟、一同做工、一同当兵、你们差遣、供给我所需用的、想念你们、作基督工夫、几乎至死、不顾性命、补给不足。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在主里欢喜接待、尊重。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被描述：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身份。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做工。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供给。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被对待：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提摩太：没有提及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以巴弗提：接待、尊重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374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010400" y="227964"/>
            <a:ext cx="48686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核心：爱</a:t>
            </a:r>
          </a:p>
        </p:txBody>
      </p:sp>
      <p:sp>
        <p:nvSpPr>
          <p:cNvPr id="7" name="内容占位符 2"/>
          <p:cNvSpPr txBox="1">
            <a:spLocks noChangeArrowheads="1"/>
          </p:cNvSpPr>
          <p:nvPr/>
        </p:nvSpPr>
        <p:spPr>
          <a:xfrm>
            <a:off x="0" y="1298490"/>
            <a:ext cx="9442383" cy="38341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240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endParaRPr lang="en-US" altLang="zh-CN" sz="2400">
              <a:latin typeface="苹方-简" panose="020B0300000000000000" pitchFamily="34" charset="-122"/>
              <a:ea typeface="苹方-简" panose="020B0300000000000000" pitchFamily="34" charset="-122"/>
              <a:cs typeface="+mn-ea"/>
              <a:sym typeface="+mn-lt"/>
            </a:endParaRPr>
          </a:p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80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1D11B1-F81B-5AD9-700F-83EB1E222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80" y="1057909"/>
            <a:ext cx="4776019" cy="555212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74C94C-C872-3511-AC0D-EF2D20228CEF}"/>
              </a:ext>
            </a:extLst>
          </p:cNvPr>
          <p:cNvSpPr txBox="1"/>
          <p:nvPr/>
        </p:nvSpPr>
        <p:spPr>
          <a:xfrm>
            <a:off x="5767426" y="14734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腓</a:t>
            </a:r>
            <a:r>
              <a:rPr lang="en-US" altLang="zh-CN" dirty="0"/>
              <a:t>2:8】</a:t>
            </a:r>
            <a:r>
              <a:rPr lang="zh-CN" altLang="en-US" dirty="0"/>
              <a:t>既有人的样子，就自己卑微，存心顺服，以至于死，且死在十字架上。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EBD347-AA64-7E7D-C74C-CCE8BEC72C54}"/>
              </a:ext>
            </a:extLst>
          </p:cNvPr>
          <p:cNvSpPr txBox="1"/>
          <p:nvPr/>
        </p:nvSpPr>
        <p:spPr>
          <a:xfrm>
            <a:off x="5806755" y="23603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【腓1:8】我体会基督耶稣的心肠，切切地想念你们众人，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E28507-476B-B402-EFD7-BD3D8747D1C7}"/>
              </a:ext>
            </a:extLst>
          </p:cNvPr>
          <p:cNvSpPr txBox="1"/>
          <p:nvPr/>
        </p:nvSpPr>
        <p:spPr>
          <a:xfrm>
            <a:off x="5806755" y="330304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【腓1:18】这有何妨呢？或是假意，或是真心，无论怎样，基督究竟被传开了。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601F49-CE28-55CB-BA42-69838FC73280}"/>
              </a:ext>
            </a:extLst>
          </p:cNvPr>
          <p:cNvSpPr txBox="1"/>
          <p:nvPr/>
        </p:nvSpPr>
        <p:spPr>
          <a:xfrm>
            <a:off x="5806755" y="438426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【腓2:25】然而，我想必须打发以巴弗提到你们那里去。</a:t>
            </a:r>
            <a:endParaRPr lang="en-US" altLang="zh-CN" dirty="0"/>
          </a:p>
          <a:p>
            <a:r>
              <a:rPr lang="zh-CN" altLang="en-US" dirty="0"/>
              <a:t>【腓2:29】故此，你们要在主里欢欢乐乐地接待他，而且要尊重这样的人，</a:t>
            </a:r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767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7" y="2486342"/>
            <a:ext cx="5819775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第一段：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25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保罗的决定。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第二段：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27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原因。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第三段：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28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29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30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如何对待其。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729318" y="1166183"/>
            <a:ext cx="7462683" cy="1122560"/>
            <a:chOff x="0" y="460553"/>
            <a:chExt cx="12192001" cy="962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0" y="460553"/>
              <a:ext cx="12192001" cy="962516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46986" y="507539"/>
              <a:ext cx="12098029" cy="8685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2:25】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然而，我想必须打发以巴弗提到你们那里去。</a:t>
              </a:r>
              <a:endParaRPr lang="en-US" altLang="zh-CN" sz="1600" kern="1200" dirty="0">
                <a:solidFill>
                  <a:schemeClr val="tx1"/>
                </a:solidFill>
              </a:endParaRPr>
            </a:p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kern="1200" dirty="0">
                  <a:solidFill>
                    <a:schemeClr val="tx1"/>
                  </a:solidFill>
                </a:rPr>
                <a:t>他是我的兄弟，与我一同作工、一同当兵，是你们所差遣的，也是供给我需用的。</a:t>
              </a:r>
              <a:endParaRPr lang="zh-CN" sz="16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729318" y="2424303"/>
            <a:ext cx="7462683" cy="1526072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3" y="1574231"/>
              <a:ext cx="12062477" cy="119713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2:26】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他很想念你们众人，并且极其难过，因为你们听见他病了。</a:t>
              </a:r>
            </a:p>
            <a:p>
              <a:pPr marL="0" lvl="0" indent="0" algn="l" defTabSz="75565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2:27】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他实在是病了，几乎要死，然而　神怜恤他，不但怜恤他，也怜恤我，免得我忧上加忧。</a:t>
              </a:r>
              <a:endParaRPr lang="zh-CN" sz="160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729318" y="4145800"/>
            <a:ext cx="7462683" cy="2402484"/>
            <a:chOff x="0" y="2922531"/>
            <a:chExt cx="12192001" cy="164524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0" y="2922531"/>
              <a:ext cx="12192001" cy="1645247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80314" y="3002845"/>
              <a:ext cx="12031373" cy="14846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2:28】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所以我越发急速打发他去，叫你们再见他，就可以喜乐，我也可以少些忧愁。</a:t>
              </a:r>
            </a:p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2:29】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故此，你们要在主里欢欢乐乐地接待他，而且要尊重这样的人，</a:t>
              </a:r>
            </a:p>
            <a:p>
              <a:pPr marL="0" lvl="0" indent="0" algn="l" defTabSz="800100">
                <a:lnSpc>
                  <a:spcPct val="15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kern="1200" dirty="0">
                  <a:solidFill>
                    <a:schemeClr val="tx1"/>
                  </a:solidFill>
                </a:rPr>
                <a:t>【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腓</a:t>
              </a:r>
              <a:r>
                <a:rPr lang="en-US" altLang="zh-CN" sz="1600" kern="1200" dirty="0">
                  <a:solidFill>
                    <a:schemeClr val="tx1"/>
                  </a:solidFill>
                </a:rPr>
                <a:t>2:30】</a:t>
              </a:r>
              <a:r>
                <a:rPr lang="zh-CN" altLang="en-US" sz="1600" kern="1200" dirty="0">
                  <a:solidFill>
                    <a:schemeClr val="tx1"/>
                  </a:solidFill>
                </a:rPr>
                <a:t>因他为作基督的工夫，几乎至死，不顾性命，要补足你们供给我的不及之处。</a:t>
              </a:r>
              <a:endParaRPr lang="zh-CN" sz="1600" kern="1200" dirty="0">
                <a:solidFill>
                  <a:schemeClr val="tx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第一段：决定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7920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然而，我想必须打发以巴弗提到你们那里去。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他是我的兄弟，与我一同作工、一同当兵，是你们所差遣的，也是供给我需用的。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“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必须</a:t>
            </a: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”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保罗的决定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不得不做的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非常重要的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益处：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为以巴弗提的益处（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：想念你们）。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为腓立比教会的益处（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28a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：就可以喜乐）。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为保罗的益处（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28b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：少些忧虑）。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第一段：决定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4653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然而，我想必须打发以巴弗提到你们那里去。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他是我的兄弟，与我一同作工、一同当兵，是你们所差遣的，也是供给我需用的。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以巴弗提描述：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以巴弗提和保罗的关系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“我的弟兄”（重要同工的称呼），关系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在基督里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亲密关系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同甘共苦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“与我一同做工”，工作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同心合意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方向一致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彼此帮扶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“一同当兵”，（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30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节强调）态度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听从、顺从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放下自己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勇敢、不顾性命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51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第一段：决定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5"/>
            <a:ext cx="12192000" cy="51216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然而，我想必须打发以巴弗提到你们那里去。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他是我的兄弟，与我一同作工、一同当兵，是你们所差遣的，也是供给我需用的。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以巴弗提描述：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以巴弗提和腓立比教会的关系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“你们所差遣的”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对腓立比教会的肯定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对腓立比教会的感谢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服侍上完成教会托付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“供给我需用的”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从物质上感谢腓立比教会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从财物上完成教会的托付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总结：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以巴弗提的服侍告一段落，保罗对其的肯定和感谢。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195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第二段：原因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7"/>
            <a:ext cx="12192000" cy="53801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他很想念你们众人，并且极其难过，因为你们听见他病了。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2:27】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他实在是病了，几乎要死，然而　神怜恤他，不但怜恤他，也怜恤我，免得我忧上加忧。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想念</a:t>
            </a: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难过</a:t>
            </a: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病了：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“一直”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（未翻译出来）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表示持续状态：想念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难过。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“想念”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因爱而思，对象：腓立比教会所有的弟兄姊妹。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“难过”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原因：腓立比弟兄姊妹知道他病了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担心：自己不能完成教会对他托付（服侍没有正向益处或者拖累了事工等等）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程度：重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26:37】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于是带着彼得和西庇太的两个儿子同去，就忧愁起来，极其难过，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“病了”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原因：未提及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程度：几乎要死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效法：基督的顺服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895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第二段：原因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7"/>
            <a:ext cx="12192000" cy="58233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2:26】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他很想念你们众人，并且极其难过，因为你们听见他病了。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2:27】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他实在是病了，几乎要死，然而　神怜恤他，不但怜恤他，也怜恤我，免得我忧上加忧。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病了</a:t>
            </a: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怜悯</a:t>
            </a:r>
            <a:r>
              <a:rPr lang="en-US" altLang="zh-CN" b="1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忧：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“病了”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结果：痊愈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“然而”是一个反转词，表示状态与之前反转。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“怜恤”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反复：强调神的怜恤，表达保罗的担忧。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主权：神的主权，祈求神的怜恤和恩典。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徒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28:8】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当时，部百流的父亲患热病和痢疾躺着。保罗进去为他祷告，按手在他身上，治好了他。</a:t>
            </a: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5:23】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因你胃口不清，屡次患病，再不要照常喝水，可以稍微用点酒。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提后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4:20】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以拉都在哥林多住下了。特罗非摩病了，我就留他在米利都。</a:t>
            </a:r>
            <a:endParaRPr lang="en-US" altLang="zh-CN" sz="1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林后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为这事，我三次求过主，叫这刺离开我。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“忧上加忧”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不是：保罗自己的处境的忧愁。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“忧上”：以巴弗提生病而让保罗因爱而有的忧愁。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“加忧”：保罗担心因生病而致死的忧愁。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6022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55598" y="1138036"/>
            <a:ext cx="559820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zh-CN" altLang="en-US" sz="32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545395-AC25-66C9-5BB7-B74CB411F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22" y="961162"/>
            <a:ext cx="4365438" cy="5074821"/>
          </a:xfrm>
          <a:prstGeom prst="rect">
            <a:avLst/>
          </a:prstGeom>
        </p:spPr>
      </p:pic>
      <p:cxnSp>
        <p:nvCxnSpPr>
          <p:cNvPr id="41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8738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755598" y="1936956"/>
            <a:ext cx="5444382" cy="4205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ym typeface="+mn-lt"/>
              </a:rPr>
              <a:t>【</a:t>
            </a:r>
            <a:r>
              <a:rPr lang="zh-CN" altLang="en-US" sz="2000" dirty="0">
                <a:sym typeface="+mn-lt"/>
              </a:rPr>
              <a:t>腓</a:t>
            </a:r>
            <a:r>
              <a:rPr lang="en-US" altLang="zh-CN" sz="2000" dirty="0">
                <a:sym typeface="+mn-lt"/>
              </a:rPr>
              <a:t>2:26】</a:t>
            </a:r>
            <a:r>
              <a:rPr lang="zh-CN" altLang="en-US" sz="2000" dirty="0">
                <a:sym typeface="+mn-lt"/>
              </a:rPr>
              <a:t>他很想念你们众人，并且极其难过，因为你们听见他病了。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ym typeface="+mn-lt"/>
              </a:rPr>
              <a:t>【</a:t>
            </a:r>
            <a:r>
              <a:rPr lang="zh-CN" altLang="en-US" sz="2000" dirty="0">
                <a:sym typeface="+mn-lt"/>
              </a:rPr>
              <a:t>腓</a:t>
            </a:r>
            <a:r>
              <a:rPr lang="en-US" altLang="zh-CN" sz="2000" dirty="0">
                <a:sym typeface="+mn-lt"/>
              </a:rPr>
              <a:t>2:27】</a:t>
            </a:r>
            <a:r>
              <a:rPr lang="zh-CN" altLang="en-US" sz="2000" dirty="0">
                <a:sym typeface="+mn-lt"/>
              </a:rPr>
              <a:t>他实在是病了，几乎要死，然而　神怜恤他，不但怜恤他，也怜恤我，免得我忧上加忧。</a:t>
            </a:r>
            <a:endParaRPr lang="en-US" altLang="zh-CN" sz="2000" dirty="0"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ym typeface="+mn-lt"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b="1" dirty="0">
                <a:sym typeface="+mn-lt"/>
              </a:rPr>
              <a:t>总结</a:t>
            </a:r>
            <a:endParaRPr lang="en-US" altLang="zh-CN" sz="2000" b="1" dirty="0">
              <a:sym typeface="+mn-lt"/>
            </a:endParaRPr>
          </a:p>
          <a:p>
            <a:pPr marL="8001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ym typeface="+mn-lt"/>
              </a:rPr>
              <a:t>爱</a:t>
            </a:r>
            <a:endParaRPr lang="en-US" altLang="zh-CN" sz="2000" dirty="0"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335C20-388B-F120-9503-2E05FBEE532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第二段：原因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33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第三段：嘱咐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5"/>
            <a:ext cx="12192000" cy="2178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2:28】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所以我越发急速打发他去，叫你们再见他，就可以喜乐，我也可以少些忧愁。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2:29】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故此，你们要在主里欢欢乐乐地接待他，而且要尊重这样的人，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2:30】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因他为作基督的工夫，几乎至死，不顾性命，要补足你们供给我的不及之处。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对腓立比教会的要求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再强调以巴弗提服侍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7047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第三段：嘱咐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5"/>
            <a:ext cx="12192000" cy="58233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2:28】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所以我越发急速打发他去，叫你们再见他，就可以喜乐，我也可以少些忧愁。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2:29】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故此，你们要在主里欢欢乐乐地接待他，而且要尊重这样的人，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2:30】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因他为作基督的工夫，几乎至死，不顾性命，要补足你们供给我的不及之处。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目的：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“所以”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前面原因总结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“急速”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保罗因爱不耽延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“打发”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相互可以喜乐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以巴弗提再见腓立比教会众弟兄姊妹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腓立比教会得知以巴弗提病已得医治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保罗少些忧愁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保罗对以巴弗提的爱导致忧愁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以巴弗提痊愈让保罗少些挂虑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不是憎嫌而是在基督真实的爱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6849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第三段：嘱咐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5"/>
            <a:ext cx="12192000" cy="51698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2:28】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所以我越发急速打发他去，叫你们再见他，就可以喜乐，我也可以少些忧愁。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cs typeface="+mn-ea"/>
                <a:sym typeface="+mn-lt"/>
              </a:rPr>
              <a:t>【</a:t>
            </a:r>
            <a:r>
              <a:rPr lang="zh-CN" altLang="en-US" sz="2000" dirty="0">
                <a:cs typeface="+mn-ea"/>
                <a:sym typeface="+mn-lt"/>
              </a:rPr>
              <a:t>腓</a:t>
            </a:r>
            <a:r>
              <a:rPr lang="en-US" altLang="zh-CN" sz="2000" dirty="0">
                <a:cs typeface="+mn-ea"/>
                <a:sym typeface="+mn-lt"/>
              </a:rPr>
              <a:t>2:29】</a:t>
            </a:r>
            <a:r>
              <a:rPr lang="zh-CN" altLang="en-US" sz="2000" dirty="0">
                <a:cs typeface="+mn-ea"/>
                <a:sym typeface="+mn-lt"/>
              </a:rPr>
              <a:t>故此，你们要在主里欢欢乐乐地接待他，而且要尊重这样的人，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2:30】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因他为作基督的工夫，几乎至死，不顾性命，要补足你们供给我的不及之处。</a:t>
            </a:r>
            <a:endParaRPr lang="en-US" altLang="zh-CN" sz="2000" dirty="0">
              <a:solidFill>
                <a:schemeClr val="bg1">
                  <a:lumMod val="75000"/>
                </a:schemeClr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嘱咐：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“在主里”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（合乎圣徒的体统）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不以果效待人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基督的爱待人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爱是持久不变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“欢欢乐乐接待”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看到神在他身上的恩典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相信神对每个人的掌管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“尊重”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（看为宝贵）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因他为神工作看为宝贵。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不以果效看待人的工作。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以他所配得的敬重对待。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3116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第三段：嘱咐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45"/>
            <a:ext cx="12192000" cy="55022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2:28】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所以我越发急速打发他去，叫你们再见他，就可以喜乐，我也可以少些忧愁。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2:29】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cs typeface="+mn-ea"/>
                <a:sym typeface="+mn-lt"/>
              </a:rPr>
              <a:t>故此，你们要在主里欢欢乐乐地接待他，而且要尊重这样的人，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2:30】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因他为作基督的工夫，几乎至死，不顾性命，要补足你们供给我的不及之处。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00000"/>
                </a:solidFill>
                <a:cs typeface="+mn-ea"/>
                <a:sym typeface="+mn-lt"/>
              </a:rPr>
              <a:t>对以巴弗提再次肯定：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基督的工夫即基督的工作。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不是为自己，乃是为基督，如</a:t>
            </a:r>
            <a:r>
              <a:rPr lang="zh-CN" altLang="en-US" dirty="0">
                <a:solidFill>
                  <a:srgbClr val="000000"/>
                </a:solidFill>
                <a:cs typeface="+mn-ea"/>
              </a:rPr>
              <a:t>戴德生“不是为中国，是为基督”。</a:t>
            </a:r>
            <a:endParaRPr lang="en-US" altLang="zh-CN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共同效法的榜样：几乎至死，不顾性命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既有人的样子，就自己卑微，存心顺服，以至于死，且死在十字架上。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以巴弗提：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在病中，努力做基督的工作。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714500" lvl="3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在病中，冒着病死的危险，仍然完成教会的托付（腓立比教会的托付：财物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&amp;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人力） 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要补足你们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不及之处。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要表达了以巴弗提做工的目的：补足。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补足原文是“补满”，不是不足，而是多而又多。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原意：冒着生命的危险来到这里，替你们（腓立比教会众弟兄姊妹）来服侍我。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2047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02024" y="1844463"/>
            <a:ext cx="11689976" cy="21782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“爱”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所涉及各方对彼此的爱，对神、教会、以巴弗提、保罗。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“一同当兵”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表达是顺服和执行。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“不顾性命”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表达是做工的程度。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4. 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“效法基督”</a:t>
            </a: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是所有人学习榜样。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腓二章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5~11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节。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06231" y="2297308"/>
            <a:ext cx="11190200" cy="161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说出不少于三个以巴弗提服侍的特点是什么？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2.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保罗差遣以巴弗提回腓立比的内在、外在原因是什么？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 sz="28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2800" dirty="0">
                <a:solidFill>
                  <a:srgbClr val="000000"/>
                </a:solidFill>
                <a:cs typeface="+mn-ea"/>
                <a:sym typeface="+mn-lt"/>
              </a:rPr>
              <a:t>现在我们个人在哪些方面可以效法以巴弗提的服侍？</a:t>
            </a:r>
            <a:endParaRPr lang="en-US" altLang="zh-CN" sz="28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730"/>
  <p:tag name="KSO_WM_FULL_TEXT_BEAUTIFY_COPY_ID" val="15099538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</TotalTime>
  <Words>2311</Words>
  <Application>Microsoft Office PowerPoint</Application>
  <PresentationFormat>宽屏</PresentationFormat>
  <Paragraphs>208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3</cp:revision>
  <dcterms:created xsi:type="dcterms:W3CDTF">2019-06-19T02:08:00Z</dcterms:created>
  <dcterms:modified xsi:type="dcterms:W3CDTF">2023-07-29T22:36:49Z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