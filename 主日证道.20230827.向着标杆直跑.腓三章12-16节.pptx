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73" r:id="rId2"/>
    <p:sldId id="560" r:id="rId3"/>
    <p:sldId id="425" r:id="rId4"/>
    <p:sldId id="554" r:id="rId5"/>
    <p:sldId id="531" r:id="rId6"/>
    <p:sldId id="553" r:id="rId7"/>
    <p:sldId id="574" r:id="rId8"/>
    <p:sldId id="575" r:id="rId9"/>
    <p:sldId id="563" r:id="rId10"/>
    <p:sldId id="577" r:id="rId11"/>
    <p:sldId id="578" r:id="rId12"/>
    <p:sldId id="579" r:id="rId13"/>
    <p:sldId id="580" r:id="rId14"/>
    <p:sldId id="581" r:id="rId15"/>
    <p:sldId id="583" r:id="rId16"/>
    <p:sldId id="582" r:id="rId17"/>
    <p:sldId id="584" r:id="rId18"/>
    <p:sldId id="585" r:id="rId19"/>
    <p:sldId id="586" r:id="rId20"/>
    <p:sldId id="543" r:id="rId21"/>
    <p:sldId id="55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C375D-313A-463B-9367-FB4EBD5D56AE}" v="949" dt="2023-08-26T22:43:00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3:12】</a:t>
          </a:r>
          <a:r>
            <a:rPr lang="zh-CN" altLang="zh-CN" dirty="0">
              <a:solidFill>
                <a:schemeClr val="tx1"/>
              </a:solidFill>
            </a:rPr>
            <a:t>这不是说我已经得着了，已经完全了，我乃是竭力追求，或者可以得着基督耶稣所以得着我的（“所以得着我的”或作“所要我得的”）。</a:t>
          </a:r>
          <a:endParaRPr lang="zh-CN" dirty="0">
            <a:solidFill>
              <a:schemeClr val="tx1"/>
            </a:solidFill>
          </a:endParaRP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3:13】</a:t>
          </a:r>
          <a:r>
            <a:rPr lang="zh-CN" altLang="zh-CN" dirty="0">
              <a:solidFill>
                <a:schemeClr val="tx1"/>
              </a:solidFill>
            </a:rPr>
            <a:t>弟兄们，我不是以为自己已经得着了，我只有一件事，就是忘记背后，努力面前的，</a:t>
          </a:r>
        </a:p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zh-CN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3:14】</a:t>
          </a:r>
          <a:r>
            <a:rPr lang="zh-CN" altLang="zh-CN" dirty="0">
              <a:solidFill>
                <a:schemeClr val="tx1"/>
              </a:solidFill>
            </a:rPr>
            <a:t>向着标竿直跑，要得　神在基督耶稣里从上面召我来得的奖赏。</a:t>
          </a:r>
          <a:endParaRPr lang="zh-CN" dirty="0">
            <a:solidFill>
              <a:schemeClr val="tx1"/>
            </a:solidFill>
          </a:endParaRP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3:15】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所以我们中间凡是完全人，总要存这样的心；若在什么事上存别样的心，　神也必以此指示你们。</a:t>
          </a:r>
        </a:p>
        <a:p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3:16】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然而我们到了什么地步，就当照着什么地步行。</a:t>
          </a:r>
          <a:endParaRPr lang="zh-CN" sz="21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 custScaleY="51424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11554"/>
          <a:ext cx="12192001" cy="1183611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3:12】</a:t>
          </a:r>
          <a:r>
            <a:rPr lang="zh-CN" altLang="zh-CN" sz="2100" kern="1200" dirty="0">
              <a:solidFill>
                <a:schemeClr val="tx1"/>
              </a:solidFill>
            </a:rPr>
            <a:t>这不是说我已经得着了，已经完全了，我乃是竭力追求，或者可以得着基督耶稣所以得着我的（“所以得着我的”或作“所要我得的”）。</a:t>
          </a:r>
          <a:endParaRPr lang="zh-CN" sz="2100" kern="1200" dirty="0">
            <a:solidFill>
              <a:schemeClr val="tx1"/>
            </a:solidFill>
          </a:endParaRPr>
        </a:p>
      </dsp:txBody>
      <dsp:txXfrm>
        <a:off x="57779" y="69333"/>
        <a:ext cx="12076443" cy="1068053"/>
      </dsp:txXfrm>
    </dsp:sp>
    <dsp:sp modelId="{0D6B1CC5-01FB-498C-BA20-9C78C70B8E95}">
      <dsp:nvSpPr>
        <dsp:cNvPr id="0" name=""/>
        <dsp:cNvSpPr/>
      </dsp:nvSpPr>
      <dsp:spPr>
        <a:xfrm>
          <a:off x="0" y="1278685"/>
          <a:ext cx="12192001" cy="1631403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3:13】</a:t>
          </a:r>
          <a:r>
            <a:rPr lang="zh-CN" altLang="zh-CN" sz="2100" kern="1200" dirty="0">
              <a:solidFill>
                <a:schemeClr val="tx1"/>
              </a:solidFill>
            </a:rPr>
            <a:t>弟兄们，我不是以为自己已经得着了，我只有一件事，就是忘记背后，努力面前的，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chemeClr val="tx1"/>
              </a:solidFill>
            </a:rPr>
            <a:t>【</a:t>
          </a:r>
          <a:r>
            <a:rPr lang="zh-CN" altLang="zh-CN" sz="2100" kern="1200" dirty="0">
              <a:solidFill>
                <a:schemeClr val="tx1"/>
              </a:solidFill>
            </a:rPr>
            <a:t>腓</a:t>
          </a:r>
          <a:r>
            <a:rPr lang="en-US" altLang="zh-CN" sz="2100" kern="1200" dirty="0">
              <a:solidFill>
                <a:schemeClr val="tx1"/>
              </a:solidFill>
            </a:rPr>
            <a:t>3:14】</a:t>
          </a:r>
          <a:r>
            <a:rPr lang="zh-CN" altLang="zh-CN" sz="2100" kern="1200" dirty="0">
              <a:solidFill>
                <a:schemeClr val="tx1"/>
              </a:solidFill>
            </a:rPr>
            <a:t>向着标竿直跑，要得　神在基督耶稣里从上面召我来得的奖赏。</a:t>
          </a:r>
          <a:endParaRPr lang="zh-CN" sz="2100" kern="1200" dirty="0">
            <a:solidFill>
              <a:schemeClr val="tx1"/>
            </a:solidFill>
          </a:endParaRPr>
        </a:p>
      </dsp:txBody>
      <dsp:txXfrm>
        <a:off x="79639" y="1358324"/>
        <a:ext cx="12032723" cy="1472125"/>
      </dsp:txXfrm>
    </dsp:sp>
    <dsp:sp modelId="{CEE5ED75-26E9-4403-BDCA-3E72321A9ADE}">
      <dsp:nvSpPr>
        <dsp:cNvPr id="0" name=""/>
        <dsp:cNvSpPr/>
      </dsp:nvSpPr>
      <dsp:spPr>
        <a:xfrm>
          <a:off x="0" y="2993608"/>
          <a:ext cx="12192001" cy="2023169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3:15】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所以我们中间凡是完全人，总要存这样的心；若在什么事上存别样的心，　神也必以此指示你们。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【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腓</a:t>
          </a:r>
          <a:r>
            <a:rPr lang="en-US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3:16】</a:t>
          </a:r>
          <a:r>
            <a:rPr lang="zh-CN" altLang="zh-CN" sz="2100" kern="1200" dirty="0">
              <a:solidFill>
                <a:srgbClr val="000000"/>
              </a:solidFill>
              <a:latin typeface="Arial"/>
              <a:ea typeface="苹方-简"/>
              <a:cs typeface="+mn-cs"/>
            </a:rPr>
            <a:t>然而我们到了什么地步，就当照着什么地步行。</a:t>
          </a:r>
          <a:endParaRPr lang="zh-CN" sz="2100" kern="1200" dirty="0">
            <a:solidFill>
              <a:srgbClr val="000000"/>
            </a:solidFill>
            <a:latin typeface="Arial"/>
            <a:ea typeface="苹方-简"/>
            <a:cs typeface="+mn-cs"/>
          </a:endParaRPr>
        </a:p>
      </dsp:txBody>
      <dsp:txXfrm>
        <a:off x="98763" y="3092371"/>
        <a:ext cx="11994475" cy="1825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2023/8/27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46020" y="137962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片区：撒玛利亚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53850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地理位置：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回龙观（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新于庄园（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靠近天通苑（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片区传道：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李强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13641232012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四个小组：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巴拿巴小组（在回龙观），组长：郑新，聚会：上午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罗以小组（新于庄园），组长：王玉芳，聚会：上午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吕底亚小组（新于庄园），组长：尚素娟，聚会：下午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撒迦利亚小组（天通苑附近），组长：杨永红，聚会：下午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930A95-A326-32C9-622E-E700B82B4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612" y="1228947"/>
            <a:ext cx="6264538" cy="31863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286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12~16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向着标杆直跑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12~16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4848418"/>
              </p:ext>
            </p:extLst>
          </p:nvPr>
        </p:nvGraphicFramePr>
        <p:xfrm>
          <a:off x="0" y="1108398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节，竭力追求。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13~14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节，向着标杆直跑。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第三段：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15~16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节，照信心而行。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729318" y="1166183"/>
            <a:ext cx="7462683" cy="1122560"/>
            <a:chOff x="0" y="460553"/>
            <a:chExt cx="12192001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0" y="460553"/>
              <a:ext cx="12192001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46986" y="507539"/>
              <a:ext cx="12098029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3:12】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这不是说我已经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着了，已经完全了，我乃是竭力追求，或者可以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着基督耶稣所以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着我的（“所以得着我的”或作“所要我得的”）。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729318" y="2424303"/>
            <a:ext cx="7462683" cy="1526072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3" y="1574231"/>
              <a:ext cx="12062477" cy="11971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3:13】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弟兄们，我不是以为自己已经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着了，</a:t>
              </a:r>
              <a:endParaRPr lang="en-US" altLang="zh-CN" sz="1600" kern="1200" dirty="0">
                <a:solidFill>
                  <a:schemeClr val="tx1"/>
                </a:solidFill>
              </a:endParaRP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dirty="0">
                  <a:solidFill>
                    <a:schemeClr val="tx1"/>
                  </a:solidFill>
                </a:rPr>
                <a:t>	    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我只有一件事，就是忘记背后，努力面前的，</a:t>
              </a: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3:14】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向着标竿直跑，要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　神在基督耶稣里从上面召我来</a:t>
              </a:r>
              <a:r>
                <a:rPr lang="zh-CN" altLang="en-US" sz="1600" b="1" kern="1200" dirty="0">
                  <a:solidFill>
                    <a:srgbClr val="FF0000"/>
                  </a:solidFill>
                </a:rPr>
                <a:t>得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的奖赏。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729318" y="4145800"/>
            <a:ext cx="7462683" cy="1667374"/>
            <a:chOff x="0" y="2922531"/>
            <a:chExt cx="12192001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0" y="2922531"/>
              <a:ext cx="12192001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80314" y="3002845"/>
              <a:ext cx="12031373" cy="14846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3:15】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所以我们中间凡是完全人，总要存这样的心；</a:t>
              </a:r>
              <a:endParaRPr lang="en-US" altLang="zh-CN" sz="1600" kern="1200" dirty="0">
                <a:solidFill>
                  <a:schemeClr val="tx1"/>
                </a:solidFill>
              </a:endParaRP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dirty="0">
                  <a:solidFill>
                    <a:schemeClr val="tx1"/>
                  </a:solidFill>
                </a:rPr>
                <a:t>	   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若在什么事上存别样的心，　神也必以此指示你们。</a:t>
              </a: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3:16】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然而我们到了什么地步，就当照着什么地步行。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50200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1~6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节：得义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对于异端责备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强调不是靠人的肉体（如身份、行为、律法）得救。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8~11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节：追求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保罗现在所追求的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认识基督至宝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为要得着基督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因信基督得义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基督复活大能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和祂一同受苦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效法基督的死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我也死里复活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125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上文提及要得着什么？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与基督联合，有义者地位（已经完成的事实）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认识基督复活大能（持续过程）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有份于基督十字架（持续过程）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一同受苦并且受死（持续过程）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最终得从死里复活（将来要实现的）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得着（目标）：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完全地得着基督或者与基督相交达到完全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与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基督完全的联合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完全活像基督：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心思如基督、意念如基督，想基督所想、行基督所行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完全以基督为自己的主，凡事第一反应即基督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得着不是奖赏，而是神的恩典。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49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追求（原文：逼迫、追逐猎物）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态度：竭力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不是要压倒别人，而是为了尽力达到自己的目标。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或者可以得着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表示一种可能，而非必然。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我们要做的是努力得，结果在神的手中，表达保罗对神的信。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得着我的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过去式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a typeface="苹方-简" panose="020B0300000000000000" pitchFamily="34" charset="-122"/>
              </a:rPr>
              <a:t>徒</a:t>
            </a:r>
            <a:r>
              <a:rPr lang="en-US" altLang="zh-CN" sz="1600" dirty="0">
                <a:ea typeface="苹方-简" panose="020B0300000000000000" pitchFamily="34" charset="-122"/>
              </a:rPr>
              <a:t>26:18】</a:t>
            </a:r>
            <a:r>
              <a:rPr lang="zh-CN" altLang="en-US" sz="1600" dirty="0">
                <a:ea typeface="苹方-简" panose="020B0300000000000000" pitchFamily="34" charset="-122"/>
              </a:rPr>
              <a:t>我差你到他们那里去，要叫他们的眼睛得开，从黑暗中归向光明，从撒但权下归向　神；又因信我，得蒙赦罪，和一切成圣的人同得基业。’”</a:t>
            </a:r>
            <a:endParaRPr lang="en-US" altLang="zh-CN" sz="1600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耶</a:t>
            </a:r>
            <a:r>
              <a:rPr lang="en-US" altLang="zh-CN" sz="1600" dirty="0">
                <a:effectLst/>
                <a:ea typeface="苹方-简" panose="020B0300000000000000" pitchFamily="34" charset="-122"/>
              </a:rPr>
              <a:t>1:7】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耶和华对我说：“你不要说‘我是年幼的’，因为我差遣你到谁那里去，你都要去；我吩咐你说什么话，你都要说。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耶</a:t>
            </a:r>
            <a:r>
              <a:rPr lang="en-US" altLang="zh-CN" sz="1600" dirty="0">
                <a:effectLst/>
                <a:ea typeface="苹方-简" panose="020B0300000000000000" pitchFamily="34" charset="-122"/>
              </a:rPr>
              <a:t>20:7】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耶和华啊，你曾劝导我，我也听了你的劝导，你比我有力量，且胜了我。我终日成为笑话，人人都戏弄我。</a:t>
            </a:r>
            <a:endParaRPr lang="en-US" altLang="zh-CN" sz="16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摩</a:t>
            </a:r>
            <a:r>
              <a:rPr lang="en-US" altLang="zh-CN" sz="1600" dirty="0">
                <a:effectLst/>
                <a:ea typeface="苹方-简" panose="020B0300000000000000" pitchFamily="34" charset="-122"/>
              </a:rPr>
              <a:t>7:15】</a:t>
            </a:r>
            <a:r>
              <a:rPr lang="zh-CN" altLang="en-US" sz="1600" dirty="0">
                <a:effectLst/>
                <a:ea typeface="苹方-简" panose="020B0300000000000000" pitchFamily="34" charset="-122"/>
              </a:rPr>
              <a:t>耶和华选召我，使我不跟从羊群，对我说：‘你去向我民以色列说预言。’</a:t>
            </a:r>
            <a:endParaRPr lang="en-US" altLang="zh-CN" sz="16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神对每个祂所呼召的人都有美好的旨意和计划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我们要做的就是竭力追求，把结果交到神的手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第一段：竭力追求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4937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这不是说我已经得着了，已经完全了，我乃是竭力追求，或者可以得着基督耶稣所以得着我的。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不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是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我们信主之后，拥有了救恩，我们就可以躺在救恩的恩典中，不再追求。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当我们的服侍在主里有了一些成绩或者果效后，我们不应满足当下，而是应该再竭力进取到更加完全的地步。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做工、果效、成绩等等都是外在的，而更加重要的是内在：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“完全地得着基督或者说与基督相交达到完全的地步”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与基督建立美好的关系，我们做工的力量来自于基督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对我们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的爱及我们对基督的爱</a:t>
            </a:r>
            <a:r>
              <a:rPr lang="zh-CN" altLang="en-US" dirty="0">
                <a:ea typeface="苹方-简" panose="020B0300000000000000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反思我们自己：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是否已经得着了</a:t>
            </a:r>
            <a:endParaRPr lang="en-US" altLang="zh-CN" sz="1800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是否跟主建立了亲密的关系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是否每天与主都有更新，爱主更深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08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97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弟兄们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关系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我不是以为自己已经得着了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强调自己没有得着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保罗告诉如何得着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只做一件事（达到目的）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方法：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努力面前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标杆直跑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519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819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00"/>
                </a:solidFill>
                <a:cs typeface="+mn-ea"/>
                <a:sym typeface="+mn-lt"/>
              </a:rPr>
              <a:t>背后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骄傲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偏离方向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影响成绩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忘记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不再提及和思想，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过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去对自己的影响</a:t>
            </a:r>
            <a:endParaRPr lang="en-US" altLang="zh-CN" sz="1800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纪念的反面的意思，具体是过去发生的事情影响了现在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王上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17:18】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妇人对以利亚说：“神人哪，我与你何干？你竟到我这里来，使　神想念我的罪，以致我的儿子死呢？”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两个方面：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忘记之前发生失败的错误的地方，不让这些失败影响自己。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让之前成功的地方，显赫的成绩也不对现在的自己有影响。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持续时态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在奔跑的过程中，持续的忘记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16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035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谨记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神的恩典作为动力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15:10】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然而我今日成了何等人，是蒙　神的恩才成的；并且他所赐我的恩不是徒然的。我比众使徒格外劳苦，这原不是我，乃是　神的恩与我同在。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努力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态度：努力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持续时态：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奔跑者一直持续不断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、不歇息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的竞赛精神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面前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前面的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目标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，也是指的下文的目标或者说奖赏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727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63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向着标杆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正确的方向、正确的目标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标杆是永不改变即基督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插秧的比喻：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父亲、儿子、插秧、标杆、牛、房子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直跑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两点之间直线距离最短，努力尽自己力所能达到目标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只看到一个目标，永远定睛在这个目标上，心无旁骛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凡在军中当兵的，不将世务缠身，好叫那招他当兵的人喜悦。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坚持不懈：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不要给自己任何的理由和借口松弛下来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51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73745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问题：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跑的目标是什么？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以什么身份在跑？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仆人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凭借什么力量跑？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98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90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12~14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节整体：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节没有得着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状态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节、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节上提出方法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忘记背后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努力面前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向着标杆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节下奖赏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在基督里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从神来的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96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88888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12~14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节整体：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回顾：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不可以躺平、偷懒，不负责任。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在基督里，以基督的心为心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2:5】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你们当以基督耶稣的心为心。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明白主的心意，完全以主的心意为我们心意，竭力为主。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目标：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明白神的心意，凡事讨神喜悦，更新与主的关系，生命得以长进。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完全地得着基督或者与基督相交达到完全</a:t>
            </a:r>
            <a:r>
              <a:rPr lang="zh-CN" altLang="en-US" dirty="0">
                <a:ea typeface="苹方-简" panose="020B0300000000000000" pitchFamily="34" charset="-122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9750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02184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举例（小家怜悯事工）：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在物质上有帮助（预工）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在精神上有关怀（预工）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更重要是传福音（目的）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标杆：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目的：基督命令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28:19】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所以，你们要去，使万民作我的门徒，奉父、子、圣灵的名给他们施洗。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28:20】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凡我所吩咐你们的，都教训他们遵守，我就常与你们同在，直到世界的末了。”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直跑：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不偏离主的命令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竭力做各种预工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竭力的传讲福音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12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686425" y="113635"/>
            <a:ext cx="65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第二段：向着标杆直跑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13911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弟兄们，我不是以为自己已经得着了，我只有一件事，就是忘记背后，努力面前的，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向着标竿直跑，要得　神在基督耶稣里从上面召我来得的奖赏。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在基督耶稣里：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不在基督里是被咒诅和刑罚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神的恩典让我们在基督里面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罪得以赦免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咒诅变祝福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身份成为神的儿女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永死因基督工作变永生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得奖赏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几种观点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完全地得着基督或者与基督相交达到完全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标杆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3622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43651" y="113635"/>
            <a:ext cx="5848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第三段：照信心而行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825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 若在什么事上存别样的心，　神也必以此指示你们。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然而我们到了什么地步，就当照着什么地步行。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完全人：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在腓立比教会中那些误解了保罗因信称义道理的，以为已经得着了，而在“竭力追求”上松懈的或者停滞不前。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指示：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启示、照明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神借圣灵把属灵的奥秘向人照明</a:t>
            </a:r>
            <a:r>
              <a:rPr lang="zh-CN" altLang="en-US" dirty="0">
                <a:ea typeface="苹方-简" panose="020B0300000000000000" pitchFamily="34" charset="-122"/>
              </a:rPr>
              <a:t>，强调圣灵的工作即真理的圣灵。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1:18】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并且照明你们心中的眼睛，使你们知道他的恩召有何等指望，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弗</a:t>
            </a:r>
            <a:r>
              <a:rPr lang="en-US" altLang="zh-CN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1:17】</a:t>
            </a:r>
            <a:r>
              <a:rPr lang="zh-CN" altLang="en-US" sz="1600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求我们主耶稣基督的　神，荣耀的父，将那赐人智慧和启示的灵赏给你们，使你们真知道他。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3064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43651" y="113635"/>
            <a:ext cx="5848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第三段：照信心而行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0813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 若在什么事上存别样的心，　神也必以此指示你们。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然而我们到了什么地步，就当照着什么地步行。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节：总结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结论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到：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属灵的生命长进或者达到到了什么地步或者程度。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行：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原文中是遵守而行，依照指定的路线或者原则而行。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我们理当应该以认识到的真理来引导我们的生活，我们的行事为人应该与我们认识基督的生命相符合。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7907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1689976" cy="23886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提出论点（没有得着）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提出解决方法（忘记背后，努力面前，向着标杆直跑）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针对特定人群的解决方法（真理圣灵）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凡事照信心而行，以认识耶稣基督为至宝。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中心：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深刻理解保罗所说的奖赏。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161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保罗提及要求，我们自己觉得我们得着了吗或得着了多少？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你追求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的标杆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是什么（可操作、实际的）？</a:t>
            </a:r>
            <a:endParaRPr lang="zh-CN" altLang="en-US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你理解的奖赏是什么？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</TotalTime>
  <Words>2771</Words>
  <Application>Microsoft Office PowerPoint</Application>
  <PresentationFormat>宽屏</PresentationFormat>
  <Paragraphs>319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黑体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9</cp:revision>
  <dcterms:created xsi:type="dcterms:W3CDTF">2019-06-19T02:08:00Z</dcterms:created>
  <dcterms:modified xsi:type="dcterms:W3CDTF">2023-08-27T06:39:25Z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