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7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9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0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2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3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4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5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6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7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8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9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0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21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2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3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24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560" r:id="rId2"/>
    <p:sldId id="553" r:id="rId3"/>
    <p:sldId id="638" r:id="rId4"/>
    <p:sldId id="425" r:id="rId5"/>
    <p:sldId id="639" r:id="rId6"/>
    <p:sldId id="640" r:id="rId7"/>
    <p:sldId id="260" r:id="rId8"/>
    <p:sldId id="626" r:id="rId9"/>
    <p:sldId id="641" r:id="rId10"/>
    <p:sldId id="264" r:id="rId11"/>
    <p:sldId id="608" r:id="rId12"/>
    <p:sldId id="643" r:id="rId13"/>
    <p:sldId id="627" r:id="rId14"/>
    <p:sldId id="644" r:id="rId15"/>
    <p:sldId id="552" r:id="rId16"/>
    <p:sldId id="645" r:id="rId17"/>
    <p:sldId id="648" r:id="rId18"/>
    <p:sldId id="650" r:id="rId19"/>
    <p:sldId id="651" r:id="rId20"/>
    <p:sldId id="649" r:id="rId21"/>
    <p:sldId id="652" r:id="rId22"/>
    <p:sldId id="653" r:id="rId23"/>
    <p:sldId id="654" r:id="rId24"/>
    <p:sldId id="655" r:id="rId25"/>
    <p:sldId id="642" r:id="rId26"/>
    <p:sldId id="646" r:id="rId27"/>
    <p:sldId id="636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44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F5D4EB-782A-412F-AAA0-7397BC8677C0}" v="313" dt="2024-04-20T14:26:18.767"/>
    <p1510:client id="{DD9EDB06-1F2F-4811-8A3F-A5118F6AB184}" v="13" dt="2024-04-20T22:21:07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39" autoAdjust="0"/>
    <p:restoredTop sz="94225" autoAdjust="0"/>
  </p:normalViewPr>
  <p:slideViewPr>
    <p:cSldViewPr snapToGrid="0">
      <p:cViewPr varScale="1">
        <p:scale>
          <a:sx n="110" d="100"/>
          <a:sy n="110" d="100"/>
        </p:scale>
        <p:origin x="276" y="96"/>
      </p:cViewPr>
      <p:guideLst>
        <p:guide orient="horz" pos="618"/>
        <p:guide pos="4407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2024/4/21 Sun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感恩的事：</a:t>
            </a:r>
            <a:r>
              <a:rPr lang="en-US" altLang="zh-CN" dirty="0"/>
              <a:t>2023</a:t>
            </a:r>
            <a:r>
              <a:rPr lang="zh-CN" altLang="en-US" dirty="0"/>
              <a:t>年平安度过，进入</a:t>
            </a:r>
            <a:r>
              <a:rPr lang="en-US" altLang="zh-CN" dirty="0"/>
              <a:t>2024</a:t>
            </a:r>
            <a:r>
              <a:rPr lang="zh-CN" altLang="en-US" dirty="0"/>
              <a:t>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891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9524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447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9215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5230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5601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4121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8553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5849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079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8208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4408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2374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6175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7205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5894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7525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4178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84761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1944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39002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9015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14316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72856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45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2024/4/21 Sun</a:t>
            </a:fld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2024/4/21 Sun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2024/4/21 Sun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2024/4/21 Sun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2024/4/21 Sun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584C53-89FD-4BEB-D4E0-EFECD724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F78FBC-37E3-14BB-E4B2-454E0F7F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04323D-A0C0-730C-70F2-BC26F4FC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95248-B125-4E38-9FBD-D323567FBF6A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128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13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2024/4/21 Sun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389842" y="4292102"/>
            <a:ext cx="4613737" cy="9379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经文：彼得前书一章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-4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677226" y="2115152"/>
            <a:ext cx="3729518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彼得的问候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苹方-简"/>
                <a:cs typeface="+mn-ea"/>
                <a:sym typeface="+mn-lt"/>
              </a:rPr>
              <a:t>-</a:t>
            </a:r>
            <a:r>
              <a:rPr lang="zh-CN" altLang="en-US" sz="36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苹方-简"/>
                <a:cs typeface="+mn-ea"/>
                <a:sym typeface="+mn-lt"/>
              </a:rPr>
              <a:t>致寄居者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903F1E-DAB2-F6D3-0EA7-34DF8579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4834-6526-47F0-B757-2F68D83CE9EC}" type="datetime2">
              <a:rPr lang="zh-CN" altLang="en-US" smtClean="0"/>
              <a:t>2024年4月21日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Rectangle 1030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DE1770-8FAA-8EE7-6E27-D745BC8D3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1"/>
          <a:stretch/>
        </p:blipFill>
        <p:spPr bwMode="auto">
          <a:xfrm>
            <a:off x="20" y="1"/>
            <a:ext cx="12191980" cy="6721475"/>
          </a:xfrm>
          <a:custGeom>
            <a:avLst/>
            <a:gdLst/>
            <a:ahLst/>
            <a:cxnLst/>
            <a:rect l="l" t="t" r="r" b="b"/>
            <a:pathLst>
              <a:path w="12192000" h="6721475">
                <a:moveTo>
                  <a:pt x="4721175" y="5742856"/>
                </a:moveTo>
                <a:lnTo>
                  <a:pt x="4722110" y="5743067"/>
                </a:lnTo>
                <a:cubicBezTo>
                  <a:pt x="4721144" y="5743709"/>
                  <a:pt x="4718265" y="5744315"/>
                  <a:pt x="4717201" y="574433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834942"/>
                </a:lnTo>
                <a:lnTo>
                  <a:pt x="12192000" y="2274073"/>
                </a:lnTo>
                <a:lnTo>
                  <a:pt x="12192000" y="6586253"/>
                </a:lnTo>
                <a:lnTo>
                  <a:pt x="12140861" y="6605451"/>
                </a:lnTo>
                <a:cubicBezTo>
                  <a:pt x="12126657" y="6607665"/>
                  <a:pt x="12093590" y="6662867"/>
                  <a:pt x="12080162" y="6661300"/>
                </a:cubicBezTo>
                <a:cubicBezTo>
                  <a:pt x="11978189" y="6685453"/>
                  <a:pt x="11967362" y="6708506"/>
                  <a:pt x="11917886" y="6696520"/>
                </a:cubicBezTo>
                <a:cubicBezTo>
                  <a:pt x="11872780" y="6694805"/>
                  <a:pt x="11928862" y="6731720"/>
                  <a:pt x="11894611" y="6718680"/>
                </a:cubicBezTo>
                <a:cubicBezTo>
                  <a:pt x="11860360" y="6705640"/>
                  <a:pt x="11736092" y="6642174"/>
                  <a:pt x="11712380" y="6618279"/>
                </a:cubicBezTo>
                <a:cubicBezTo>
                  <a:pt x="11688668" y="6594384"/>
                  <a:pt x="11627913" y="6617875"/>
                  <a:pt x="11585367" y="6575313"/>
                </a:cubicBezTo>
                <a:lnTo>
                  <a:pt x="11516471" y="6498621"/>
                </a:lnTo>
                <a:cubicBezTo>
                  <a:pt x="11468275" y="6496789"/>
                  <a:pt x="11507336" y="6461535"/>
                  <a:pt x="11462693" y="6445069"/>
                </a:cubicBezTo>
                <a:cubicBezTo>
                  <a:pt x="11417568" y="6443442"/>
                  <a:pt x="11408022" y="6391555"/>
                  <a:pt x="11369713" y="6383596"/>
                </a:cubicBezTo>
                <a:cubicBezTo>
                  <a:pt x="11354318" y="6389646"/>
                  <a:pt x="11288329" y="6334752"/>
                  <a:pt x="11273970" y="6323928"/>
                </a:cubicBezTo>
                <a:cubicBezTo>
                  <a:pt x="11231914" y="6325320"/>
                  <a:pt x="11221974" y="6315486"/>
                  <a:pt x="11195085" y="6302909"/>
                </a:cubicBezTo>
                <a:cubicBezTo>
                  <a:pt x="11164087" y="6332691"/>
                  <a:pt x="11171650" y="6306732"/>
                  <a:pt x="11143409" y="6303556"/>
                </a:cubicBezTo>
                <a:cubicBezTo>
                  <a:pt x="11125907" y="6299917"/>
                  <a:pt x="11102604" y="6295777"/>
                  <a:pt x="11085936" y="6294307"/>
                </a:cubicBezTo>
                <a:cubicBezTo>
                  <a:pt x="11057494" y="6294603"/>
                  <a:pt x="11029907" y="6276438"/>
                  <a:pt x="11030954" y="6291426"/>
                </a:cubicBezTo>
                <a:cubicBezTo>
                  <a:pt x="11007785" y="6293943"/>
                  <a:pt x="10982006" y="6298120"/>
                  <a:pt x="10951061" y="6296182"/>
                </a:cubicBezTo>
                <a:cubicBezTo>
                  <a:pt x="10885366" y="6259348"/>
                  <a:pt x="10915289" y="6295910"/>
                  <a:pt x="10857722" y="6283099"/>
                </a:cubicBezTo>
                <a:cubicBezTo>
                  <a:pt x="10806647" y="6270732"/>
                  <a:pt x="10707076" y="6237654"/>
                  <a:pt x="10644617" y="6221981"/>
                </a:cubicBezTo>
                <a:cubicBezTo>
                  <a:pt x="10616447" y="6217166"/>
                  <a:pt x="10558604" y="6206555"/>
                  <a:pt x="10519278" y="6201735"/>
                </a:cubicBezTo>
                <a:cubicBezTo>
                  <a:pt x="10495462" y="6203254"/>
                  <a:pt x="10473831" y="6189810"/>
                  <a:pt x="10445982" y="6199677"/>
                </a:cubicBezTo>
                <a:cubicBezTo>
                  <a:pt x="10436537" y="6203715"/>
                  <a:pt x="10409282" y="6202908"/>
                  <a:pt x="10383866" y="6195830"/>
                </a:cubicBezTo>
                <a:cubicBezTo>
                  <a:pt x="10374828" y="6204037"/>
                  <a:pt x="10347865" y="6195374"/>
                  <a:pt x="10336853" y="6195219"/>
                </a:cubicBezTo>
                <a:cubicBezTo>
                  <a:pt x="10323587" y="6201929"/>
                  <a:pt x="10274742" y="6192863"/>
                  <a:pt x="10261099" y="6185468"/>
                </a:cubicBezTo>
                <a:lnTo>
                  <a:pt x="10126498" y="6173953"/>
                </a:lnTo>
                <a:lnTo>
                  <a:pt x="10082167" y="6171858"/>
                </a:lnTo>
                <a:cubicBezTo>
                  <a:pt x="10074568" y="6173927"/>
                  <a:pt x="10046861" y="6172599"/>
                  <a:pt x="10039238" y="6173522"/>
                </a:cubicBezTo>
                <a:cubicBezTo>
                  <a:pt x="9998459" y="6163421"/>
                  <a:pt x="9984395" y="6162931"/>
                  <a:pt x="9960017" y="6158007"/>
                </a:cubicBezTo>
                <a:cubicBezTo>
                  <a:pt x="9918981" y="6157865"/>
                  <a:pt x="9888742" y="6161064"/>
                  <a:pt x="9847790" y="6151239"/>
                </a:cubicBezTo>
                <a:lnTo>
                  <a:pt x="9728307" y="6131032"/>
                </a:lnTo>
                <a:cubicBezTo>
                  <a:pt x="9675057" y="6140618"/>
                  <a:pt x="9602036" y="6132224"/>
                  <a:pt x="9584505" y="6119612"/>
                </a:cubicBezTo>
                <a:cubicBezTo>
                  <a:pt x="9518953" y="6105336"/>
                  <a:pt x="9415430" y="6079210"/>
                  <a:pt x="9343050" y="6073910"/>
                </a:cubicBezTo>
                <a:lnTo>
                  <a:pt x="9231368" y="6022005"/>
                </a:lnTo>
                <a:lnTo>
                  <a:pt x="9194808" y="6011926"/>
                </a:lnTo>
                <a:lnTo>
                  <a:pt x="9189244" y="6002687"/>
                </a:lnTo>
                <a:lnTo>
                  <a:pt x="9151230" y="5991485"/>
                </a:lnTo>
                <a:lnTo>
                  <a:pt x="9150208" y="5992550"/>
                </a:lnTo>
                <a:cubicBezTo>
                  <a:pt x="9147046" y="5994681"/>
                  <a:pt x="9143082" y="5995773"/>
                  <a:pt x="9137316" y="5994719"/>
                </a:cubicBezTo>
                <a:cubicBezTo>
                  <a:pt x="9138863" y="6014203"/>
                  <a:pt x="9130953" y="6000914"/>
                  <a:pt x="9113810" y="5996085"/>
                </a:cubicBezTo>
                <a:cubicBezTo>
                  <a:pt x="9112389" y="6025268"/>
                  <a:pt x="9068115" y="5990834"/>
                  <a:pt x="9053451" y="6004399"/>
                </a:cubicBezTo>
                <a:lnTo>
                  <a:pt x="9005484" y="6001114"/>
                </a:lnTo>
                <a:lnTo>
                  <a:pt x="9005199" y="6001354"/>
                </a:lnTo>
                <a:cubicBezTo>
                  <a:pt x="9003144" y="6001574"/>
                  <a:pt x="9000325" y="6001246"/>
                  <a:pt x="8996230" y="6000143"/>
                </a:cubicBezTo>
                <a:lnTo>
                  <a:pt x="8990392" y="5998082"/>
                </a:lnTo>
                <a:lnTo>
                  <a:pt x="8974335" y="5994856"/>
                </a:lnTo>
                <a:lnTo>
                  <a:pt x="8968009" y="5995556"/>
                </a:lnTo>
                <a:lnTo>
                  <a:pt x="8963046" y="5997781"/>
                </a:lnTo>
                <a:cubicBezTo>
                  <a:pt x="8954691" y="5989830"/>
                  <a:pt x="8955518" y="5980882"/>
                  <a:pt x="8928986" y="6000969"/>
                </a:cubicBezTo>
                <a:cubicBezTo>
                  <a:pt x="8898032" y="5999949"/>
                  <a:pt x="8789301" y="5985294"/>
                  <a:pt x="8752442" y="5981737"/>
                </a:cubicBezTo>
                <a:cubicBezTo>
                  <a:pt x="8719820" y="5971017"/>
                  <a:pt x="8748195" y="5984678"/>
                  <a:pt x="8707845" y="5979636"/>
                </a:cubicBezTo>
                <a:cubicBezTo>
                  <a:pt x="8671607" y="5960101"/>
                  <a:pt x="8639143" y="5976541"/>
                  <a:pt x="8596069" y="5971064"/>
                </a:cubicBezTo>
                <a:lnTo>
                  <a:pt x="8525228" y="5985906"/>
                </a:lnTo>
                <a:lnTo>
                  <a:pt x="8510981" y="5979991"/>
                </a:lnTo>
                <a:lnTo>
                  <a:pt x="8506165" y="5976990"/>
                </a:lnTo>
                <a:cubicBezTo>
                  <a:pt x="8502647" y="5975213"/>
                  <a:pt x="8500046" y="5974402"/>
                  <a:pt x="8497966" y="5974252"/>
                </a:cubicBezTo>
                <a:lnTo>
                  <a:pt x="8497592" y="5974431"/>
                </a:lnTo>
                <a:lnTo>
                  <a:pt x="8490247" y="5971381"/>
                </a:lnTo>
                <a:lnTo>
                  <a:pt x="8367180" y="5957339"/>
                </a:lnTo>
                <a:cubicBezTo>
                  <a:pt x="8362022" y="5955314"/>
                  <a:pt x="8357731" y="5955662"/>
                  <a:pt x="8353797" y="5957145"/>
                </a:cubicBezTo>
                <a:lnTo>
                  <a:pt x="8352370" y="5957985"/>
                </a:lnTo>
                <a:lnTo>
                  <a:pt x="8320102" y="5940567"/>
                </a:lnTo>
                <a:lnTo>
                  <a:pt x="8314430" y="5940241"/>
                </a:lnTo>
                <a:lnTo>
                  <a:pt x="8295171" y="5926346"/>
                </a:lnTo>
                <a:lnTo>
                  <a:pt x="8284274" y="5920523"/>
                </a:lnTo>
                <a:lnTo>
                  <a:pt x="8283147" y="5916080"/>
                </a:lnTo>
                <a:cubicBezTo>
                  <a:pt x="8280843" y="5912835"/>
                  <a:pt x="8276149" y="5910187"/>
                  <a:pt x="8266073" y="5908905"/>
                </a:cubicBezTo>
                <a:lnTo>
                  <a:pt x="8263374" y="5909135"/>
                </a:lnTo>
                <a:lnTo>
                  <a:pt x="8252031" y="5899292"/>
                </a:lnTo>
                <a:cubicBezTo>
                  <a:pt x="8248857" y="5895442"/>
                  <a:pt x="8246645" y="5891160"/>
                  <a:pt x="8245832" y="5886300"/>
                </a:cubicBezTo>
                <a:cubicBezTo>
                  <a:pt x="8181825" y="5889207"/>
                  <a:pt x="8147128" y="5855085"/>
                  <a:pt x="8090269" y="5840139"/>
                </a:cubicBezTo>
                <a:cubicBezTo>
                  <a:pt x="8025465" y="5816997"/>
                  <a:pt x="7967068" y="5795761"/>
                  <a:pt x="7905405" y="5798166"/>
                </a:cubicBezTo>
                <a:cubicBezTo>
                  <a:pt x="7835117" y="5783254"/>
                  <a:pt x="7780963" y="5781023"/>
                  <a:pt x="7718742" y="5772451"/>
                </a:cubicBezTo>
                <a:lnTo>
                  <a:pt x="7614344" y="5775922"/>
                </a:lnTo>
                <a:lnTo>
                  <a:pt x="7527540" y="5770094"/>
                </a:lnTo>
                <a:lnTo>
                  <a:pt x="7519568" y="5767541"/>
                </a:lnTo>
                <a:cubicBezTo>
                  <a:pt x="7513990" y="5766202"/>
                  <a:pt x="7510170" y="5765852"/>
                  <a:pt x="7507409" y="5766206"/>
                </a:cubicBezTo>
                <a:lnTo>
                  <a:pt x="7507037" y="5766533"/>
                </a:lnTo>
                <a:lnTo>
                  <a:pt x="7495792" y="5764581"/>
                </a:lnTo>
                <a:cubicBezTo>
                  <a:pt x="7476983" y="5760463"/>
                  <a:pt x="7422525" y="5777879"/>
                  <a:pt x="7405388" y="5772686"/>
                </a:cubicBezTo>
                <a:cubicBezTo>
                  <a:pt x="7374786" y="5775636"/>
                  <a:pt x="7333987" y="5776741"/>
                  <a:pt x="7312177" y="5782281"/>
                </a:cubicBezTo>
                <a:lnTo>
                  <a:pt x="7310850" y="5783723"/>
                </a:lnTo>
                <a:lnTo>
                  <a:pt x="7218557" y="5758474"/>
                </a:lnTo>
                <a:lnTo>
                  <a:pt x="7201099" y="5753924"/>
                </a:lnTo>
                <a:lnTo>
                  <a:pt x="7197001" y="5748566"/>
                </a:lnTo>
                <a:cubicBezTo>
                  <a:pt x="7192109" y="5745043"/>
                  <a:pt x="7184503" y="5742904"/>
                  <a:pt x="7170805" y="5743918"/>
                </a:cubicBezTo>
                <a:lnTo>
                  <a:pt x="7096985" y="5731690"/>
                </a:lnTo>
                <a:cubicBezTo>
                  <a:pt x="7061145" y="5730712"/>
                  <a:pt x="7050186" y="5729735"/>
                  <a:pt x="7018493" y="5732064"/>
                </a:cubicBezTo>
                <a:cubicBezTo>
                  <a:pt x="6937525" y="5721126"/>
                  <a:pt x="6943642" y="5696960"/>
                  <a:pt x="6904143" y="5702558"/>
                </a:cubicBezTo>
                <a:cubicBezTo>
                  <a:pt x="6871919" y="5707766"/>
                  <a:pt x="6787986" y="5688692"/>
                  <a:pt x="6708219" y="5674603"/>
                </a:cubicBezTo>
                <a:cubicBezTo>
                  <a:pt x="6649103" y="5665148"/>
                  <a:pt x="6628103" y="5651047"/>
                  <a:pt x="6549452" y="5645827"/>
                </a:cubicBezTo>
                <a:cubicBezTo>
                  <a:pt x="6472151" y="5601737"/>
                  <a:pt x="6409693" y="5625460"/>
                  <a:pt x="6317557" y="5599027"/>
                </a:cubicBezTo>
                <a:cubicBezTo>
                  <a:pt x="6297548" y="5583505"/>
                  <a:pt x="6209289" y="5600698"/>
                  <a:pt x="6168671" y="5596940"/>
                </a:cubicBezTo>
                <a:cubicBezTo>
                  <a:pt x="6128053" y="5593182"/>
                  <a:pt x="6090537" y="5579634"/>
                  <a:pt x="6073845" y="5576478"/>
                </a:cubicBezTo>
                <a:lnTo>
                  <a:pt x="6068527" y="5578015"/>
                </a:lnTo>
                <a:lnTo>
                  <a:pt x="6048635" y="5577332"/>
                </a:lnTo>
                <a:lnTo>
                  <a:pt x="6041280" y="5585681"/>
                </a:lnTo>
                <a:lnTo>
                  <a:pt x="6010089" y="5590774"/>
                </a:lnTo>
                <a:cubicBezTo>
                  <a:pt x="5998678" y="5591361"/>
                  <a:pt x="5970125" y="5590448"/>
                  <a:pt x="5957374" y="5587130"/>
                </a:cubicBezTo>
                <a:lnTo>
                  <a:pt x="5758917" y="5571438"/>
                </a:lnTo>
                <a:lnTo>
                  <a:pt x="5626958" y="5570415"/>
                </a:lnTo>
                <a:lnTo>
                  <a:pt x="5470904" y="5584435"/>
                </a:lnTo>
                <a:cubicBezTo>
                  <a:pt x="5478132" y="5597463"/>
                  <a:pt x="5439008" y="5583397"/>
                  <a:pt x="5432758" y="5595688"/>
                </a:cubicBezTo>
                <a:cubicBezTo>
                  <a:pt x="5429367" y="5605720"/>
                  <a:pt x="5391826" y="5610404"/>
                  <a:pt x="5381665" y="5613390"/>
                </a:cubicBezTo>
                <a:lnTo>
                  <a:pt x="5261761" y="5633807"/>
                </a:lnTo>
                <a:cubicBezTo>
                  <a:pt x="5251596" y="5633991"/>
                  <a:pt x="5230549" y="5642301"/>
                  <a:pt x="5222961" y="5644931"/>
                </a:cubicBezTo>
                <a:lnTo>
                  <a:pt x="5174658" y="5647921"/>
                </a:lnTo>
                <a:lnTo>
                  <a:pt x="5156553" y="5655144"/>
                </a:lnTo>
                <a:lnTo>
                  <a:pt x="5142596" y="5658544"/>
                </a:lnTo>
                <a:lnTo>
                  <a:pt x="5139595" y="5660645"/>
                </a:lnTo>
                <a:cubicBezTo>
                  <a:pt x="5133875" y="5664685"/>
                  <a:pt x="5128077" y="5668496"/>
                  <a:pt x="5121657" y="5671498"/>
                </a:cubicBezTo>
                <a:cubicBezTo>
                  <a:pt x="5108318" y="5642879"/>
                  <a:pt x="5064854" y="5692315"/>
                  <a:pt x="5065789" y="5664927"/>
                </a:cubicBezTo>
                <a:cubicBezTo>
                  <a:pt x="5028194" y="5676443"/>
                  <a:pt x="5038945" y="5647354"/>
                  <a:pt x="5011512" y="5681308"/>
                </a:cubicBezTo>
                <a:cubicBezTo>
                  <a:pt x="4937025" y="5680925"/>
                  <a:pt x="4916355" y="5667918"/>
                  <a:pt x="4840439" y="5705325"/>
                </a:cubicBezTo>
                <a:cubicBezTo>
                  <a:pt x="4806741" y="5721967"/>
                  <a:pt x="4784108" y="5733113"/>
                  <a:pt x="4762445" y="5733093"/>
                </a:cubicBezTo>
                <a:cubicBezTo>
                  <a:pt x="4741324" y="5737594"/>
                  <a:pt x="4729483" y="5740416"/>
                  <a:pt x="4723183" y="5742108"/>
                </a:cubicBezTo>
                <a:lnTo>
                  <a:pt x="4721175" y="5742856"/>
                </a:lnTo>
                <a:lnTo>
                  <a:pt x="4715526" y="5741581"/>
                </a:lnTo>
                <a:cubicBezTo>
                  <a:pt x="4680149" y="5748537"/>
                  <a:pt x="4524746" y="5749345"/>
                  <a:pt x="4515811" y="5751483"/>
                </a:cubicBezTo>
                <a:cubicBezTo>
                  <a:pt x="4457821" y="5764595"/>
                  <a:pt x="4462660" y="5765336"/>
                  <a:pt x="4428540" y="5762134"/>
                </a:cubicBezTo>
                <a:cubicBezTo>
                  <a:pt x="4423305" y="5758763"/>
                  <a:pt x="4368975" y="5765057"/>
                  <a:pt x="4362874" y="5763480"/>
                </a:cubicBezTo>
                <a:lnTo>
                  <a:pt x="4316963" y="5756865"/>
                </a:lnTo>
                <a:lnTo>
                  <a:pt x="4315109" y="5758206"/>
                </a:lnTo>
                <a:cubicBezTo>
                  <a:pt x="4306124" y="5761577"/>
                  <a:pt x="4299996" y="5761576"/>
                  <a:pt x="4295141" y="5760085"/>
                </a:cubicBezTo>
                <a:lnTo>
                  <a:pt x="4290061" y="5757168"/>
                </a:lnTo>
                <a:lnTo>
                  <a:pt x="4276140" y="5757414"/>
                </a:lnTo>
                <a:lnTo>
                  <a:pt x="4248115" y="5755090"/>
                </a:lnTo>
                <a:lnTo>
                  <a:pt x="4202048" y="5757885"/>
                </a:lnTo>
                <a:cubicBezTo>
                  <a:pt x="4201946" y="5758305"/>
                  <a:pt x="4201844" y="5758724"/>
                  <a:pt x="4201744" y="5759144"/>
                </a:cubicBezTo>
                <a:cubicBezTo>
                  <a:pt x="4200117" y="5761981"/>
                  <a:pt x="4197141" y="5764100"/>
                  <a:pt x="4191246" y="5764778"/>
                </a:cubicBezTo>
                <a:cubicBezTo>
                  <a:pt x="4204214" y="5782067"/>
                  <a:pt x="4161275" y="5780172"/>
                  <a:pt x="4142743" y="5780643"/>
                </a:cubicBezTo>
                <a:cubicBezTo>
                  <a:pt x="4124718" y="5787709"/>
                  <a:pt x="4099100" y="5801289"/>
                  <a:pt x="4083095" y="5807176"/>
                </a:cubicBezTo>
                <a:lnTo>
                  <a:pt x="4074544" y="5808011"/>
                </a:lnTo>
                <a:cubicBezTo>
                  <a:pt x="4074505" y="5808112"/>
                  <a:pt x="4074464" y="5808211"/>
                  <a:pt x="4074425" y="5808310"/>
                </a:cubicBezTo>
                <a:cubicBezTo>
                  <a:pt x="4072679" y="5809094"/>
                  <a:pt x="4069907" y="5809595"/>
                  <a:pt x="4065508" y="5809754"/>
                </a:cubicBezTo>
                <a:lnTo>
                  <a:pt x="4058952" y="5809536"/>
                </a:lnTo>
                <a:lnTo>
                  <a:pt x="4042362" y="5811157"/>
                </a:lnTo>
                <a:lnTo>
                  <a:pt x="4036994" y="5813591"/>
                </a:lnTo>
                <a:lnTo>
                  <a:pt x="4035361" y="5817258"/>
                </a:lnTo>
                <a:lnTo>
                  <a:pt x="4033776" y="5817023"/>
                </a:lnTo>
                <a:cubicBezTo>
                  <a:pt x="4021425" y="5812159"/>
                  <a:pt x="4016875" y="5803783"/>
                  <a:pt x="4004536" y="5829591"/>
                </a:cubicBezTo>
                <a:cubicBezTo>
                  <a:pt x="3976668" y="5822526"/>
                  <a:pt x="3972978" y="5837855"/>
                  <a:pt x="3936844" y="5847048"/>
                </a:cubicBezTo>
                <a:cubicBezTo>
                  <a:pt x="3920507" y="5839324"/>
                  <a:pt x="3908536" y="5844013"/>
                  <a:pt x="3897273" y="5852703"/>
                </a:cubicBezTo>
                <a:cubicBezTo>
                  <a:pt x="3861093" y="5852207"/>
                  <a:pt x="3829629" y="5866077"/>
                  <a:pt x="3789758" y="5872941"/>
                </a:cubicBezTo>
                <a:cubicBezTo>
                  <a:pt x="3741008" y="5887647"/>
                  <a:pt x="3725130" y="5889624"/>
                  <a:pt x="3682511" y="5896864"/>
                </a:cubicBezTo>
                <a:lnTo>
                  <a:pt x="3610033" y="5929135"/>
                </a:lnTo>
                <a:lnTo>
                  <a:pt x="3603853" y="5927773"/>
                </a:lnTo>
                <a:cubicBezTo>
                  <a:pt x="3599581" y="5927154"/>
                  <a:pt x="3596727" y="5927154"/>
                  <a:pt x="3594734" y="5927609"/>
                </a:cubicBezTo>
                <a:lnTo>
                  <a:pt x="3594499" y="5927878"/>
                </a:lnTo>
                <a:lnTo>
                  <a:pt x="3585976" y="5927188"/>
                </a:lnTo>
                <a:cubicBezTo>
                  <a:pt x="3571624" y="5925397"/>
                  <a:pt x="3549390" y="5939596"/>
                  <a:pt x="3536133" y="5936887"/>
                </a:cubicBezTo>
                <a:cubicBezTo>
                  <a:pt x="3513941" y="5941183"/>
                  <a:pt x="3488623" y="5934918"/>
                  <a:pt x="3473221" y="5940548"/>
                </a:cubicBezTo>
                <a:lnTo>
                  <a:pt x="3400726" y="5952596"/>
                </a:lnTo>
                <a:lnTo>
                  <a:pt x="3375936" y="5941189"/>
                </a:lnTo>
                <a:lnTo>
                  <a:pt x="3348220" y="5944802"/>
                </a:lnTo>
                <a:cubicBezTo>
                  <a:pt x="3337207" y="5945475"/>
                  <a:pt x="3327055" y="5946237"/>
                  <a:pt x="3319640" y="5949737"/>
                </a:cubicBezTo>
                <a:lnTo>
                  <a:pt x="3248530" y="5968289"/>
                </a:lnTo>
                <a:lnTo>
                  <a:pt x="3210309" y="5954736"/>
                </a:lnTo>
                <a:cubicBezTo>
                  <a:pt x="3206089" y="5952812"/>
                  <a:pt x="3200153" y="5952268"/>
                  <a:pt x="3190376" y="5954857"/>
                </a:cubicBezTo>
                <a:lnTo>
                  <a:pt x="3188146" y="5956038"/>
                </a:lnTo>
                <a:cubicBezTo>
                  <a:pt x="3182626" y="5954058"/>
                  <a:pt x="3141857" y="5956624"/>
                  <a:pt x="3108597" y="5957358"/>
                </a:cubicBezTo>
                <a:cubicBezTo>
                  <a:pt x="3055969" y="5959784"/>
                  <a:pt x="3048941" y="5952417"/>
                  <a:pt x="2988585" y="5960444"/>
                </a:cubicBezTo>
                <a:cubicBezTo>
                  <a:pt x="2928854" y="5964632"/>
                  <a:pt x="2917952" y="5959591"/>
                  <a:pt x="2876541" y="5967961"/>
                </a:cubicBezTo>
                <a:lnTo>
                  <a:pt x="2626865" y="5968713"/>
                </a:lnTo>
                <a:cubicBezTo>
                  <a:pt x="2562349" y="5946800"/>
                  <a:pt x="2563423" y="5977398"/>
                  <a:pt x="2491423" y="5970428"/>
                </a:cubicBezTo>
                <a:cubicBezTo>
                  <a:pt x="2433092" y="6035904"/>
                  <a:pt x="2455710" y="5995425"/>
                  <a:pt x="2415618" y="6003657"/>
                </a:cubicBezTo>
                <a:lnTo>
                  <a:pt x="2290099" y="6001093"/>
                </a:lnTo>
                <a:cubicBezTo>
                  <a:pt x="2257058" y="5987464"/>
                  <a:pt x="2202459" y="6022632"/>
                  <a:pt x="2161715" y="6004244"/>
                </a:cubicBezTo>
                <a:cubicBezTo>
                  <a:pt x="2122715" y="6007244"/>
                  <a:pt x="2080451" y="6015292"/>
                  <a:pt x="2056090" y="6019086"/>
                </a:cubicBezTo>
                <a:cubicBezTo>
                  <a:pt x="2019829" y="6026050"/>
                  <a:pt x="1978840" y="6038739"/>
                  <a:pt x="1944154" y="6046026"/>
                </a:cubicBezTo>
                <a:cubicBezTo>
                  <a:pt x="1925868" y="6034021"/>
                  <a:pt x="1896028" y="6059125"/>
                  <a:pt x="1847969" y="6062810"/>
                </a:cubicBezTo>
                <a:cubicBezTo>
                  <a:pt x="1827978" y="6048913"/>
                  <a:pt x="1815571" y="6065486"/>
                  <a:pt x="1777084" y="6047209"/>
                </a:cubicBezTo>
                <a:cubicBezTo>
                  <a:pt x="1775440" y="6049158"/>
                  <a:pt x="1773398" y="6050977"/>
                  <a:pt x="1771026" y="6052610"/>
                </a:cubicBezTo>
                <a:cubicBezTo>
                  <a:pt x="1757252" y="6062088"/>
                  <a:pt x="1735529" y="6063344"/>
                  <a:pt x="1722510" y="6055412"/>
                </a:cubicBezTo>
                <a:cubicBezTo>
                  <a:pt x="1691780" y="6043382"/>
                  <a:pt x="1662322" y="6038247"/>
                  <a:pt x="1633942" y="6035716"/>
                </a:cubicBezTo>
                <a:lnTo>
                  <a:pt x="1586146" y="6045126"/>
                </a:lnTo>
                <a:cubicBezTo>
                  <a:pt x="1567949" y="6050358"/>
                  <a:pt x="1545901" y="6061305"/>
                  <a:pt x="1524749" y="6067115"/>
                </a:cubicBezTo>
                <a:cubicBezTo>
                  <a:pt x="1502587" y="6070337"/>
                  <a:pt x="1478014" y="6065935"/>
                  <a:pt x="1459243" y="6079986"/>
                </a:cubicBezTo>
                <a:cubicBezTo>
                  <a:pt x="1421475" y="6095139"/>
                  <a:pt x="1374525" y="6079162"/>
                  <a:pt x="1349458" y="6115647"/>
                </a:cubicBezTo>
                <a:cubicBezTo>
                  <a:pt x="1273277" y="6137331"/>
                  <a:pt x="1121513" y="6171202"/>
                  <a:pt x="1009213" y="6196169"/>
                </a:cubicBezTo>
                <a:cubicBezTo>
                  <a:pt x="939017" y="6208471"/>
                  <a:pt x="866896" y="6205091"/>
                  <a:pt x="808573" y="6211966"/>
                </a:cubicBezTo>
                <a:cubicBezTo>
                  <a:pt x="802824" y="6209126"/>
                  <a:pt x="726017" y="6232905"/>
                  <a:pt x="719550" y="6231933"/>
                </a:cubicBezTo>
                <a:lnTo>
                  <a:pt x="698796" y="6232599"/>
                </a:lnTo>
                <a:cubicBezTo>
                  <a:pt x="689834" y="6236836"/>
                  <a:pt x="683493" y="6237437"/>
                  <a:pt x="678328" y="6236429"/>
                </a:cubicBezTo>
                <a:lnTo>
                  <a:pt x="672785" y="6234027"/>
                </a:lnTo>
                <a:lnTo>
                  <a:pt x="658407" y="6235638"/>
                </a:lnTo>
                <a:lnTo>
                  <a:pt x="629186" y="6236074"/>
                </a:lnTo>
                <a:lnTo>
                  <a:pt x="624559" y="6238724"/>
                </a:lnTo>
                <a:lnTo>
                  <a:pt x="581799" y="6243380"/>
                </a:lnTo>
                <a:cubicBezTo>
                  <a:pt x="581737" y="6243807"/>
                  <a:pt x="581672" y="6244236"/>
                  <a:pt x="581609" y="6244664"/>
                </a:cubicBezTo>
                <a:cubicBezTo>
                  <a:pt x="580205" y="6247646"/>
                  <a:pt x="577332" y="6250048"/>
                  <a:pt x="571300" y="6251300"/>
                </a:cubicBezTo>
                <a:cubicBezTo>
                  <a:pt x="551624" y="6261209"/>
                  <a:pt x="484500" y="6294596"/>
                  <a:pt x="463550" y="6304115"/>
                </a:cubicBezTo>
                <a:cubicBezTo>
                  <a:pt x="453137" y="6305662"/>
                  <a:pt x="449732" y="6307620"/>
                  <a:pt x="445607" y="6308407"/>
                </a:cubicBezTo>
                <a:lnTo>
                  <a:pt x="438800" y="6308835"/>
                </a:lnTo>
                <a:cubicBezTo>
                  <a:pt x="417223" y="6317125"/>
                  <a:pt x="343313" y="6348349"/>
                  <a:pt x="316139" y="6358155"/>
                </a:cubicBezTo>
                <a:cubicBezTo>
                  <a:pt x="298482" y="6352074"/>
                  <a:pt x="286557" y="6357914"/>
                  <a:pt x="275749" y="6367668"/>
                </a:cubicBezTo>
                <a:cubicBezTo>
                  <a:pt x="238275" y="6370726"/>
                  <a:pt x="207077" y="6387621"/>
                  <a:pt x="166497" y="6398366"/>
                </a:cubicBezTo>
                <a:lnTo>
                  <a:pt x="1" y="6464830"/>
                </a:lnTo>
                <a:lnTo>
                  <a:pt x="1" y="2274073"/>
                </a:lnTo>
                <a:lnTo>
                  <a:pt x="0" y="22740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54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4" name="Group 2056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Rectangle 2058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6" name="Rectangle 2060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FE1652F-C005-96BE-BFDE-F381C17F77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6" b="1371"/>
          <a:stretch/>
        </p:blipFill>
        <p:spPr bwMode="auto">
          <a:xfrm>
            <a:off x="579528" y="860407"/>
            <a:ext cx="10628376" cy="544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对话气泡: 椭圆形 1">
            <a:extLst>
              <a:ext uri="{FF2B5EF4-FFF2-40B4-BE49-F238E27FC236}">
                <a16:creationId xmlns:a16="http://schemas.microsoft.com/office/drawing/2014/main" id="{B5BE396F-6470-0B3E-D7D3-38593181FC4F}"/>
              </a:ext>
            </a:extLst>
          </p:cNvPr>
          <p:cNvSpPr/>
          <p:nvPr/>
        </p:nvSpPr>
        <p:spPr>
          <a:xfrm>
            <a:off x="11277599" y="6237852"/>
            <a:ext cx="914400" cy="612648"/>
          </a:xfrm>
          <a:prstGeom prst="wedgeEllipseCallout">
            <a:avLst>
              <a:gd name="adj1" fmla="val -56071"/>
              <a:gd name="adj2" fmla="val -512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中文圣经网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897E41-5FF6-A7CC-16FE-8B0FDA215A65}"/>
              </a:ext>
            </a:extLst>
          </p:cNvPr>
          <p:cNvSpPr txBox="1"/>
          <p:nvPr/>
        </p:nvSpPr>
        <p:spPr>
          <a:xfrm>
            <a:off x="0" y="6450233"/>
            <a:ext cx="610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《</a:t>
            </a:r>
            <a:r>
              <a:rPr lang="zh-CN" altLang="en-US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你往何处去？</a:t>
            </a:r>
            <a:r>
              <a:rPr lang="en-US" altLang="zh-CN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》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114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经文：彼前一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1~4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38480"/>
            <a:ext cx="12192000" cy="4235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1:1】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耶稣基督的使徒彼得写信给那分散在本都、加拉太、加帕多家、亚细亚、庇推尼寄居的，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1:2】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就是照父　神的先见被拣选，藉着圣灵得成圣洁，以致顺服耶稣基督，又蒙他血所洒的人。愿恩惠、平安多多地加给你们！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1:3】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愿颂赞归于我们主耶稣基督的父　神，他曾照自己的大怜悯，藉耶稣基督从死里复活，重生了我们，叫我们有活泼的盼望，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6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600" dirty="0">
                <a:effectLst/>
                <a:ea typeface="苹方-简" panose="020B0300000000000000" pitchFamily="34" charset="-122"/>
              </a:rPr>
              <a:t>1:4】</a:t>
            </a:r>
            <a:r>
              <a:rPr lang="zh-CN" altLang="en-US" sz="2600" dirty="0">
                <a:effectLst/>
                <a:ea typeface="苹方-简" panose="020B0300000000000000" pitchFamily="34" charset="-122"/>
              </a:rPr>
              <a:t>可以得着不能朽坏、不能玷污、不能衰残、为你们存留在天上的基业。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12D3F7B-DF35-F878-D245-29F45AE818B1}"/>
              </a:ext>
            </a:extLst>
          </p:cNvPr>
          <p:cNvCxnSpPr/>
          <p:nvPr/>
        </p:nvCxnSpPr>
        <p:spPr>
          <a:xfrm>
            <a:off x="304800" y="3603366"/>
            <a:ext cx="103719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rPr>
              <a:t>作者：使徒彼得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0" y="1117299"/>
            <a:ext cx="12191999" cy="3547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3200" b="1" dirty="0">
                <a:ea typeface="苹方-简" panose="020B0300000000000000" pitchFamily="34" charset="-122"/>
              </a:rPr>
              <a:t>质疑：</a:t>
            </a:r>
            <a:endParaRPr lang="en-US" altLang="zh-CN" sz="3200" b="1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本书希腊文优美，彼得是加利利的渔夫不可能写出如此优美的希腊文。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反对者提出本书中提到的逼迫应该是在彼得去世后三年才发生。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本书信与保罗的书信非常相似，怀疑是保罗所写。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作为耶稣的大使徒彼得应该关注的是耶稣的事迹，而非如同本书信中如保罗类似一样的真理。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820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rPr>
              <a:t>作者：使徒彼得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0" y="1117299"/>
            <a:ext cx="12191999" cy="464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ea typeface="苹方-简" panose="020B0300000000000000" pitchFamily="34" charset="-122"/>
              </a:rPr>
              <a:t>回应：</a:t>
            </a:r>
            <a:endParaRPr lang="en-US" altLang="zh-CN" sz="3200" b="1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彼得有三十年的传道经验，而且是在使用希腊文地方</a:t>
            </a:r>
            <a:endParaRPr lang="en-US" altLang="zh-CN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ea typeface="苹方-简" panose="020B0300000000000000" pitchFamily="34" charset="-122"/>
              </a:rPr>
              <a:t>徒</a:t>
            </a:r>
            <a:r>
              <a:rPr lang="en-US" altLang="zh-CN" sz="2400" dirty="0">
                <a:ea typeface="苹方-简" panose="020B0300000000000000" pitchFamily="34" charset="-122"/>
              </a:rPr>
              <a:t>4:13】</a:t>
            </a:r>
            <a:r>
              <a:rPr lang="zh-CN" altLang="en-US" sz="2400" dirty="0">
                <a:ea typeface="苹方-简" panose="020B0300000000000000" pitchFamily="34" charset="-122"/>
              </a:rPr>
              <a:t>他们见彼得、约翰的胆量，又看出他们</a:t>
            </a:r>
            <a:r>
              <a:rPr lang="zh-CN" altLang="en-US" sz="2400" dirty="0">
                <a:solidFill>
                  <a:srgbClr val="FF0000"/>
                </a:solidFill>
                <a:ea typeface="苹方-简" panose="020B0300000000000000" pitchFamily="34" charset="-122"/>
              </a:rPr>
              <a:t>原是没有学问</a:t>
            </a:r>
            <a:r>
              <a:rPr lang="zh-CN" altLang="en-US" sz="2400" dirty="0">
                <a:ea typeface="苹方-简" panose="020B0300000000000000" pitchFamily="34" charset="-122"/>
              </a:rPr>
              <a:t>的小民，就希奇，认明他们是跟过耶稣的。</a:t>
            </a:r>
            <a:endParaRPr lang="en-US" altLang="zh-CN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“纯正话语的规模”。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四福音书中已经很详细了，彼得关心的是教会如何更好的持受和见证真理。</a:t>
            </a:r>
            <a:endParaRPr lang="en-US" altLang="zh-CN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教会传统认为使徒彼得是作者！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7933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07B5C5AE-8CB4-91F5-F257-7E1014015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9388"/>
            <a:ext cx="9144000" cy="6469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Text Box 5">
            <a:extLst>
              <a:ext uri="{FF2B5EF4-FFF2-40B4-BE49-F238E27FC236}">
                <a16:creationId xmlns:a16="http://schemas.microsoft.com/office/drawing/2014/main" id="{84525A34-0380-94D5-CE6A-151413A37131}"/>
              </a:ext>
            </a:extLst>
          </p:cNvPr>
          <p:cNvSpPr txBox="1">
            <a:spLocks noChangeArrowheads="1"/>
          </p:cNvSpPr>
          <p:nvPr/>
        </p:nvSpPr>
        <p:spPr bwMode="auto">
          <a:xfrm rot="1001955">
            <a:off x="8985250" y="1266826"/>
            <a:ext cx="692150" cy="396875"/>
          </a:xfrm>
          <a:prstGeom prst="rect">
            <a:avLst/>
          </a:prstGeom>
          <a:solidFill>
            <a:srgbClr val="CC0000">
              <a:alpha val="7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ea typeface="SimHei" panose="02010609060101010101" pitchFamily="49" charset="-122"/>
              </a:rPr>
              <a:t>本都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BA23C67C-282D-0B6A-7FA9-85CFC5AA33F7}"/>
              </a:ext>
            </a:extLst>
          </p:cNvPr>
          <p:cNvSpPr txBox="1">
            <a:spLocks noChangeArrowheads="1"/>
          </p:cNvSpPr>
          <p:nvPr/>
        </p:nvSpPr>
        <p:spPr bwMode="auto">
          <a:xfrm rot="19964560">
            <a:off x="8143875" y="2071689"/>
            <a:ext cx="946150" cy="396875"/>
          </a:xfrm>
          <a:prstGeom prst="rect">
            <a:avLst/>
          </a:prstGeom>
          <a:solidFill>
            <a:srgbClr val="CC0000">
              <a:alpha val="7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ea typeface="SimHei" panose="02010609060101010101" pitchFamily="49" charset="-122"/>
              </a:rPr>
              <a:t>加拉太</a:t>
            </a:r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896133B1-E086-4261-A195-9B06C7CC2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2401889"/>
            <a:ext cx="1200150" cy="396875"/>
          </a:xfrm>
          <a:prstGeom prst="rect">
            <a:avLst/>
          </a:prstGeom>
          <a:solidFill>
            <a:srgbClr val="CC0000">
              <a:alpha val="7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ea typeface="SimHei" panose="02010609060101010101" pitchFamily="49" charset="-122"/>
              </a:rPr>
              <a:t>加帕多家</a:t>
            </a:r>
          </a:p>
        </p:txBody>
      </p:sp>
      <p:sp>
        <p:nvSpPr>
          <p:cNvPr id="6152" name="Text Box 8">
            <a:extLst>
              <a:ext uri="{FF2B5EF4-FFF2-40B4-BE49-F238E27FC236}">
                <a16:creationId xmlns:a16="http://schemas.microsoft.com/office/drawing/2014/main" id="{81EDAB6E-4B91-FC39-4270-006DEACD3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2300289"/>
            <a:ext cx="946150" cy="396875"/>
          </a:xfrm>
          <a:prstGeom prst="rect">
            <a:avLst/>
          </a:prstGeom>
          <a:solidFill>
            <a:srgbClr val="CC0000">
              <a:alpha val="7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ea typeface="SimHei" panose="02010609060101010101" pitchFamily="49" charset="-122"/>
              </a:rPr>
              <a:t>亚西亚</a:t>
            </a: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A75F519D-20E8-D605-36EF-3D283165309E}"/>
              </a:ext>
            </a:extLst>
          </p:cNvPr>
          <p:cNvSpPr txBox="1">
            <a:spLocks noChangeArrowheads="1"/>
          </p:cNvSpPr>
          <p:nvPr/>
        </p:nvSpPr>
        <p:spPr bwMode="auto">
          <a:xfrm rot="19859378">
            <a:off x="7375525" y="1560514"/>
            <a:ext cx="946150" cy="396875"/>
          </a:xfrm>
          <a:prstGeom prst="rect">
            <a:avLst/>
          </a:prstGeom>
          <a:solidFill>
            <a:srgbClr val="CC0000">
              <a:alpha val="7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 sz="2000" dirty="0">
                <a:solidFill>
                  <a:schemeClr val="bg1"/>
                </a:solidFill>
                <a:ea typeface="SimHei" panose="02010609060101010101" pitchFamily="49" charset="-122"/>
              </a:rPr>
              <a:t>庇推尼</a:t>
            </a:r>
          </a:p>
        </p:txBody>
      </p:sp>
      <p:sp>
        <p:nvSpPr>
          <p:cNvPr id="6154" name="AutoShape 10">
            <a:extLst>
              <a:ext uri="{FF2B5EF4-FFF2-40B4-BE49-F238E27FC236}">
                <a16:creationId xmlns:a16="http://schemas.microsoft.com/office/drawing/2014/main" id="{0F843D03-A90E-DDCC-B052-51C788B15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63" y="1636713"/>
            <a:ext cx="768350" cy="512762"/>
          </a:xfrm>
          <a:prstGeom prst="wedgeRectCallout">
            <a:avLst>
              <a:gd name="adj1" fmla="val -11778"/>
              <a:gd name="adj2" fmla="val -150310"/>
            </a:avLst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/>
            <a:r>
              <a:rPr lang="zh-TW" altLang="en-US" sz="2000" dirty="0">
                <a:ea typeface="SimHei" panose="02010609060101010101" pitchFamily="49" charset="-122"/>
              </a:rPr>
              <a:t>罗马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5B892F2E-28A9-BCAE-66DF-4E267A73A70C}"/>
              </a:ext>
            </a:extLst>
          </p:cNvPr>
          <p:cNvSpPr/>
          <p:nvPr/>
        </p:nvSpPr>
        <p:spPr>
          <a:xfrm>
            <a:off x="3013348" y="1580428"/>
            <a:ext cx="3812000" cy="428507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nimBg="1"/>
      <p:bldP spid="6149" grpId="1" animBg="1"/>
      <p:bldP spid="6150" grpId="0" animBg="1"/>
      <p:bldP spid="6150" grpId="1" animBg="1"/>
      <p:bldP spid="6151" grpId="0" animBg="1"/>
      <p:bldP spid="6151" grpId="1" animBg="1"/>
      <p:bldP spid="6152" grpId="0" animBg="1"/>
      <p:bldP spid="6152" grpId="1" animBg="1"/>
      <p:bldP spid="6153" grpId="0" animBg="1"/>
      <p:bldP spid="6153" grpId="1" animBg="1"/>
      <p:bldP spid="61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rPr>
              <a:t>背景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107890" y="1204897"/>
            <a:ext cx="11976220" cy="4448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作者：彼得。原名西门，后被主改名为矶法</a:t>
            </a:r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亚兰文，意为石头；希腊文就是彼得</a:t>
            </a:r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时间：可能在主后</a:t>
            </a:r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年左右，当年罗马发生大火，罗马皇帝尼罗</a:t>
            </a:r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(54-68</a:t>
            </a: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年在位</a:t>
            </a:r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随后开始逼迫基督徒。彼得约在</a:t>
            </a:r>
            <a:r>
              <a:rPr lang="en-US" altLang="zh-TW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65-67</a:t>
            </a: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年间在罗马殉道。</a:t>
            </a: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写作地：巴比伦，可能是指罗马。</a:t>
            </a:r>
            <a:endParaRPr lang="en-US" altLang="zh-TW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彼前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5:13】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巴比伦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与你们同蒙拣选的教会问你们安。我儿子马可也问你们安。</a:t>
            </a:r>
            <a:endParaRPr lang="zh-TW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受信者</a:t>
            </a:r>
            <a:r>
              <a:rPr lang="zh-TW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：小亚细亚半岛上五个省的基督徒。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984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rPr>
              <a:t>目的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107890" y="1117810"/>
            <a:ext cx="11976220" cy="5186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彼前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5:12】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我略略地写了这信，托我所看为忠心的兄弟西拉转交你们，劝勉你们，又证明这恩是　神的真恩，你们务要在这恩上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站立得住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我们被神拣选的族类。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因此天上切实的盼望。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从基督来的祝福福气。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故此：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效法基督的受苦，在苦难的环境中站立的住。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不要失去基督信心和再来的盼望，生命见证。</a:t>
            </a:r>
            <a:endParaRPr lang="zh-TW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326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4">
            <a:extLst>
              <a:ext uri="{FF2B5EF4-FFF2-40B4-BE49-F238E27FC236}">
                <a16:creationId xmlns:a16="http://schemas.microsoft.com/office/drawing/2014/main" id="{C9C406A1-B73E-0FEC-3B29-FD1BEB371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314" y="3063876"/>
            <a:ext cx="76358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4813" indent="-404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89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Blip>
                <a:blip r:embed="rId2"/>
              </a:buBlip>
            </a:pPr>
            <a:r>
              <a:rPr lang="zh-TW" altLang="en-US" sz="2400" dirty="0">
                <a:solidFill>
                  <a:srgbClr val="CC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主题：</a:t>
            </a:r>
            <a:r>
              <a:rPr lang="zh-TW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勉励基督徒以</a:t>
            </a:r>
            <a:r>
              <a:rPr lang="zh-TW" altLang="en-US" sz="24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受苦</a:t>
            </a:r>
            <a:r>
              <a:rPr lang="zh-TW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为心志，存</a:t>
            </a:r>
            <a:r>
              <a:rPr lang="zh-TW" altLang="en-US" sz="24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谦卑顺服</a:t>
            </a:r>
            <a:r>
              <a:rPr lang="zh-TW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的心，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	</a:t>
            </a:r>
            <a:r>
              <a:rPr lang="zh-TW" altLang="en-US" sz="2400" dirty="0">
                <a:latin typeface="SimHei" panose="02010609060101010101" pitchFamily="49" charset="-122"/>
                <a:ea typeface="新細明體" panose="02020500000000000000" pitchFamily="18" charset="-120"/>
              </a:rPr>
              <a:t>　　　</a:t>
            </a:r>
            <a:r>
              <a:rPr lang="zh-TW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度在世</a:t>
            </a:r>
            <a:r>
              <a:rPr lang="zh-TW" altLang="en-US" sz="24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寄居</a:t>
            </a:r>
            <a:r>
              <a:rPr lang="zh-TW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的日子，盼望主</a:t>
            </a:r>
            <a:r>
              <a:rPr lang="zh-TW" altLang="en-US" sz="24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显现</a:t>
            </a:r>
            <a:r>
              <a:rPr lang="zh-TW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的荣耀。</a:t>
            </a:r>
          </a:p>
        </p:txBody>
      </p:sp>
      <p:sp>
        <p:nvSpPr>
          <p:cNvPr id="11289" name="Text Box 25">
            <a:extLst>
              <a:ext uri="{FF2B5EF4-FFF2-40B4-BE49-F238E27FC236}">
                <a16:creationId xmlns:a16="http://schemas.microsoft.com/office/drawing/2014/main" id="{07C1F243-4FA9-1882-6219-DBEE056B9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1954213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TW" altLang="en-US" sz="2800" dirty="0">
                <a:ea typeface="SimHei" panose="02010609060101010101" pitchFamily="49" charset="-122"/>
              </a:rPr>
              <a:t>彼得前书</a:t>
            </a:r>
          </a:p>
        </p:txBody>
      </p:sp>
      <p:sp>
        <p:nvSpPr>
          <p:cNvPr id="11292" name="Rectangle 28">
            <a:extLst>
              <a:ext uri="{FF2B5EF4-FFF2-40B4-BE49-F238E27FC236}">
                <a16:creationId xmlns:a16="http://schemas.microsoft.com/office/drawing/2014/main" id="{BB190096-9636-E268-78F4-71D9D95F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475" y="4489451"/>
            <a:ext cx="1646238" cy="512763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Aft>
                <a:spcPct val="20000"/>
              </a:spcAft>
            </a:pPr>
            <a:r>
              <a:rPr lang="zh-TW" altLang="en-US" sz="2000" dirty="0">
                <a:ea typeface="SimHei" panose="02010609060101010101" pitchFamily="49" charset="-122"/>
              </a:rPr>
              <a:t>身分</a:t>
            </a:r>
          </a:p>
        </p:txBody>
      </p:sp>
      <p:sp>
        <p:nvSpPr>
          <p:cNvPr id="11293" name="Rectangle 29">
            <a:extLst>
              <a:ext uri="{FF2B5EF4-FFF2-40B4-BE49-F238E27FC236}">
                <a16:creationId xmlns:a16="http://schemas.microsoft.com/office/drawing/2014/main" id="{DB8B0BE0-F309-4FAA-E420-E575ADDAC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6" y="4489451"/>
            <a:ext cx="2670175" cy="512763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Aft>
                <a:spcPct val="20000"/>
              </a:spcAft>
            </a:pPr>
            <a:r>
              <a:rPr lang="zh-TW" altLang="en-US" sz="2000" dirty="0">
                <a:ea typeface="SimHei" panose="02010609060101010101" pitchFamily="49" charset="-122"/>
              </a:rPr>
              <a:t>生活</a:t>
            </a:r>
          </a:p>
        </p:txBody>
      </p:sp>
      <p:sp>
        <p:nvSpPr>
          <p:cNvPr id="11295" name="Rectangle 31">
            <a:extLst>
              <a:ext uri="{FF2B5EF4-FFF2-40B4-BE49-F238E27FC236}">
                <a16:creationId xmlns:a16="http://schemas.microsoft.com/office/drawing/2014/main" id="{7DBAC17E-7B90-4447-4E33-69B434E5D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825" y="4489451"/>
            <a:ext cx="1646238" cy="512763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Aft>
                <a:spcPct val="20000"/>
              </a:spcAft>
            </a:pPr>
            <a:r>
              <a:rPr lang="zh-TW" altLang="en-US" sz="2000" dirty="0">
                <a:ea typeface="SimHei" panose="02010609060101010101" pitchFamily="49" charset="-122"/>
              </a:rPr>
              <a:t>目标</a:t>
            </a:r>
          </a:p>
        </p:txBody>
      </p:sp>
      <p:sp>
        <p:nvSpPr>
          <p:cNvPr id="11296" name="Oval 32">
            <a:extLst>
              <a:ext uri="{FF2B5EF4-FFF2-40B4-BE49-F238E27FC236}">
                <a16:creationId xmlns:a16="http://schemas.microsoft.com/office/drawing/2014/main" id="{09CFFBF8-D173-E56B-D280-B9CC7BB89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476" y="5313363"/>
            <a:ext cx="1609725" cy="768350"/>
          </a:xfrm>
          <a:prstGeom prst="ellipse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spcAft>
                <a:spcPct val="20000"/>
              </a:spcAft>
            </a:pPr>
            <a:r>
              <a:rPr lang="zh-TW" altLang="en-US" sz="2000" dirty="0">
                <a:ea typeface="SimHei" panose="02010609060101010101" pitchFamily="49" charset="-122"/>
              </a:rPr>
              <a:t>寄居者</a:t>
            </a:r>
          </a:p>
        </p:txBody>
      </p:sp>
      <p:sp>
        <p:nvSpPr>
          <p:cNvPr id="11297" name="Oval 33">
            <a:extLst>
              <a:ext uri="{FF2B5EF4-FFF2-40B4-BE49-F238E27FC236}">
                <a16:creationId xmlns:a16="http://schemas.microsoft.com/office/drawing/2014/main" id="{85EE9192-ED07-2F56-D0EF-EE2DF9554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4339" y="5313363"/>
            <a:ext cx="1609725" cy="768350"/>
          </a:xfrm>
          <a:prstGeom prst="ellipse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9525" algn="ctr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spcAft>
                <a:spcPct val="20000"/>
              </a:spcAft>
            </a:pPr>
            <a:r>
              <a:rPr lang="zh-TW" altLang="en-US" sz="2000" dirty="0">
                <a:ea typeface="SimHei" panose="02010609060101010101" pitchFamily="49" charset="-122"/>
              </a:rPr>
              <a:t>天上基业</a:t>
            </a:r>
          </a:p>
        </p:txBody>
      </p:sp>
      <p:sp>
        <p:nvSpPr>
          <p:cNvPr id="11298" name="AutoShape 34">
            <a:extLst>
              <a:ext uri="{FF2B5EF4-FFF2-40B4-BE49-F238E27FC236}">
                <a16:creationId xmlns:a16="http://schemas.microsoft.com/office/drawing/2014/main" id="{273EC4CD-8243-8622-AF74-22890371E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6" y="5257800"/>
            <a:ext cx="2595563" cy="8778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9525" algn="ctr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spcAft>
                <a:spcPct val="20000"/>
              </a:spcAft>
            </a:pPr>
            <a:r>
              <a:rPr lang="zh-TW" altLang="en-US" sz="2000" dirty="0">
                <a:ea typeface="SimHei" panose="02010609060101010101" pitchFamily="49" charset="-122"/>
              </a:rPr>
              <a:t>经苦难使信心完全</a:t>
            </a:r>
          </a:p>
          <a:p>
            <a:pPr algn="ctr">
              <a:spcAft>
                <a:spcPct val="20000"/>
              </a:spcAft>
            </a:pPr>
            <a:r>
              <a:rPr lang="zh-TW" altLang="en-US" sz="2000" dirty="0">
                <a:ea typeface="SimHei" panose="02010609060101010101" pitchFamily="49" charset="-122"/>
              </a:rPr>
              <a:t>被建造成为灵宫</a:t>
            </a:r>
          </a:p>
        </p:txBody>
      </p:sp>
      <p:cxnSp>
        <p:nvCxnSpPr>
          <p:cNvPr id="11299" name="AutoShape 35">
            <a:extLst>
              <a:ext uri="{FF2B5EF4-FFF2-40B4-BE49-F238E27FC236}">
                <a16:creationId xmlns:a16="http://schemas.microsoft.com/office/drawing/2014/main" id="{9897F2A3-A6C1-6B55-0A58-DA6732912E07}"/>
              </a:ext>
            </a:extLst>
          </p:cNvPr>
          <p:cNvCxnSpPr>
            <a:cxnSpLocks noChangeShapeType="1"/>
            <a:stCxn id="11296" idx="6"/>
            <a:endCxn id="11298" idx="1"/>
          </p:cNvCxnSpPr>
          <p:nvPr/>
        </p:nvCxnSpPr>
        <p:spPr bwMode="auto">
          <a:xfrm>
            <a:off x="4267201" y="5697538"/>
            <a:ext cx="5492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00" name="AutoShape 36">
            <a:extLst>
              <a:ext uri="{FF2B5EF4-FFF2-40B4-BE49-F238E27FC236}">
                <a16:creationId xmlns:a16="http://schemas.microsoft.com/office/drawing/2014/main" id="{13A19CF6-2D27-39C2-B499-BADA88204F04}"/>
              </a:ext>
            </a:extLst>
          </p:cNvPr>
          <p:cNvCxnSpPr>
            <a:cxnSpLocks noChangeShapeType="1"/>
            <a:stCxn id="11298" idx="3"/>
            <a:endCxn id="11297" idx="2"/>
          </p:cNvCxnSpPr>
          <p:nvPr/>
        </p:nvCxnSpPr>
        <p:spPr bwMode="auto">
          <a:xfrm>
            <a:off x="7412038" y="5697538"/>
            <a:ext cx="6223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A6436B23-FB5A-5325-9CB6-8F68680984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1"/>
          <a:stretch/>
        </p:blipFill>
        <p:spPr bwMode="auto">
          <a:xfrm>
            <a:off x="3681640" y="300986"/>
            <a:ext cx="4547960" cy="25073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2" grpId="0" animBg="1"/>
      <p:bldP spid="11293" grpId="0" animBg="1"/>
      <p:bldP spid="11295" grpId="0" animBg="1"/>
      <p:bldP spid="11296" grpId="0" animBg="1"/>
      <p:bldP spid="11297" grpId="0" animBg="1"/>
      <p:bldP spid="1129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读者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6384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徒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2:9】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我们帕提亚人、玛代人、以拦人，和住在美索不达米亚、犹太、</a:t>
            </a:r>
            <a:r>
              <a:rPr lang="zh-CN" altLang="en-US" sz="2000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加帕多家、本都、亚细亚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、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徒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2:10】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弗吕家、旁非利亚、埃及的人，并靠近古利奈的利比亚一带地方的人，从罗马来的客旅中，或是犹太人，或是进犹太教的人，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1:1】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耶稣基督的使徒彼得写信给那分散在本都、</a:t>
            </a:r>
            <a:r>
              <a:rPr lang="zh-CN" altLang="en-US" sz="2000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加拉太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、</a:t>
            </a:r>
            <a:r>
              <a:rPr lang="zh-CN" altLang="en-US" sz="2000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加帕多家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、</a:t>
            </a:r>
            <a:r>
              <a:rPr lang="zh-CN" altLang="en-US" sz="2000" dirty="0">
                <a:solidFill>
                  <a:srgbClr val="7030A0"/>
                </a:solidFill>
                <a:effectLst/>
                <a:ea typeface="苹方-简" panose="020B0300000000000000" pitchFamily="34" charset="-122"/>
              </a:rPr>
              <a:t>亚细亚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、庇推尼寄居的，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本都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18:2】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遇见一个犹太人，名叫亚居拉，他生在本都，因为革老丢命犹太人都离开罗马，新近带着妻百基拉从意大利来。保罗就投奔了他们。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加拉太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</a:rPr>
              <a:t>《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加拉太书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》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保罗宣教旅途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16:6】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圣灵既然禁止他们在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亚细亚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讲道，他们就经过弗吕家、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加拉太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一带地方。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16:7】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到了每西亚的边界，他们想要往</a:t>
            </a:r>
            <a:r>
              <a:rPr lang="zh-CN" altLang="en-US" dirty="0">
                <a:solidFill>
                  <a:srgbClr val="7030A0"/>
                </a:solidFill>
                <a:cs typeface="+mn-ea"/>
                <a:sym typeface="+mn-lt"/>
              </a:rPr>
              <a:t>庇推尼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去，耶稣的灵却不许。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9203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使徒彼得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1496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十二使徒中是领导或者发言人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圣经新约中有八个西门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未蒙召之前和他兄弟安得烈在加利利打渔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心直口快、会犯错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纳税的问题 </a:t>
            </a:r>
            <a:endParaRPr lang="en-US" altLang="zh-CN" sz="20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17:25】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彼得说：“</a:t>
            </a:r>
            <a:r>
              <a:rPr lang="zh-CN" altLang="en-US" dirty="0">
                <a:solidFill>
                  <a:srgbClr val="FF0000"/>
                </a:solidFill>
                <a:latin typeface="+mn-ea"/>
                <a:cs typeface="+mn-ea"/>
                <a:sym typeface="+mn-lt"/>
              </a:rPr>
              <a:t>纳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。”他进了屋子，耶稣先向他说：“西门，你的意思如何？世上的君王向谁征收关税、丁税？是向自己的儿子呢，是向外人呢？”</a:t>
            </a:r>
            <a:endParaRPr lang="en-US" altLang="zh-CN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客西马尼园的祷告中，彼得睡觉，耶稣的责备</a:t>
            </a:r>
            <a:endParaRPr lang="en-US" altLang="zh-CN" sz="20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可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14:37】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耶稣回来，见他们睡着了，就对彼得说：“西门，你睡觉吗？不能警醒片时吗？</a:t>
            </a:r>
            <a:endParaRPr lang="en-US" altLang="zh-CN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路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5:5】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西门说：“夫子，我们整夜劳力，并没有打着什么。但依从你的话，我就下网。”</a:t>
            </a:r>
            <a:endParaRPr lang="en-US" altLang="zh-CN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路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5:8】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西门彼得看见，就俯伏在耶稣膝前，说：“主啊，离开我，我是个罪人！”</a:t>
            </a:r>
            <a:endParaRPr lang="en-US" altLang="zh-CN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主耶稣三问彼得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,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你爱我比这些更深吗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?</a:t>
            </a:r>
          </a:p>
          <a:p>
            <a:pPr lvl="1">
              <a:lnSpc>
                <a:spcPct val="150000"/>
              </a:lnSpc>
            </a:pPr>
            <a:endParaRPr lang="en-US" altLang="zh-CN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0673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使徒彼得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49"/>
            <a:ext cx="12192000" cy="50417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恢复后的彼得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彼得选取新的使徒代替犹大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无所无惧的传福音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医病行神迹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管教犯罪的信徒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与同称为西门的邪教交锋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8:20】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彼得说：“你的银子和你一同灭亡吧！因你想　神的恩赐是可以用钱买的。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8:21】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你在这道上无份无关，因为在　神面前，你的心不正。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徒</a:t>
            </a:r>
            <a:r>
              <a:rPr lang="en-US" altLang="zh-CN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8:22】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你当懊悔你这罪恶，祈求主，或者你心里的意念可得赦免。</a:t>
            </a:r>
          </a:p>
          <a:p>
            <a:pPr lvl="1">
              <a:lnSpc>
                <a:spcPct val="150000"/>
              </a:lnSpc>
            </a:pPr>
            <a:endParaRPr lang="en-US" altLang="zh-CN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5331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使徒彼得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49"/>
            <a:ext cx="12192000" cy="44755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彼得承担对外邦人传福音的重任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三次异象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对哥尼流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去撒玛利亚按手圣灵赐下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耶路撒冷大会的发言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彼得身份让他可以劝勉在患难中弟兄姊妹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彼得经历让他可有资格对弟兄姊妹有要求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7505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大纲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09059"/>
            <a:ext cx="6526112" cy="592521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Ⅰ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问安：使徒彼得问候蒙神拣选入永生的寄居客（一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1-2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Ⅱ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教义概述：你们蒙受的伟大救恩（一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3-10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你们要藉着充满大喜乐的信心长进（一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3-12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B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行道：行一切事要圣洁（一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13-25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如何追求圣洁（二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1-10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Ⅲ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详论生活教训：在外邦人中间保持圣洁（二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11-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五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A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一般原则（二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11-12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B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作好公民：为主的缘故顺服人的一切制度（二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13-17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作好仆人：顺服主人（二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18-25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D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作好夫妻（三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1-7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E 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基督徒的生活原则（三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8-22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zh-CN" altLang="en-US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D0068D-FDB2-4E81-C3B8-1FEA1FC67C69}"/>
              </a:ext>
            </a:extLst>
          </p:cNvPr>
          <p:cNvSpPr txBox="1"/>
          <p:nvPr/>
        </p:nvSpPr>
        <p:spPr>
          <a:xfrm>
            <a:off x="6526112" y="1109059"/>
            <a:ext cx="6104708" cy="167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．作教会的好长老与好肢体（五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1-7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．在属灵的争战上作坚固的信徒（五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8-11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00000"/>
                </a:solidFill>
                <a:cs typeface="+mn-ea"/>
                <a:sym typeface="+mn-lt"/>
              </a:rPr>
              <a:t>Ⅳ </a:t>
            </a:r>
            <a:r>
              <a:rPr lang="zh-CN" altLang="en-US" sz="1800" dirty="0">
                <a:solidFill>
                  <a:srgbClr val="000000"/>
                </a:solidFill>
                <a:cs typeface="+mn-ea"/>
                <a:sym typeface="+mn-lt"/>
              </a:rPr>
              <a:t>结语（五 </a:t>
            </a:r>
            <a:r>
              <a:rPr lang="en-US" altLang="zh-CN" sz="1800" dirty="0">
                <a:solidFill>
                  <a:srgbClr val="000000"/>
                </a:solidFill>
                <a:cs typeface="+mn-ea"/>
                <a:sym typeface="+mn-lt"/>
              </a:rPr>
              <a:t>12-14</a:t>
            </a:r>
            <a:r>
              <a:rPr lang="zh-CN" altLang="en-US" sz="1800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74171" y="1477640"/>
            <a:ext cx="11355977" cy="34233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1:2】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就是照父　神的先见被拣选，藉着圣灵得成圣洁，以致顺服耶稣基督，又蒙他血所洒的人。愿恩惠、平安多多地加给你们！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980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" y="1113485"/>
            <a:ext cx="12191999" cy="5517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寄居的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来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11:13】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这些人都是存着信心死的，并没有得着所应许的，却从远处望见，且欢喜迎接，又承认自己在世上是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客旅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，是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寄居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的。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2:11】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亲爱的弟兄啊，你们是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客旅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，是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寄居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的。我劝你们要禁戒肉体的私欲，这私欲是与灵魂争战的。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76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" y="1113485"/>
            <a:ext cx="12191999" cy="47941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寄居的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5:13】“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你们是世上的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。盐若失了味，怎能叫它再咸呢？以后无用，不过丢在外面，被人践踏了。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5:14】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你们是世上的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光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。城造在山上，是不能隐藏的。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1244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" y="1113485"/>
            <a:ext cx="12191999" cy="55327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寄居的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如同：卧底的工作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彼后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3:10】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但主的日子要像贼来到一样，那日，天必大有响声废去，有形质的都要被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烈火销化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，地和其上的物都要烧尽了。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彼后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3:13】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但我们照他的应许，盼望新天新地，有</a:t>
            </a:r>
            <a:r>
              <a:rPr lang="zh-CN" altLang="en-US" sz="2400" dirty="0">
                <a:solidFill>
                  <a:srgbClr val="FF0000"/>
                </a:solidFill>
                <a:cs typeface="+mn-ea"/>
                <a:sym typeface="+mn-lt"/>
              </a:rPr>
              <a:t>义居在其中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9541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" y="1113485"/>
            <a:ext cx="12191999" cy="5517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寄居的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这个世界对我们的诱惑太大，我们希望享受在其中，我们喜欢罪中之乐。 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我们认为主来的日子还长，我们需要先过好我们当下的生活。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认信基督，明白真理，我们也不爱这个世界，但我们愿意体恤我们自己的需要。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4.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认信基督，火热传福音，也努力为主做见证，凡事尽自己的力而行。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9168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" y="1113485"/>
            <a:ext cx="12191999" cy="65025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寄居的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这个世界对我们的诱惑太大，我们希望享受在其中，我们喜欢罪中之乐。 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约壹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2:15】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不要爱世界和世界上的事。人若爱世界，爱父的心就不在他里面了。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约壹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2:16】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因为凡世界上的事，就像肉体的情欲，眼目的情欲，并今生的骄傲，都不是从父来的，乃是从世界来的。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约壹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2:17】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这世界和其上的情欲都要过去，惟独遵行　神旨意的，是永远常存。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374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" y="1113485"/>
            <a:ext cx="12191999" cy="57956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寄居的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我们认为主来的日子还长，我们需要先过好我们当下的生活。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耶稣基督的仆人保罗，奉召为使徒，特派传　神的福音。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不知道主什么时候来，但我们知道的是主没有来之前祂对我们的心意和命令，要我们不再为自己活，而是为主活。何为为主活，就是凡事考虑我们的身份和神在圣经中所要求的我们如何去做，而非按照我们自己的主意而行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6114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" y="1113485"/>
            <a:ext cx="12191999" cy="4449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寄居的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认信基督，明白真理，我们也不爱这个世界，但我们愿意体恤我们自己的需要。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殷勤不可懒惰。要心里火热，常常服侍主。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彼后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1:5】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正因这缘故，你们要分外地殷勤。有了信心，又要加上德行；有了德行，又要加上知识；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741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" y="1113485"/>
            <a:ext cx="12191999" cy="331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耶稣基督的使徒彼得写信给那分散在本都、加拉太、加帕多家、亚细亚、庇推尼寄居的，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寄居的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4.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认信基督，火热传福音，也努力为主做见证，凡事尽自己的力而行。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9841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E373E45-E3B7-2AAA-6278-780236382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05" y="4052344"/>
            <a:ext cx="3402012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140000"/>
              </a:lnSpc>
            </a:pPr>
            <a:r>
              <a:rPr lang="zh-TW" altLang="en-US" sz="2400" dirty="0">
                <a:latin typeface="苹方-简" panose="020B0300000000000000" pitchFamily="34" charset="-122"/>
                <a:ea typeface="苹方-简" panose="020B0300000000000000" pitchFamily="34" charset="-122"/>
              </a:rPr>
              <a:t>照父神的先见被拣选、</a:t>
            </a:r>
          </a:p>
          <a:p>
            <a:pPr algn="r">
              <a:lnSpc>
                <a:spcPct val="140000"/>
              </a:lnSpc>
            </a:pPr>
            <a:r>
              <a:rPr lang="zh-TW" altLang="en-US" sz="2400" dirty="0">
                <a:latin typeface="苹方-简" panose="020B0300000000000000" pitchFamily="34" charset="-122"/>
                <a:ea typeface="苹方-简" panose="020B0300000000000000" pitchFamily="34" charset="-122"/>
              </a:rPr>
              <a:t>借着圣灵得成圣洁，</a:t>
            </a:r>
          </a:p>
          <a:p>
            <a:pPr algn="r">
              <a:lnSpc>
                <a:spcPct val="140000"/>
              </a:lnSpc>
            </a:pPr>
            <a:r>
              <a:rPr lang="zh-TW" altLang="en-US" sz="2400" dirty="0">
                <a:latin typeface="苹方-简" panose="020B0300000000000000" pitchFamily="34" charset="-122"/>
                <a:ea typeface="苹方-简" panose="020B0300000000000000" pitchFamily="34" charset="-122"/>
              </a:rPr>
              <a:t>以致顺服耶稣基督，</a:t>
            </a:r>
          </a:p>
          <a:p>
            <a:pPr algn="r">
              <a:lnSpc>
                <a:spcPct val="140000"/>
              </a:lnSpc>
            </a:pPr>
            <a:r>
              <a:rPr lang="zh-TW" altLang="en-US" sz="2400" dirty="0">
                <a:latin typeface="苹方-简" panose="020B0300000000000000" pitchFamily="34" charset="-122"/>
                <a:ea typeface="苹方-简" panose="020B0300000000000000" pitchFamily="34" charset="-122"/>
              </a:rPr>
              <a:t>又蒙他血所洒的人。</a:t>
            </a:r>
            <a:endParaRPr lang="zh-TW" altLang="en-US" sz="2400" dirty="0">
              <a:solidFill>
                <a:schemeClr val="bg2"/>
              </a:solidFill>
              <a:latin typeface="苹方-简" panose="020B0300000000000000" pitchFamily="34" charset="-122"/>
              <a:ea typeface="苹方-简" panose="020B0300000000000000" pitchFamily="34" charset="-122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9DABEBE-6BA7-AF18-15CF-FFB2B2A91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355" y="4052344"/>
            <a:ext cx="3857625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苹方-简" panose="020B0300000000000000" pitchFamily="34" charset="-122"/>
                <a:ea typeface="苹方-简" panose="020B0300000000000000" pitchFamily="34" charset="-122"/>
                <a:sym typeface="Wingdings" panose="05000000000000000000" pitchFamily="2" charset="2"/>
              </a:rPr>
              <a:t> </a:t>
            </a:r>
            <a:r>
              <a:rPr lang="zh-TW" altLang="en-US" sz="2400" dirty="0">
                <a:solidFill>
                  <a:srgbClr val="663300"/>
                </a:solidFill>
                <a:latin typeface="苹方-简" panose="020B0300000000000000" pitchFamily="34" charset="-122"/>
                <a:ea typeface="苹方-简" panose="020B0300000000000000" pitchFamily="34" charset="-122"/>
                <a:sym typeface="Wingdings" panose="05000000000000000000" pitchFamily="2" charset="2"/>
              </a:rPr>
              <a:t>创世之前，神先拣选</a:t>
            </a:r>
          </a:p>
          <a:p>
            <a:pPr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苹方-简" panose="020B0300000000000000" pitchFamily="34" charset="-122"/>
                <a:ea typeface="苹方-简" panose="020B0300000000000000" pitchFamily="34" charset="-122"/>
                <a:sym typeface="Wingdings" panose="05000000000000000000" pitchFamily="2" charset="2"/>
              </a:rPr>
              <a:t> </a:t>
            </a:r>
            <a:r>
              <a:rPr lang="zh-TW" altLang="en-US" sz="2400" dirty="0">
                <a:solidFill>
                  <a:srgbClr val="663300"/>
                </a:solidFill>
                <a:latin typeface="苹方-简" panose="020B0300000000000000" pitchFamily="34" charset="-122"/>
                <a:ea typeface="苹方-简" panose="020B0300000000000000" pitchFamily="34" charset="-122"/>
              </a:rPr>
              <a:t>圣灵运行，分别为圣</a:t>
            </a:r>
          </a:p>
          <a:p>
            <a:pPr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苹方-简" panose="020B0300000000000000" pitchFamily="34" charset="-122"/>
                <a:ea typeface="苹方-简" panose="020B0300000000000000" pitchFamily="34" charset="-122"/>
                <a:sym typeface="Wingdings" panose="05000000000000000000" pitchFamily="2" charset="2"/>
              </a:rPr>
              <a:t> </a:t>
            </a:r>
            <a:r>
              <a:rPr lang="zh-TW" altLang="en-US" sz="2400" dirty="0">
                <a:solidFill>
                  <a:srgbClr val="663300"/>
                </a:solidFill>
                <a:latin typeface="苹方-简" panose="020B0300000000000000" pitchFamily="34" charset="-122"/>
                <a:ea typeface="苹方-简" panose="020B0300000000000000" pitchFamily="34" charset="-122"/>
              </a:rPr>
              <a:t>受感决志，受洗得救</a:t>
            </a:r>
          </a:p>
          <a:p>
            <a:pPr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FF0000"/>
                </a:solidFill>
                <a:latin typeface="苹方-简" panose="020B0300000000000000" pitchFamily="34" charset="-122"/>
                <a:ea typeface="苹方-简" panose="020B0300000000000000" pitchFamily="34" charset="-122"/>
                <a:sym typeface="Wingdings" panose="05000000000000000000" pitchFamily="2" charset="2"/>
              </a:rPr>
              <a:t> </a:t>
            </a:r>
            <a:r>
              <a:rPr lang="zh-TW" altLang="en-US" sz="2400" dirty="0">
                <a:solidFill>
                  <a:srgbClr val="663300"/>
                </a:solidFill>
                <a:latin typeface="苹方-简" panose="020B0300000000000000" pitchFamily="34" charset="-122"/>
                <a:ea typeface="苹方-简" panose="020B0300000000000000" pitchFamily="34" charset="-122"/>
              </a:rPr>
              <a:t>罪得赦免，领受新约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8CBA6E-A739-1296-595F-579968F826E8}"/>
              </a:ext>
            </a:extLst>
          </p:cNvPr>
          <p:cNvSpPr txBox="1"/>
          <p:nvPr/>
        </p:nvSpPr>
        <p:spPr>
          <a:xfrm>
            <a:off x="0" y="1558724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【彼前1:2】就是照父　神的先见被拣选，藉着圣灵得成圣洁，以致顺服耶稣基督，又蒙他血所洒的人。愿恩惠、平安多多地加给你们！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9BC5AA-488E-E461-6C6D-4FAA10CE0A7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3663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280159" y="2148200"/>
            <a:ext cx="11355977" cy="25439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目的：在环境中站立的住。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身份：寄居者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救赎：父神、基督、圣灵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9140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32868" y="1856436"/>
            <a:ext cx="12192000" cy="3273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3600" dirty="0">
                <a:solidFill>
                  <a:srgbClr val="000000"/>
                </a:solidFill>
                <a:latin typeface="+mj-ea"/>
                <a:ea typeface="+mj-ea"/>
                <a:cs typeface="+mn-ea"/>
                <a:sym typeface="+mn-lt"/>
              </a:rPr>
              <a:t>一、你如何看待彼得的生命成长过程？</a:t>
            </a:r>
            <a:endParaRPr lang="en-US" altLang="zh-CN" sz="3600" dirty="0">
              <a:solidFill>
                <a:srgbClr val="000000"/>
              </a:solidFill>
              <a:latin typeface="+mj-ea"/>
              <a:ea typeface="+mj-ea"/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3600" dirty="0">
                <a:solidFill>
                  <a:srgbClr val="000000"/>
                </a:solidFill>
                <a:latin typeface="+mj-ea"/>
                <a:ea typeface="+mj-ea"/>
                <a:cs typeface="+mn-ea"/>
                <a:sym typeface="+mn-lt"/>
              </a:rPr>
              <a:t>二、你如何看待寄居者这个概念及与你的关系？</a:t>
            </a:r>
            <a:endParaRPr lang="en-US" altLang="zh-CN" sz="3600" dirty="0">
              <a:solidFill>
                <a:srgbClr val="000000"/>
              </a:solidFill>
              <a:latin typeface="+mj-ea"/>
              <a:ea typeface="+mj-ea"/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3600" dirty="0">
                <a:solidFill>
                  <a:srgbClr val="000000"/>
                </a:solidFill>
                <a:latin typeface="+mj-ea"/>
                <a:ea typeface="+mj-ea"/>
                <a:cs typeface="+mn-ea"/>
                <a:sym typeface="+mn-lt"/>
              </a:rPr>
              <a:t>三、救赎的代价是否让</a:t>
            </a:r>
            <a:r>
              <a:rPr lang="zh-CN" altLang="en-US" sz="3600">
                <a:solidFill>
                  <a:srgbClr val="000000"/>
                </a:solidFill>
                <a:latin typeface="+mj-ea"/>
                <a:ea typeface="+mj-ea"/>
                <a:cs typeface="+mn-ea"/>
                <a:sym typeface="+mn-lt"/>
              </a:rPr>
              <a:t>你愿意做</a:t>
            </a:r>
            <a:r>
              <a:rPr lang="zh-CN" altLang="en-US" sz="3600" dirty="0">
                <a:solidFill>
                  <a:srgbClr val="000000"/>
                </a:solidFill>
                <a:latin typeface="+mj-ea"/>
                <a:ea typeface="+mj-ea"/>
                <a:cs typeface="+mn-ea"/>
                <a:sym typeface="+mn-lt"/>
              </a:rPr>
              <a:t>一寄居者？</a:t>
            </a:r>
            <a:endParaRPr lang="en-US" altLang="zh-CN" sz="3600" dirty="0">
              <a:solidFill>
                <a:srgbClr val="000000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20909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1599</TotalTime>
  <Words>2633</Words>
  <Application>Microsoft Office PowerPoint</Application>
  <PresentationFormat>宽屏</PresentationFormat>
  <Paragraphs>205</Paragraphs>
  <Slides>27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SimHei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8</cp:revision>
  <dcterms:created xsi:type="dcterms:W3CDTF">2019-06-19T02:08:00Z</dcterms:created>
  <dcterms:modified xsi:type="dcterms:W3CDTF">2024-04-21T05:36:36Z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