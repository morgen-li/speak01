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5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6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560" r:id="rId2"/>
    <p:sldId id="425" r:id="rId3"/>
    <p:sldId id="554" r:id="rId4"/>
    <p:sldId id="531" r:id="rId5"/>
    <p:sldId id="553" r:id="rId6"/>
    <p:sldId id="587" r:id="rId7"/>
    <p:sldId id="594" r:id="rId8"/>
    <p:sldId id="574" r:id="rId9"/>
    <p:sldId id="588" r:id="rId10"/>
    <p:sldId id="593" r:id="rId11"/>
    <p:sldId id="589" r:id="rId12"/>
    <p:sldId id="590" r:id="rId13"/>
    <p:sldId id="591" r:id="rId14"/>
    <p:sldId id="592" r:id="rId15"/>
    <p:sldId id="596" r:id="rId16"/>
    <p:sldId id="543" r:id="rId17"/>
    <p:sldId id="55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D944F3-8C60-42D3-8287-9054FF582414}" v="28" dt="2024-06-29T22:22:12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961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1:49:33.944" v="56"/>
        <pc:sldMkLst>
          <pc:docMk/>
          <pc:sldMk cId="54695671" sldId="531"/>
        </pc:sldMkLst>
        <pc:spChg chg="mod">
          <ac:chgData name="强 李" userId="cd6c7ec7188785ae" providerId="LiveId" clId="{C0D944F3-8C60-42D3-8287-9054FF582414}" dt="2024-06-29T21:49:33.944" v="56"/>
          <ac:spMkLst>
            <pc:docMk/>
            <pc:sldMk cId="54695671" sldId="531"/>
            <ac:spMk id="7" creationId="{F80DDDB8-F32B-B7A7-73DA-9790F3B5DCB3}"/>
          </ac:spMkLst>
        </pc:spChg>
      </pc:sldChg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  <pc:spChg chg="mod">
          <ac:chgData name="强 李" userId="cd6c7ec7188785ae" providerId="LiveId" clId="{C0D944F3-8C60-42D3-8287-9054FF582414}" dt="2024-06-29T21:50:53.370" v="60" actId="20577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3" creationId="{2550BE34-C2B8-49B8-8519-67A8CAD51AE9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5" creationId="{A7457DD9-5A45-400A-AB4B-4B4EDECA25F1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7" creationId="{441CF7D6-A660-431A-B0BB-140A0D5556B6}"/>
          </ac:spMkLst>
        </pc:spChg>
        <pc:spChg chg="add del">
          <ac:chgData name="强 李" userId="cd6c7ec7188785ae" providerId="LiveId" clId="{C0D944F3-8C60-42D3-8287-9054FF582414}" dt="2024-06-29T12:32:42.312" v="2" actId="26606"/>
          <ac:spMkLst>
            <pc:docMk/>
            <pc:sldMk cId="530530540" sldId="553"/>
            <ac:spMk id="29" creationId="{0570A85B-3810-4F95-97B0-CBF4CCDB381C}"/>
          </ac:spMkLst>
        </pc:spChg>
        <pc:graphicFrameChg chg="mod modGraphic">
          <ac:chgData name="强 李" userId="cd6c7ec7188785ae" providerId="LiveId" clId="{C0D944F3-8C60-42D3-8287-9054FF582414}" dt="2024-06-29T12:32:42.312" v="2" actId="26606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0D944F3-8C60-42D3-8287-9054FF582414}" dt="2024-06-29T21:49:05.622" v="49" actId="20577"/>
        <pc:sldMkLst>
          <pc:docMk/>
          <pc:sldMk cId="3418790839" sldId="554"/>
        </pc:sldMkLst>
        <pc:spChg chg="mod">
          <ac:chgData name="强 李" userId="cd6c7ec7188785ae" providerId="LiveId" clId="{C0D944F3-8C60-42D3-8287-9054FF582414}" dt="2024-06-29T21:49:05.622" v="49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C0D944F3-8C60-42D3-8287-9054FF582414}" dt="2024-06-29T21:48:36.695" v="23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sz="2800" dirty="0"/>
            <a:t>保罗看万事的几个阶段？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sz="2800" dirty="0"/>
            <a:t>个人是如何看待万事？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sz="2800" kern="1200" dirty="0"/>
            <a:t>保罗看万事的几个阶段？</a:t>
          </a:r>
          <a:endParaRPr lang="en-US" sz="2800" kern="1200" dirty="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sz="2800" kern="1200" dirty="0"/>
            <a:t>个人是如何看待万事？</a:t>
          </a:r>
          <a:endParaRPr lang="en-US" sz="2800" kern="1200" dirty="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852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2024/6/29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.emf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3.emf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至死得着基督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0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有益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都当作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有损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有损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至宝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粪土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26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:7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，什么是真正的益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:9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，如何有基督的义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:10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，认识基督得什么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】不但如此，我也将万事当作有损的，因我以认识我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主</a:t>
              </a:r>
              <a:r>
                <a:rPr lang="yo-NG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】我为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已经丢弃万事，看作粪土，为要得着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【腓3:9】并且得以在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里面，不是有自己因律法而得的义，乃是有信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钥节：【腓3:8】</a:t>
            </a:r>
            <a:r>
              <a:rPr lang="en-US" altLang="zh-CN" dirty="0"/>
              <a:t>……</a:t>
            </a:r>
            <a:r>
              <a:rPr lang="zh-CN" altLang="en-US" dirty="0"/>
              <a:t>为要</a:t>
            </a:r>
            <a:r>
              <a:rPr lang="zh-CN" altLang="en-US" sz="2400" b="1" dirty="0">
                <a:solidFill>
                  <a:srgbClr val="FF0000"/>
                </a:solidFill>
              </a:rPr>
              <a:t>得着</a:t>
            </a:r>
            <a:r>
              <a:rPr lang="zh-CN" altLang="en-US" dirty="0"/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64700" y="4872175"/>
            <a:ext cx="5201418" cy="20303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12-16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节：竭力追求</a:t>
            </a:r>
            <a:endParaRPr lang="en-US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，行动：竭力追求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，目的：从上面奖赏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180619" y="1640262"/>
            <a:ext cx="4685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1~6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节：靠主喜乐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，命令：要靠主喜乐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，根源：真受割礼的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，对比：过去的保罗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63263"/>
            <a:ext cx="79378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7~11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节： 得着基督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，对比：现在的保罗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，目的：为得着基督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，方法：信基督的义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，过程：信、受苦、效法、成全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5021695" y="1294097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F585226-39A8-96AE-40A3-878704581BB6}"/>
              </a:ext>
            </a:extLst>
          </p:cNvPr>
          <p:cNvSpPr/>
          <p:nvPr/>
        </p:nvSpPr>
        <p:spPr>
          <a:xfrm rot="5400000">
            <a:off x="5814136" y="-1225657"/>
            <a:ext cx="306371" cy="115734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B504861B-6EFA-BAFD-C2A3-DA811CA92353}"/>
              </a:ext>
            </a:extLst>
          </p:cNvPr>
          <p:cNvSpPr/>
          <p:nvPr/>
        </p:nvSpPr>
        <p:spPr>
          <a:xfrm>
            <a:off x="1524000" y="1014593"/>
            <a:ext cx="914400" cy="612648"/>
          </a:xfrm>
          <a:prstGeom prst="borderCallout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过去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10040569" y="1180987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现在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0DDDB8-F32B-B7A7-73DA-9790F3B5DCB3}"/>
              </a:ext>
            </a:extLst>
          </p:cNvPr>
          <p:cNvSpPr/>
          <p:nvPr/>
        </p:nvSpPr>
        <p:spPr>
          <a:xfrm>
            <a:off x="9223150" y="4768264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5" y="113635"/>
            <a:ext cx="708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55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【腓3:7】只是我先前以为与我有益的，我现在因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都当作有损的。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强烈对比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“当做”（完成式）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之前追求法利赛人、律法的义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现在认识基督、弥赛亚的身份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人生完全的改变（巨大）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“有损”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是之前对立面，对立程度，表现极大转变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与先前彻底决裂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总结：如果任何人依靠其他（非基督而来的）追求益（真正的益），都是有损的。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【徒26:24】保罗这样分诉，非斯都大声说：“保罗，你癫狂了吧！</a:t>
            </a:r>
            <a:r>
              <a:rPr lang="zh-CN" altLang="zh-CN" sz="16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你的学问太大</a:t>
            </a:r>
            <a:r>
              <a:rPr lang="zh-CN" altLang="zh-CN" sz="1600" dirty="0">
                <a:effectLst/>
                <a:ea typeface="苹方-简" panose="020B0300000000000000" pitchFamily="34" charset="-122"/>
              </a:rPr>
              <a:t>，反叫你癫狂了。”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2B3DCD-7954-89EF-6738-2619741EB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727057"/>
              </p:ext>
            </p:extLst>
          </p:nvPr>
        </p:nvGraphicFramePr>
        <p:xfrm>
          <a:off x="466810" y="2042089"/>
          <a:ext cx="8778790" cy="812800"/>
        </p:xfrm>
        <a:graphic>
          <a:graphicData uri="http://schemas.openxmlformats.org/drawingml/2006/table">
            <a:tbl>
              <a:tblPr/>
              <a:tblGrid>
                <a:gridCol w="1590910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486086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159091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1398423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1712461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一切事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我先前以为</a:t>
                      </a:r>
                      <a:r>
                        <a:rPr lang="zh-CN" altLang="en-US" sz="2000">
                          <a:effectLst/>
                          <a:ea typeface="苹方-简" panose="020B0300000000000000" pitchFamily="34" charset="-122"/>
                        </a:rPr>
                        <a:t>（</a:t>
                      </a:r>
                      <a:r>
                        <a:rPr lang="en-US" altLang="zh-CN" sz="2000">
                          <a:effectLst/>
                          <a:ea typeface="苹方-简" panose="020B0300000000000000" pitchFamily="34" charset="-122"/>
                        </a:rPr>
                        <a:t>5</a:t>
                      </a:r>
                      <a:r>
                        <a:rPr lang="zh-CN" altLang="en-US" sz="2000">
                          <a:effectLst/>
                          <a:ea typeface="苹方-简" panose="020B0300000000000000" pitchFamily="34" charset="-122"/>
                        </a:rPr>
                        <a:t>、</a:t>
                      </a:r>
                      <a:r>
                        <a:rPr lang="en-US" altLang="zh-CN" sz="2000">
                          <a:effectLst/>
                          <a:ea typeface="苹方-简" panose="020B0300000000000000" pitchFamily="34" charset="-122"/>
                        </a:rPr>
                        <a:t>6</a:t>
                      </a:r>
                      <a:r>
                        <a:rPr lang="zh-CN" altLang="en-US" sz="2000">
                          <a:effectLst/>
                          <a:ea typeface="苹方-简" panose="020B0300000000000000" pitchFamily="34" charset="-122"/>
                        </a:rPr>
                        <a:t>节）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对我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有益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>
                          <a:effectLst/>
                          <a:ea typeface="苹方-简" panose="020B0300000000000000" pitchFamily="34" charset="-122"/>
                        </a:rPr>
                        <a:t>过去的保罗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这些事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现在都当做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因基督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有损的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>
                          <a:effectLst/>
                          <a:ea typeface="苹方-简" panose="020B0300000000000000" pitchFamily="34" charset="-122"/>
                        </a:rPr>
                        <a:t>现在的保罗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04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不但如此：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没有止步与第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7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节，更进一步说明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先前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以为有益            当作有益的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现在 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与基督无关万事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       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有损的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	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认识主基督耶稣             为至宝  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万事：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先前以为与我有益的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万事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数量的增加（万事）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程度的加深（有损）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最高的等级（至宝）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当下的你认为什么是最有益的呢？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你如何看待耶稣基督在你生命中地位？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03D761B-E889-B91D-BD41-4C84CF49A89F}"/>
              </a:ext>
            </a:extLst>
          </p:cNvPr>
          <p:cNvSpPr/>
          <p:nvPr/>
        </p:nvSpPr>
        <p:spPr>
          <a:xfrm flipV="1">
            <a:off x="1394689" y="252659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7DDADB6-FEDE-F371-AEA9-C5A37A96DB50}"/>
              </a:ext>
            </a:extLst>
          </p:cNvPr>
          <p:cNvSpPr/>
          <p:nvPr/>
        </p:nvSpPr>
        <p:spPr>
          <a:xfrm flipV="1">
            <a:off x="1394689" y="288260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3AF7693-1B01-A7BF-B591-CA40ADA64FCF}"/>
              </a:ext>
            </a:extLst>
          </p:cNvPr>
          <p:cNvSpPr/>
          <p:nvPr/>
        </p:nvSpPr>
        <p:spPr>
          <a:xfrm>
            <a:off x="3023752" y="252659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6D8AC54-27F5-A2FE-FDAD-C66FFAE80155}"/>
              </a:ext>
            </a:extLst>
          </p:cNvPr>
          <p:cNvSpPr/>
          <p:nvPr/>
        </p:nvSpPr>
        <p:spPr>
          <a:xfrm>
            <a:off x="3739573" y="285489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145" y="1715654"/>
            <a:ext cx="7746856" cy="4572000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A83E63F-1A84-4C77-F88A-67457B349D94}"/>
              </a:ext>
            </a:extLst>
          </p:cNvPr>
          <p:cNvSpPr/>
          <p:nvPr/>
        </p:nvSpPr>
        <p:spPr>
          <a:xfrm>
            <a:off x="3746499" y="3173554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47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</a:t>
            </a:r>
            <a:r>
              <a:rPr lang="zh-CN" altLang="en-US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你个人与我们所信的神的关系或认识？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871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认识神、基督（旧约认识耶和华、新约认识基督）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进入到认识中（与基督救恩有份）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6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8402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递进关系，生命的认识至死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节数量（以为有益）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节万事（所有）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节程度（因基督当作有损）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节丢弃万事，看为粪土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有损可能还愿意去做，比如吸烟，夏天的冰镇可乐等等。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粪土，有人喜欢吗？除非田地的农夫为了田地的益处等。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      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节下得着基督         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9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节认识基督         复活大能          受苦         效法死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1AB8738D-A1FE-4D54-0F21-BB9DBE4AC2AD}"/>
              </a:ext>
            </a:extLst>
          </p:cNvPr>
          <p:cNvSpPr/>
          <p:nvPr/>
        </p:nvSpPr>
        <p:spPr>
          <a:xfrm flipV="1">
            <a:off x="2970643" y="5040042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EAC312E4-EEF7-BC10-CF40-D9DFE5074984}"/>
              </a:ext>
            </a:extLst>
          </p:cNvPr>
          <p:cNvSpPr/>
          <p:nvPr/>
        </p:nvSpPr>
        <p:spPr>
          <a:xfrm flipV="1">
            <a:off x="5747657" y="5040042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13DDF87-D3EF-705D-B73A-8E85BB5DCB86}"/>
              </a:ext>
            </a:extLst>
          </p:cNvPr>
          <p:cNvSpPr/>
          <p:nvPr/>
        </p:nvSpPr>
        <p:spPr>
          <a:xfrm flipV="1">
            <a:off x="2811316" y="5564721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583CA6D-E2C8-47E3-C865-AB9466112C52}"/>
              </a:ext>
            </a:extLst>
          </p:cNvPr>
          <p:cNvSpPr/>
          <p:nvPr/>
        </p:nvSpPr>
        <p:spPr>
          <a:xfrm flipV="1">
            <a:off x="4827152" y="5564721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2718F15-7977-70BB-162C-9682D1DBB0BD}"/>
              </a:ext>
            </a:extLst>
          </p:cNvPr>
          <p:cNvSpPr/>
          <p:nvPr/>
        </p:nvSpPr>
        <p:spPr>
          <a:xfrm flipV="1">
            <a:off x="6242624" y="5564721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7405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在真理中认识神：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义是神的加给，而非自己依靠律法、行为赚的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悔改、赦罪的道，认识神的恩典和神的主权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基督为我们做了什么？我们为基督做了什么？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39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我们为基督如同保罗愿意离世与神同在，原因在于真认识祂的身份和工作。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62001" y="4933765"/>
            <a:ext cx="10109199" cy="598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第三段：认识基督得着什么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62001" y="5672059"/>
            <a:ext cx="11177154" cy="11028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腓</a:t>
            </a: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3:10】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使我认识基督，晓得他复活的大能，并且晓得和他一同受苦，效法他的死，</a:t>
            </a:r>
          </a:p>
          <a:p>
            <a:pPr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腓</a:t>
            </a: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3:11】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或者我也得以从死里复活。</a:t>
            </a: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DD046A-1E76-1E25-D210-434E5BDA9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927" y="393517"/>
            <a:ext cx="8737809" cy="3603220"/>
          </a:xfrm>
          <a:prstGeom prst="rect">
            <a:avLst/>
          </a:prstGeom>
        </p:spPr>
      </p:pic>
      <p:cxnSp>
        <p:nvCxnSpPr>
          <p:cNvPr id="34" name="Straight Connector 11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64883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368507" y="139761"/>
            <a:ext cx="4823494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汉仪粗黑简" panose="02010609000101010101" pitchFamily="49" charset="-122"/>
                <a:ea typeface="汉仪粗黑简" panose="02010609000101010101" pitchFamily="49" charset="-122"/>
                <a:cs typeface="+mn-ea"/>
                <a:sym typeface="+mn-lt"/>
              </a:rPr>
              <a:t>你的改变是什么？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789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核心：得着基督（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上），为了得着基督，保罗愿意丢弃万事，把万事当做粪土。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我们的目标：以基督为至宝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方法。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4083</TotalTime>
  <Words>2060</Words>
  <Application>Microsoft Office PowerPoint</Application>
  <PresentationFormat>宽屏</PresentationFormat>
  <Paragraphs>207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方正屏显雅宋_GBK</vt:lpstr>
      <vt:lpstr>汉仪粗黑简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2024-06-29T22:23:12Z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